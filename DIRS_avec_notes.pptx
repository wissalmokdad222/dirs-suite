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8288000" cy="10287000"/>
  <p:notesSz cx="6858000" cy="9144000"/>
  <p:embeddedFontLst>
    <p:embeddedFont>
      <p:font typeface="Glacial Indifference" panose="020B0604020202020204" charset="0"/>
      <p:regular r:id="rId30"/>
    </p:embeddedFont>
    <p:embeddedFont>
      <p:font typeface="Glacial Indifference Bold" panose="020B0604020202020204" charset="0"/>
      <p:regular r:id="rId31"/>
    </p:embeddedFont>
    <p:embeddedFont>
      <p:font typeface="Libre Baskerville" panose="02000000000000000000" pitchFamily="2" charset="0"/>
      <p:regular r:id="rId32"/>
    </p:embeddedFont>
    <p:embeddedFont>
      <p:font typeface="Lora" pitchFamily="2" charset="0"/>
      <p:regular r:id="rId33"/>
    </p:embeddedFont>
    <p:embeddedFont>
      <p:font typeface="Lora Bold" charset="0"/>
      <p:regular r:id="rId34"/>
    </p:embeddedFont>
    <p:embeddedFont>
      <p:font typeface="Open Sans Bold" panose="020B0604020202020204" charset="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53989" autoAdjust="0"/>
  </p:normalViewPr>
  <p:slideViewPr>
    <p:cSldViewPr>
      <p:cViewPr varScale="1">
        <p:scale>
          <a:sx n="23" d="100"/>
          <a:sy n="23" d="100"/>
        </p:scale>
        <p:origin x="1860"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3910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Bonjour à tous. nous allons vous présenter DIRS — Device Integrity &amp; Risk Scorer.</a:t>
            </a:r>
          </a:p>
          <a:p>
            <a:r>
              <a:rPr lang="fr-FR" dirty="0"/>
              <a:t>DIRS est un framework que nous avons conçu pour analyser et scorer l'intégrité des appareils Android en environnement professionnel.</a:t>
            </a:r>
          </a:p>
          <a:p>
            <a:r>
              <a:rPr lang="fr-FR" dirty="0"/>
              <a:t>Aujourd'hui, les flottes mobiles sont au cœur des entreprises, et leur sécurité est un enjeu critique. C'est ce problème que DIRS adresse.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Voici le plan de notre présentation en 6 parties.</a:t>
            </a:r>
          </a:p>
          <a:p>
            <a:r>
              <a:rPr lang="fr-FR" dirty="0"/>
              <a:t>Nous commencerons par la problématique pour contextualiser l'enjeu, puis les objectifs du framework.</a:t>
            </a:r>
          </a:p>
          <a:p>
            <a:r>
              <a:rPr lang="fr-FR" dirty="0"/>
              <a:t>Ensuite, nous plongerons dans l'architecture technique et l'algorithme de scoring — les deux piliers de DIRS.</a:t>
            </a:r>
          </a:p>
          <a:p>
            <a:r>
              <a:rPr lang="fr-FR" dirty="0"/>
              <a:t>Nous aborderons les aspects sécurité et conformité, et enfin nous conclurons.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comprendre pourquoi DIRS existe, voici trois chiffres qui parlent d'eux-mêmes.</a:t>
            </a:r>
          </a:p>
          <a:p>
            <a:r>
              <a:rPr lang="fr-FR" dirty="0"/>
              <a:t>24 000 variantes de ROM Android en circulation mondiale. Cette fragmentation rend impossible une gestion uniforme de la sécurité.</a:t>
            </a:r>
          </a:p>
          <a:p>
            <a:r>
              <a:rPr lang="fr-FR" dirty="0"/>
              <a:t>68% des appareils en entreprise ne sont pas patchés. En contexte BYOD, c'est une surface d'attaque massive et incontrôlée.</a:t>
            </a:r>
          </a:p>
          <a:p>
            <a:r>
              <a:rPr lang="fr-FR" dirty="0"/>
              <a:t>Et en 2024, des exploits critiques ciblant les environnements d'exécution TEE ont été identifiés — ce sont des attaques qui compromettent la chaîne de confiance à son niveau le plus bas.</a:t>
            </a:r>
          </a:p>
          <a:p>
            <a:r>
              <a:rPr lang="fr-FR" dirty="0"/>
              <a:t>Face à ces réalités, il fallait une solution architecturale, pas juste un antivirus.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Ce slide illustre l'arbre de compromission d'un appareil Android, que nous appelons le Root of Trust.</a:t>
            </a:r>
          </a:p>
          <a:p>
            <a:r>
              <a:rPr lang="fr-FR" dirty="0"/>
              <a:t>Chaque nœud représente un composant de la chaîne de confiance. Les états sont codés par couleur : rouge pour compromis, orange pour à risque, gris pour stable.</a:t>
            </a:r>
          </a:p>
          <a:p>
            <a:r>
              <a:rPr lang="fr-FR" dirty="0"/>
              <a:t>Ce qui est important ici, c'est de comprendre les dépendances : si un composant bas niveau est compromis, toute la chaîne au-dessus l'est potentiellement aussi.</a:t>
            </a:r>
          </a:p>
          <a:p>
            <a:r>
              <a:rPr lang="fr-FR" dirty="0"/>
              <a:t>Par exemple, un bootloader déverrouillé en bas de l'arbre invalide tout ce qui est construit dessus — kernel, partitions système, applications.</a:t>
            </a:r>
          </a:p>
          <a:p>
            <a:r>
              <a:rPr lang="fr-FR" dirty="0"/>
              <a:t>Cette visualisation est au cœur de DIRS : elle permet d'identifier immédiatement les vecteurs d'attaque prioritaires.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DIRS poursuit quatre objectifs fondamentaux.</a:t>
            </a:r>
          </a:p>
          <a:p>
            <a:r>
              <a:rPr lang="fr-FR" dirty="0"/>
              <a:t>Premièrement, la quantification précise du risque : un score basé sur CVSS 3.1, reproductible et objectif, pour ne pas dépendre de l'intuition.</a:t>
            </a:r>
          </a:p>
          <a:p>
            <a:r>
              <a:rPr lang="fr-FR" dirty="0"/>
              <a:t>Deuxièmement, le filtrage du bruit : notre algorithme de pondération contextuelle réduit les faux positifs et priorise les alertes vraiment critiques.</a:t>
            </a:r>
          </a:p>
          <a:p>
            <a:r>
              <a:rPr lang="fr-FR" dirty="0"/>
              <a:t>Troisièmement, la couverture exhaustive de la flotte : DIRS supporte les 24 000+ variantes de ROM Android, c'est une scalabilité native.</a:t>
            </a:r>
          </a:p>
          <a:p>
            <a:r>
              <a:rPr lang="fr-FR" dirty="0"/>
              <a:t>Quatrièmement, la conformité réglementaire : alignement OWASP Mobile Top 10 et Zero-Trust, avec génération automatique de rapports d'audit.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Ces objectifs complémentaires forment la couche d'intelligence de DIRS.</a:t>
            </a:r>
          </a:p>
          <a:p>
            <a:r>
              <a:rPr lang="fr-FR" dirty="0"/>
              <a:t>Le Remediation Engine génère des playbooks de remédiation contextualisés et priorisés selon l'impact business réel.</a:t>
            </a:r>
          </a:p>
          <a:p>
            <a:r>
              <a:rPr lang="fr-FR" dirty="0"/>
              <a:t>La Predictive Intelligence utilise des modèles ML pour anticiper les vecteurs d'attaque émergents avant qu'ils ne soient exploités.</a:t>
            </a:r>
          </a:p>
          <a:p>
            <a:r>
              <a:rPr lang="fr-FR" dirty="0"/>
              <a:t>La Fleet Coverage s'adapte dynamiquement aux spécificités des constructeurs et des versions OS — Samsung, Xiaomi, Pixel ont des comportements différents.</a:t>
            </a:r>
          </a:p>
          <a:p>
            <a:r>
              <a:rPr lang="fr-FR" dirty="0"/>
              <a:t>Enfin, la compliance automatisée génère des rapports prêts pour les audits réglementaires, sans effort manuel supplémentaire.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Passons à l'architecture technique</a:t>
            </a:r>
          </a:p>
          <a:p>
            <a:r>
              <a:rPr lang="fr-FR" dirty="0"/>
              <a:t>La couche de build utilise Vite pour un bundling rapide et optimisé.</a:t>
            </a:r>
          </a:p>
          <a:p>
            <a:r>
              <a:rPr lang="fr-FR" dirty="0"/>
              <a:t>La couche de présentation est en React : interface modulaire, réactive, avec une gestion optimisée des événements utilisateur.</a:t>
            </a:r>
          </a:p>
          <a:p>
            <a:r>
              <a:rPr lang="fr-FR" dirty="0"/>
              <a:t>La gestion d'état est centralisée avec un store et des reducers immutables — on y reviendra dans la prochaine slide.</a:t>
            </a:r>
          </a:p>
          <a:p>
            <a:r>
              <a:rPr lang="fr-FR" dirty="0"/>
              <a:t>Le contrat TypeScript avec typage strict et validation Zod garantit l'intégrité des données à toutes les couches.</a:t>
            </a:r>
          </a:p>
          <a:p>
            <a:r>
              <a:rPr lang="fr-FR" dirty="0"/>
              <a:t>Et la logique métier — les algorithmes de scoring — est totalement découplée de l'interface.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Trois couches bien distinctes : la UI Layer en React pour la présentation, l'Interface Contract en TypeScript, et l'Engine Layer pour la logique métier.</a:t>
            </a:r>
          </a:p>
          <a:p>
            <a:r>
              <a:rPr lang="fr-FR" dirty="0"/>
              <a:t>Le contrat bidirectionnel TypeScript est crucial : il définit les types partagés entre UI et Engine, ce qui garantit le découplage total.</a:t>
            </a:r>
          </a:p>
          <a:p>
            <a:r>
              <a:rPr lang="fr-FR" dirty="0"/>
              <a:t>Concrètement, on peut remplacer toute l'interface React sans toucher un seul algorithme de scoring. Et vice versa.</a:t>
            </a:r>
          </a:p>
          <a:p>
            <a:r>
              <a:rPr lang="fr-FR" dirty="0"/>
              <a:t>Les modules Engine comme ScoringEngine, IntegrityAnalyzer ou NetworkAuditor sont des modules TypeScript purs — sans dépendances UI, entièrement testables de façon unitaire.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gestion d'état dans DIRS suit un pattern réactif et immutable inspiré de Redux.</a:t>
            </a:r>
          </a:p>
          <a:p>
            <a:r>
              <a:rPr lang="fr-FR" dirty="0"/>
              <a:t>Le flux est simple : une action utilisateur est dispatchée, interceptée par un middleware pour logging et validation, puis traitée par un reducer pur.</a:t>
            </a:r>
          </a:p>
          <a:p>
            <a:r>
              <a:rPr lang="fr-FR" dirty="0"/>
              <a:t>L'immutabilité est fondamentale : chaque action crée un nouvel état, l'ancien est préservé. Cela facilite énormément le debug et le time-travel debugging.</a:t>
            </a:r>
          </a:p>
          <a:p>
            <a:r>
              <a:rPr lang="fr-FR" dirty="0"/>
              <a:t>La synchronisation avec le LocalStorage assure la persistance entre sessions — si l'utilisateur ferme et rouvre l'application, son état est restauré.</a:t>
            </a:r>
          </a:p>
          <a:p>
            <a:r>
              <a:rPr lang="fr-FR" dirty="0"/>
              <a:t>Ce pattern nous donne aussi une traçabilité complète de toutes les actions, ce qui est précieux dans un contexte d'audit sécurité.</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Voici le cœur mathématique de DIRS : l'algorithme de scoring.</a:t>
            </a:r>
          </a:p>
          <a:p>
            <a:r>
              <a:rPr lang="fr-FR" dirty="0"/>
              <a:t>La formule est SCORE = Somme des (poids × signal) × Produit des (1 - pénalité).</a:t>
            </a:r>
          </a:p>
          <a:p>
            <a:r>
              <a:rPr lang="fr-FR" dirty="0"/>
              <a:t>En clair : on somme les contributions pondérées de chaque vecteur d'intégrité, puis on applique des multiplicateurs de réduction pour les findings critiques.</a:t>
            </a:r>
          </a:p>
          <a:p>
            <a:r>
              <a:rPr lang="fr-FR" dirty="0"/>
              <a:t>Pourquoi ce modèle multiplicatif pour les pénalités ? Parce qu'un finding critique ne doit pas simplement soustraire des points — il doit réduire proportionnellement tout le score. C'est plus fidèle à la réalité du risque.</a:t>
            </a:r>
          </a:p>
          <a:p>
            <a:r>
              <a:rPr lang="fr-FR" dirty="0"/>
              <a:t>Le résultat donne trois zones : CRITIQUE en dessous de 40, MODÉRÉ entre 40 et 70, SÉCURISÉ au-dessus de 70.</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Voici la matrice de pondération de DIRS, c'est-à-dire comment les poids sont distribués entre les différents vecteurs.</a:t>
            </a:r>
          </a:p>
          <a:p>
            <a:r>
              <a:rPr lang="fr-FR" dirty="0"/>
              <a:t>L'Intégrité Système via AVB porte le poids le plus élevé à 25%. La chaîne BootROM vers Kernel est le fondement de tout — si elle est compromise, rien d'autre ne peut être considéré comme fiable.</a:t>
            </a:r>
          </a:p>
          <a:p>
            <a:r>
              <a:rPr lang="fr-FR" dirty="0"/>
              <a:t>Les Privilèges Root arrivent à 20% : la détection de SuBinary, Magisk ou SELinux permissif représente une compromission totale des contrôles applicatifs.</a:t>
            </a:r>
          </a:p>
          <a:p>
            <a:r>
              <a:rPr lang="fr-FR" dirty="0"/>
              <a:t>Les Vecteurs Réseau à 18% couvrent le WiFi non sécurisé, le DNS non chiffré et l'absence de certificate pinning — autant de portes ouvertes aux attaques MITM.</a:t>
            </a:r>
          </a:p>
          <a:p>
            <a:r>
              <a:rPr lang="fr-FR" dirty="0"/>
              <a:t>Ces pondérations ont été calibrées en référence au CVSS 3.1 et aux cas réels d'exploitation documentés.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On a cinq niveaux. Le KILL-SWITCH est le plus extrême : si le bootloader est déverrouillé, la pénalité est de 1.0 — le score tombe à zéro, indépendamment de tout le reste. La confiance système est irrémédiablement brisée.</a:t>
            </a:r>
          </a:p>
          <a:p>
            <a:r>
              <a:rPr lang="fr-FR" dirty="0"/>
              <a:t>CRITICAL à 0.5 pour la détection d'un binaire su — accès root confirmé, réduction de 50%.</a:t>
            </a:r>
          </a:p>
          <a:p>
            <a:r>
              <a:rPr lang="fr-FR" dirty="0"/>
              <a:t>HIGH à 0.30 pour SELinux en mode permissif — l'isolation des processus est compromise.</a:t>
            </a:r>
          </a:p>
          <a:p>
            <a:r>
              <a:rPr lang="fr-FR" dirty="0"/>
              <a:t>HIGH à 0.25 pour Magisk — root masking actif.</a:t>
            </a:r>
          </a:p>
          <a:p>
            <a:r>
              <a:rPr lang="fr-FR" dirty="0"/>
              <a:t>MEDIUM à 0.15 pour ADB activé — surface d'attaque locale élargie.</a:t>
            </a:r>
          </a:p>
          <a:p>
            <a:r>
              <a:rPr lang="fr-FR" dirty="0"/>
              <a:t>Ce système de pénalités reflète la sévérité réelle des compromissions, en s'inspirant directement du scoring CVSS.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chaîne AVB part du </a:t>
            </a:r>
            <a:r>
              <a:rPr lang="fr-FR" dirty="0" err="1"/>
              <a:t>BootROM</a:t>
            </a:r>
            <a:r>
              <a:rPr lang="fr-FR" dirty="0"/>
              <a:t> — point de confiance immuable gravé dans le silicium — jusqu'au Kernel en passant par BL1 et BL2. Le Kernel active ensuite </a:t>
            </a:r>
            <a:r>
              <a:rPr lang="fr-FR" dirty="0" err="1"/>
              <a:t>SELinux</a:t>
            </a:r>
            <a:r>
              <a:rPr lang="fr-FR" dirty="0"/>
              <a:t> et dm-</a:t>
            </a:r>
            <a:r>
              <a:rPr lang="fr-FR" dirty="0" err="1"/>
              <a:t>verity</a:t>
            </a:r>
            <a:r>
              <a:rPr lang="fr-FR" dirty="0"/>
              <a:t> pour protéger la partition système. DIRS classe alors l'état AVB en quatre niveaux : VERIFIED, SELF-SIGNED, ORANGE ou RED selon la sévérité de la compromission.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mn-lt"/>
                <a:ea typeface="+mn-ea"/>
                <a:cs typeface="+mn-cs"/>
              </a:rPr>
              <a:t>Le vecteur Privilèges détecte quatre menaces. La SuBinary scanne les chemins système pour repérer un accès root confirmé. </a:t>
            </a:r>
            <a:r>
              <a:rPr lang="fr-FR" sz="1200" b="0" i="0" kern="1200" dirty="0" err="1">
                <a:solidFill>
                  <a:schemeClr val="tx1"/>
                </a:solidFill>
                <a:effectLst/>
                <a:latin typeface="+mn-lt"/>
                <a:ea typeface="+mn-ea"/>
                <a:cs typeface="+mn-cs"/>
              </a:rPr>
              <a:t>Magisk</a:t>
            </a:r>
            <a:r>
              <a:rPr lang="fr-FR" sz="1200" b="0" i="0" kern="1200" dirty="0">
                <a:solidFill>
                  <a:schemeClr val="tx1"/>
                </a:solidFill>
                <a:effectLst/>
                <a:latin typeface="+mn-lt"/>
                <a:ea typeface="+mn-ea"/>
                <a:cs typeface="+mn-cs"/>
              </a:rPr>
              <a:t> est plus subtil car il masque sa présence, mais DIRS identifie ses signatures et </a:t>
            </a:r>
            <a:r>
              <a:rPr lang="fr-FR" sz="1200" b="0" i="0" kern="1200" dirty="0" err="1">
                <a:solidFill>
                  <a:schemeClr val="tx1"/>
                </a:solidFill>
                <a:effectLst/>
                <a:latin typeface="+mn-lt"/>
                <a:ea typeface="+mn-ea"/>
                <a:cs typeface="+mn-cs"/>
              </a:rPr>
              <a:t>mount</a:t>
            </a:r>
            <a:r>
              <a:rPr lang="fr-FR" sz="1200" b="0" i="0" kern="1200" dirty="0">
                <a:solidFill>
                  <a:schemeClr val="tx1"/>
                </a:solidFill>
                <a:effectLst/>
                <a:latin typeface="+mn-lt"/>
                <a:ea typeface="+mn-ea"/>
                <a:cs typeface="+mn-cs"/>
              </a:rPr>
              <a:t> points suspects. Le </a:t>
            </a:r>
            <a:r>
              <a:rPr lang="fr-FR" sz="1200" b="0" i="0" kern="1200" dirty="0" err="1">
                <a:solidFill>
                  <a:schemeClr val="tx1"/>
                </a:solidFill>
                <a:effectLst/>
                <a:latin typeface="+mn-lt"/>
                <a:ea typeface="+mn-ea"/>
                <a:cs typeface="+mn-cs"/>
              </a:rPr>
              <a:t>Magisk</a:t>
            </a:r>
            <a:r>
              <a:rPr lang="fr-FR" sz="1200" b="0" i="0" kern="1200" dirty="0">
                <a:solidFill>
                  <a:schemeClr val="tx1"/>
                </a:solidFill>
                <a:effectLst/>
                <a:latin typeface="+mn-lt"/>
                <a:ea typeface="+mn-ea"/>
                <a:cs typeface="+mn-cs"/>
              </a:rPr>
              <a:t> Hide Bypass va encore plus loin en analysant l'isolation </a:t>
            </a:r>
            <a:r>
              <a:rPr lang="fr-FR" sz="1200" b="0" i="0" kern="1200" dirty="0" err="1">
                <a:solidFill>
                  <a:schemeClr val="tx1"/>
                </a:solidFill>
                <a:effectLst/>
                <a:latin typeface="+mn-lt"/>
                <a:ea typeface="+mn-ea"/>
                <a:cs typeface="+mn-cs"/>
              </a:rPr>
              <a:t>namespace</a:t>
            </a:r>
            <a:r>
              <a:rPr lang="fr-FR" sz="1200" b="0" i="0" kern="1200" dirty="0">
                <a:solidFill>
                  <a:schemeClr val="tx1"/>
                </a:solidFill>
                <a:effectLst/>
                <a:latin typeface="+mn-lt"/>
                <a:ea typeface="+mn-ea"/>
                <a:cs typeface="+mn-cs"/>
              </a:rPr>
              <a:t> et les </a:t>
            </a:r>
            <a:r>
              <a:rPr lang="fr-FR" sz="1200" b="0" i="0" kern="1200" dirty="0" err="1">
                <a:solidFill>
                  <a:schemeClr val="tx1"/>
                </a:solidFill>
                <a:effectLst/>
                <a:latin typeface="+mn-lt"/>
                <a:ea typeface="+mn-ea"/>
                <a:cs typeface="+mn-cs"/>
              </a:rPr>
              <a:t>hooks</a:t>
            </a:r>
            <a:r>
              <a:rPr lang="fr-FR" sz="1200" b="0" i="0" kern="1200" dirty="0">
                <a:solidFill>
                  <a:schemeClr val="tx1"/>
                </a:solidFill>
                <a:effectLst/>
                <a:latin typeface="+mn-lt"/>
                <a:ea typeface="+mn-ea"/>
                <a:cs typeface="+mn-cs"/>
              </a:rPr>
              <a:t> </a:t>
            </a:r>
            <a:r>
              <a:rPr lang="fr-FR" sz="1200" b="0" i="0" kern="1200" dirty="0" err="1">
                <a:solidFill>
                  <a:schemeClr val="tx1"/>
                </a:solidFill>
                <a:effectLst/>
                <a:latin typeface="+mn-lt"/>
                <a:ea typeface="+mn-ea"/>
                <a:cs typeface="+mn-cs"/>
              </a:rPr>
              <a:t>SafetyNet</a:t>
            </a:r>
            <a:r>
              <a:rPr lang="fr-FR" sz="1200" b="0" i="0" kern="1200" dirty="0">
                <a:solidFill>
                  <a:schemeClr val="tx1"/>
                </a:solidFill>
                <a:effectLst/>
                <a:latin typeface="+mn-lt"/>
                <a:ea typeface="+mn-ea"/>
                <a:cs typeface="+mn-cs"/>
              </a:rPr>
              <a:t> pour détecter les contournements </a:t>
            </a:r>
            <a:r>
              <a:rPr lang="fr-FR" sz="1200" b="0" i="0" kern="1200" dirty="0" err="1">
                <a:solidFill>
                  <a:schemeClr val="tx1"/>
                </a:solidFill>
                <a:effectLst/>
                <a:latin typeface="+mn-lt"/>
                <a:ea typeface="+mn-ea"/>
                <a:cs typeface="+mn-cs"/>
              </a:rPr>
              <a:t>Zygisk</a:t>
            </a:r>
            <a:r>
              <a:rPr lang="fr-FR" sz="1200" b="0" i="0" kern="1200" dirty="0">
                <a:solidFill>
                  <a:schemeClr val="tx1"/>
                </a:solidFill>
                <a:effectLst/>
                <a:latin typeface="+mn-lt"/>
                <a:ea typeface="+mn-ea"/>
                <a:cs typeface="+mn-cs"/>
              </a:rPr>
              <a:t> ou Riru. Enfin, </a:t>
            </a:r>
            <a:r>
              <a:rPr lang="fr-FR" sz="1200" b="0" i="0" kern="1200" dirty="0" err="1">
                <a:solidFill>
                  <a:schemeClr val="tx1"/>
                </a:solidFill>
                <a:effectLst/>
                <a:latin typeface="+mn-lt"/>
                <a:ea typeface="+mn-ea"/>
                <a:cs typeface="+mn-cs"/>
              </a:rPr>
              <a:t>SELinux</a:t>
            </a:r>
            <a:r>
              <a:rPr lang="fr-FR" sz="1200" b="0" i="0" kern="1200" dirty="0">
                <a:solidFill>
                  <a:schemeClr val="tx1"/>
                </a:solidFill>
                <a:effectLst/>
                <a:latin typeface="+mn-lt"/>
                <a:ea typeface="+mn-ea"/>
                <a:cs typeface="+mn-cs"/>
              </a:rPr>
              <a:t> Audit vérifie que le mode </a:t>
            </a:r>
            <a:r>
              <a:rPr lang="fr-FR" sz="1200" b="0" i="0" kern="1200" dirty="0" err="1">
                <a:solidFill>
                  <a:schemeClr val="tx1"/>
                </a:solidFill>
                <a:effectLst/>
                <a:latin typeface="+mn-lt"/>
                <a:ea typeface="+mn-ea"/>
                <a:cs typeface="+mn-cs"/>
              </a:rPr>
              <a:t>Enforcing</a:t>
            </a:r>
            <a:r>
              <a:rPr lang="fr-FR" sz="1200" b="0" i="0" kern="1200" dirty="0">
                <a:solidFill>
                  <a:schemeClr val="tx1"/>
                </a:solidFill>
                <a:effectLst/>
                <a:latin typeface="+mn-lt"/>
                <a:ea typeface="+mn-ea"/>
                <a:cs typeface="+mn-cs"/>
              </a:rPr>
              <a:t> est bien actif — en mode Permissive, les politiques de sécurité ne sont tout simplement pas appliquées.</a:t>
            </a:r>
          </a:p>
          <a:p>
            <a:br>
              <a:rPr lang="fr-FR" dirty="0"/>
            </a:br>
            <a:endParaRPr lang="fr-F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vecteur réseau couvre quatre dimensions. </a:t>
            </a:r>
            <a:r>
              <a:rPr lang="fr-FR" dirty="0" err="1"/>
              <a:t>WiFi</a:t>
            </a:r>
            <a:r>
              <a:rPr lang="fr-FR" dirty="0"/>
              <a:t> et DNS d'abord : DIRS vérifie que WPA3 Enterprise est actif et que le DNS est chiffré, car les réseaux ouverts et le DNS en clair sont des portes d'entrée classiques aux attaques MITM. Ensuite TLS et </a:t>
            </a:r>
            <a:r>
              <a:rPr lang="fr-FR" dirty="0" err="1"/>
              <a:t>Certificate</a:t>
            </a:r>
            <a:r>
              <a:rPr lang="fr-FR" dirty="0"/>
              <a:t> </a:t>
            </a:r>
            <a:r>
              <a:rPr lang="fr-FR" dirty="0" err="1"/>
              <a:t>Pinning</a:t>
            </a:r>
            <a:r>
              <a:rPr lang="fr-FR" dirty="0"/>
              <a:t> : TLS 1.3 est exigé, et l'absence de </a:t>
            </a:r>
            <a:r>
              <a:rPr lang="fr-FR" dirty="0" err="1"/>
              <a:t>pinning</a:t>
            </a:r>
            <a:r>
              <a:rPr lang="fr-FR" dirty="0"/>
              <a:t> est directement pénalisée dans le score. La Network Security Config garantit que le </a:t>
            </a:r>
            <a:r>
              <a:rPr lang="fr-FR" dirty="0" err="1"/>
              <a:t>cleartext</a:t>
            </a:r>
            <a:r>
              <a:rPr lang="fr-FR" dirty="0"/>
              <a:t> </a:t>
            </a:r>
            <a:r>
              <a:rPr lang="fr-FR" dirty="0" err="1"/>
              <a:t>traffic</a:t>
            </a:r>
            <a:r>
              <a:rPr lang="fr-FR" dirty="0"/>
              <a:t> est bien désactivé au niveau Android. Enfin, la détection MITM Active surveille en temps réel les signes d'interception réseau, au-delà de la simple vérification de configuration statique.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vecteur Hardware analyse la chaîne cryptographique en trois niveaux. Le </a:t>
            </a:r>
            <a:r>
              <a:rPr lang="fr-FR" dirty="0" err="1"/>
              <a:t>StrongBox</a:t>
            </a:r>
            <a:r>
              <a:rPr lang="fr-FR" dirty="0"/>
              <a:t>, physiquement isolé et certifié CC EAL4+, est le plus fiable avec un score d'audit de 98%. Le TEE utilise ARM </a:t>
            </a:r>
            <a:r>
              <a:rPr lang="fr-FR" dirty="0" err="1"/>
              <a:t>TrustZone</a:t>
            </a:r>
            <a:r>
              <a:rPr lang="fr-FR" dirty="0"/>
              <a:t> pour l'isolation mémoire hardware et atteint 92%. L'API </a:t>
            </a:r>
            <a:r>
              <a:rPr lang="fr-FR" dirty="0" err="1"/>
              <a:t>Keystore</a:t>
            </a:r>
            <a:r>
              <a:rPr lang="fr-FR" dirty="0"/>
              <a:t>, interface Android pour la gestion des clés avec binding matériel, obtient 85%. DIRS évalue sur quel niveau reposent les opérations cryptographiques de l'appareil — une clé purement logicielle étant bien moins sûre qu'une clé ancrée dans le TEE ou le </a:t>
            </a:r>
            <a:r>
              <a:rPr lang="fr-FR" dirty="0" err="1"/>
              <a:t>StrongBox</a:t>
            </a:r>
            <a:r>
              <a:rPr lang="fr-FR" dirty="0"/>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DIRS couvre nativement les quatre premières catégories de l'OWASP Mobile Top 10. M1 audite les mauvais usages des API système avec une couverture de 92%. M2 détecte les données sensibles exposées dans le stockage local à 88%. M3 sur les communications non sécurisées est notre point fort à 95%, couvrant TLS, </a:t>
            </a:r>
            <a:r>
              <a:rPr lang="fr-FR" dirty="0" err="1"/>
              <a:t>certificate</a:t>
            </a:r>
            <a:r>
              <a:rPr lang="fr-FR" dirty="0"/>
              <a:t> </a:t>
            </a:r>
            <a:r>
              <a:rPr lang="fr-FR" dirty="0" err="1"/>
              <a:t>pinning</a:t>
            </a:r>
            <a:r>
              <a:rPr lang="fr-FR" dirty="0"/>
              <a:t> et </a:t>
            </a:r>
            <a:r>
              <a:rPr lang="fr-FR" dirty="0" err="1"/>
              <a:t>cleartext</a:t>
            </a:r>
            <a:r>
              <a:rPr lang="fr-FR" dirty="0"/>
              <a:t>. M4 analyse l'authentification — biométrie, </a:t>
            </a:r>
            <a:r>
              <a:rPr lang="fr-FR" dirty="0" err="1"/>
              <a:t>tokens</a:t>
            </a:r>
            <a:r>
              <a:rPr lang="fr-FR" dirty="0"/>
              <a:t>, sessions et bypass MFA — à 86%.</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Sur les catégories suivantes, M5 détecte les algorithmes cryptographiques faibles comme AES-ECB à 92%. M6 vérifie les contrôles d'accès et les tentatives d'escalade de privilèges à 88%. M9 sur le reverse engineering est notre point faible à 78% — un axe d'amélioration que nous avons identifié. M10 scanne les backdoors et fonctionnalités cachées en production à 85%. Au total, DIRS couvre 8 des 10 catégories OWASP Mobile de façon approfondie.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Ce slide présente les </a:t>
            </a:r>
            <a:r>
              <a:rPr lang="fr-FR" dirty="0" err="1"/>
              <a:t>findings</a:t>
            </a:r>
            <a:r>
              <a:rPr lang="fr-FR" dirty="0"/>
              <a:t> DIRS classés par sévérité CVSS 3.1. En rouge, Root </a:t>
            </a:r>
            <a:r>
              <a:rPr lang="fr-FR" dirty="0" err="1"/>
              <a:t>Detection</a:t>
            </a:r>
            <a:r>
              <a:rPr lang="fr-FR" dirty="0"/>
              <a:t> et AVB Bypass sont les plus critiques avec un score supérieur à 9. En orange, les </a:t>
            </a:r>
            <a:r>
              <a:rPr lang="fr-FR" dirty="0" err="1"/>
              <a:t>findings</a:t>
            </a:r>
            <a:r>
              <a:rPr lang="fr-FR" dirty="0"/>
              <a:t> élevés comme TLS Downgrade, </a:t>
            </a:r>
            <a:r>
              <a:rPr lang="fr-FR" dirty="0" err="1"/>
              <a:t>Certificate</a:t>
            </a:r>
            <a:r>
              <a:rPr lang="fr-FR" dirty="0"/>
              <a:t> </a:t>
            </a:r>
            <a:r>
              <a:rPr lang="fr-FR" dirty="0" err="1"/>
              <a:t>Pinning</a:t>
            </a:r>
            <a:r>
              <a:rPr lang="fr-FR" dirty="0"/>
              <a:t> Failure ou </a:t>
            </a:r>
            <a:r>
              <a:rPr lang="fr-FR" dirty="0" err="1"/>
              <a:t>SELinux</a:t>
            </a:r>
            <a:r>
              <a:rPr lang="fr-FR" dirty="0"/>
              <a:t> Permissive. En jaune, les </a:t>
            </a:r>
            <a:r>
              <a:rPr lang="fr-FR" dirty="0" err="1"/>
              <a:t>findings</a:t>
            </a:r>
            <a:r>
              <a:rPr lang="fr-FR" dirty="0"/>
              <a:t> modérés comme </a:t>
            </a:r>
            <a:r>
              <a:rPr lang="fr-FR" dirty="0" err="1"/>
              <a:t>Debug</a:t>
            </a:r>
            <a:r>
              <a:rPr lang="fr-FR" dirty="0"/>
              <a:t> </a:t>
            </a:r>
            <a:r>
              <a:rPr lang="fr-FR" dirty="0" err="1"/>
              <a:t>Enabled</a:t>
            </a:r>
            <a:r>
              <a:rPr lang="fr-FR" dirty="0"/>
              <a:t> et ADB Active. Chaque </a:t>
            </a:r>
            <a:r>
              <a:rPr lang="fr-FR" dirty="0" err="1"/>
              <a:t>finding</a:t>
            </a:r>
            <a:r>
              <a:rPr lang="fr-FR" dirty="0"/>
              <a:t> embarque son score CVSS, sa description technique et ses recommandations de remédiation, ce qui permet une intégration directe dans les workflows </a:t>
            </a:r>
            <a:r>
              <a:rPr lang="fr-FR" dirty="0" err="1"/>
              <a:t>SecOps</a:t>
            </a:r>
            <a:r>
              <a:rPr lang="fr-FR" dirty="0"/>
              <a:t> existants.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DIRS génère trois rapports adaptés à chaque audience. L'</a:t>
            </a:r>
            <a:r>
              <a:rPr lang="fr-FR" dirty="0" err="1"/>
              <a:t>Executive</a:t>
            </a:r>
            <a:r>
              <a:rPr lang="fr-FR" dirty="0"/>
              <a:t> Report, une page en PDF, donne à la direction l'essentiel : score global, risques prioritaires et recommandations stratégiques, sans bruit technique. Le </a:t>
            </a:r>
            <a:r>
              <a:rPr lang="fr-FR" dirty="0" err="1"/>
              <a:t>Technical</a:t>
            </a:r>
            <a:r>
              <a:rPr lang="fr-FR" dirty="0"/>
              <a:t> Report, plus de 50 pages en JSON, fournit aux équipes SOC le détail complet des </a:t>
            </a:r>
            <a:r>
              <a:rPr lang="fr-FR" dirty="0" err="1"/>
              <a:t>findings</a:t>
            </a:r>
            <a:r>
              <a:rPr lang="fr-FR" dirty="0"/>
              <a:t>, preuves techniques et scores CVSS. Enfin le </a:t>
            </a:r>
            <a:r>
              <a:rPr lang="fr-FR" dirty="0" err="1"/>
              <a:t>Remediation</a:t>
            </a:r>
            <a:r>
              <a:rPr lang="fr-FR" dirty="0"/>
              <a:t> </a:t>
            </a:r>
            <a:r>
              <a:rPr lang="fr-FR" dirty="0" err="1"/>
              <a:t>Playbook</a:t>
            </a:r>
            <a:r>
              <a:rPr lang="fr-FR" dirty="0"/>
              <a:t> guide les équipes IT avec des actions correctives priorisées et des scripts intégrables aux outils MDM. Cette segmentation est clé : chaque stakeholder reçoit le bon niveau d'information, ce qui évite la surcharge cognitive et accélère la prise de décision.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L'interface DIRS repose sur quatre principes UX. Le F-Pattern </a:t>
            </a:r>
            <a:r>
              <a:rPr lang="fr-FR" dirty="0" err="1"/>
              <a:t>Layout</a:t>
            </a:r>
            <a:r>
              <a:rPr lang="fr-FR" dirty="0"/>
              <a:t> positionne les informations critiques là où l'œil se porte naturellement. La Sémantique Chromatique est strictement codifiée — rouge, orange, jaune, vert — avec des ratios de contraste conformes WCAG AAA. La Progressive Disclosure affiche une vue synthétique par défaut, avec un drill-down pour accéder aux détails sans surcharge cognitive. Enfin l'Alert </a:t>
            </a:r>
            <a:r>
              <a:rPr lang="fr-FR" dirty="0" err="1"/>
              <a:t>Priority</a:t>
            </a:r>
            <a:r>
              <a:rPr lang="fr-FR" dirty="0"/>
              <a:t> Stack ordonne automatiquement les alertes par criticité, les KILL-SWITCH toujours en tête.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tableau de bord affiche un score global de 72 sur 100, avec 247 appareils analysés, 94% de conformité et 3 alertes critiques actives. Par vecteur, le Hardware est notre point fort à 92% tandis que le Réseau reste notre zone de risque à 65%. La tendance sur 30 jours montre une amélioration de 12%, preuve que les remédiations sont efficaces. Le </a:t>
            </a:r>
            <a:r>
              <a:rPr lang="fr-FR" dirty="0" err="1"/>
              <a:t>feed</a:t>
            </a:r>
            <a:r>
              <a:rPr lang="fr-FR" dirty="0"/>
              <a:t> d'alertes en temps réel et le rafraîchissement automatique toutes les 60 secondes garantissent un suivi opérationnel continu de la flotte.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Simulateur de Risque modélise le profil de menace selon le contexte réel de l'utilisateur. Prenons deux exemples. Un journaliste en zone de conflit, exposé à la surveillance étatique et l'interception réseau, obtient un score de 78 avec les vecteurs réseau et privilèges comme priorités critiques. Un cadre financier en BYOD, davantage exposé à l'espionnage industriel, a un profil orienté applicatif et configuration. L'écart est quantifié : 34% de risque réseau supplémentaire pour le journaliste. Ces deux profils nécessitent des stratégies de remédiation totalement différentes — et DIRS les génère automatiquement.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qualité du code DIRS repose sur trois principes. </a:t>
            </a:r>
            <a:r>
              <a:rPr lang="fr-FR" dirty="0" err="1"/>
              <a:t>TypeScript</a:t>
            </a:r>
            <a:r>
              <a:rPr lang="fr-FR" dirty="0"/>
              <a:t> strict à 100% : aucun type </a:t>
            </a:r>
            <a:r>
              <a:rPr lang="fr-FR" dirty="0" err="1"/>
              <a:t>any</a:t>
            </a:r>
            <a:r>
              <a:rPr lang="fr-FR" dirty="0"/>
              <a:t> toléré, ce qui élimine toute une classe de bugs dès la compilation. Les fonctions pures garantissent zéro effet de bord, ce qui rend le code entièrement testable et prévisible. Enfin, la validation </a:t>
            </a:r>
            <a:r>
              <a:rPr lang="fr-FR" dirty="0" err="1"/>
              <a:t>Zod</a:t>
            </a:r>
            <a:r>
              <a:rPr lang="fr-FR" dirty="0"/>
              <a:t> à 100% des inputs assure que chaque donnée entrante est vérifiée avant traitement. Ensemble, ces trois principes forment un code qui se comporte de façon fiable et vérifiable — essentiel pour un outil de sécurité.</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L'architecture de déploiement est conçue pour le </a:t>
            </a:r>
            <a:r>
              <a:rPr lang="fr-FR" dirty="0" err="1"/>
              <a:t>scale</a:t>
            </a:r>
            <a:r>
              <a:rPr lang="fr-FR" dirty="0"/>
              <a:t> </a:t>
            </a:r>
            <a:r>
              <a:rPr lang="fr-FR" dirty="0" err="1"/>
              <a:t>enterprise</a:t>
            </a:r>
            <a:r>
              <a:rPr lang="fr-FR" dirty="0"/>
              <a:t>. Le Mobile Agent collecte les signaux d'intégrité sur chaque appareil et les transmet via TLS 1.3. L'API Gateway centralise toutes les communications avec authentification JWT et rate </a:t>
            </a:r>
            <a:r>
              <a:rPr lang="fr-FR" dirty="0" err="1"/>
              <a:t>limiting</a:t>
            </a:r>
            <a:r>
              <a:rPr lang="fr-FR" dirty="0"/>
              <a:t>. Le </a:t>
            </a:r>
            <a:r>
              <a:rPr lang="fr-FR" dirty="0" err="1"/>
              <a:t>Scoring</a:t>
            </a:r>
            <a:r>
              <a:rPr lang="fr-FR" dirty="0"/>
              <a:t> Cluster calcule les scores en distribué avec failover automatique. La base PostgreSQL s'intègre nativement aux solutions SIEM, certifiée SOC 2. Les métriques clés : 10 000+ appareils simultanés, latence inférieure à 2 secondes, et un SLA de 99.9%.</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conclure, DIRS n'est pas un scanner parmi d'autres — c'est un </a:t>
            </a:r>
            <a:r>
              <a:rPr lang="fr-FR" dirty="0" err="1"/>
              <a:t>framework</a:t>
            </a:r>
            <a:r>
              <a:rPr lang="fr-FR" dirty="0"/>
              <a:t> d'ingénierie de sécurité complet, combinant analyse multicouche, </a:t>
            </a:r>
            <a:r>
              <a:rPr lang="fr-FR" dirty="0" err="1"/>
              <a:t>scoring</a:t>
            </a:r>
            <a:r>
              <a:rPr lang="fr-FR" dirty="0"/>
              <a:t> CVSS 3.1, conformité OWASP Mobile et interface adaptée à chaque audience, le tout dans une architecture Zero-Trust scalable. Il répond à une question fondamentale : peut-on faire confiance à cet appareil pour accéder aux ressources de l'entreprise ? Et il y répond avec un score objectif, reproductible et actionnable. Merci de votre attention, nous sommes prêts pour vos questions.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Nous vous remercions pour votre attention.</a:t>
            </a:r>
          </a:p>
          <a:p>
            <a:r>
              <a:rPr lang="fr-FR" dirty="0"/>
              <a:t>Nous restons disponibles pour toutes vos questions sur DIRS — architecture, algorithme de scoring, décisions de conception, ou cas d'usage spécifiques.</a:t>
            </a:r>
          </a:p>
          <a:p>
            <a:r>
              <a:rPr lang="fr-FR" dirty="0"/>
              <a:t>Si vous souhaitez une démonstration de l'interface ou du simulateur de risque, n'hésitez pas à le demander.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4.svg"/></Relationships>
</file>

<file path=ppt/slides/_rels/slide1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4.sv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4.sv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34.sv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grpSp>
        <p:nvGrpSpPr>
          <p:cNvPr id="2" name="Group 2"/>
          <p:cNvGrpSpPr/>
          <p:nvPr/>
        </p:nvGrpSpPr>
        <p:grpSpPr>
          <a:xfrm>
            <a:off x="13754772" y="-289193"/>
            <a:ext cx="4443504" cy="10568061"/>
            <a:chOff x="0" y="0"/>
            <a:chExt cx="5924672" cy="14090748"/>
          </a:xfrm>
        </p:grpSpPr>
        <p:pic>
          <p:nvPicPr>
            <p:cNvPr id="3" name="Picture 3"/>
            <p:cNvPicPr>
              <a:picLocks noChangeAspect="1"/>
            </p:cNvPicPr>
            <p:nvPr/>
          </p:nvPicPr>
          <p:blipFill>
            <a:blip r:embed="rId3"/>
            <a:srcRect l="54277" r="3675"/>
            <a:stretch>
              <a:fillRect/>
            </a:stretch>
          </p:blipFill>
          <p:spPr>
            <a:xfrm>
              <a:off x="0" y="0"/>
              <a:ext cx="5924672" cy="14090748"/>
            </a:xfrm>
            <a:prstGeom prst="rect">
              <a:avLst/>
            </a:prstGeom>
          </p:spPr>
        </p:pic>
      </p:grpSp>
      <p:grpSp>
        <p:nvGrpSpPr>
          <p:cNvPr id="4" name="Group 4"/>
          <p:cNvGrpSpPr/>
          <p:nvPr/>
        </p:nvGrpSpPr>
        <p:grpSpPr>
          <a:xfrm>
            <a:off x="2314941" y="2683582"/>
            <a:ext cx="8705623" cy="6125554"/>
            <a:chOff x="0" y="0"/>
            <a:chExt cx="1915814" cy="1348028"/>
          </a:xfrm>
        </p:grpSpPr>
        <p:sp>
          <p:nvSpPr>
            <p:cNvPr id="5" name="Freeform 5"/>
            <p:cNvSpPr/>
            <p:nvPr/>
          </p:nvSpPr>
          <p:spPr>
            <a:xfrm>
              <a:off x="0" y="0"/>
              <a:ext cx="1915814" cy="1348028"/>
            </a:xfrm>
            <a:custGeom>
              <a:avLst/>
              <a:gdLst/>
              <a:ahLst/>
              <a:cxnLst/>
              <a:rect l="l" t="t" r="r" b="b"/>
              <a:pathLst>
                <a:path w="1915814" h="1348028">
                  <a:moveTo>
                    <a:pt x="0" y="0"/>
                  </a:moveTo>
                  <a:lnTo>
                    <a:pt x="1915814" y="0"/>
                  </a:lnTo>
                  <a:lnTo>
                    <a:pt x="1915814" y="1348028"/>
                  </a:lnTo>
                  <a:lnTo>
                    <a:pt x="0" y="1348028"/>
                  </a:lnTo>
                  <a:close/>
                </a:path>
              </a:pathLst>
            </a:custGeom>
            <a:ln w="9525" cap="sq">
              <a:solidFill>
                <a:srgbClr val="000000"/>
              </a:solidFill>
              <a:prstDash val="solid"/>
              <a:miter/>
            </a:ln>
          </p:spPr>
          <p:txBody>
            <a:bodyPr/>
            <a:lstStyle/>
            <a:p>
              <a:endParaRPr lang="fr-MA"/>
            </a:p>
          </p:txBody>
        </p:sp>
        <p:sp>
          <p:nvSpPr>
            <p:cNvPr id="6" name="TextBox 6"/>
            <p:cNvSpPr txBox="1"/>
            <p:nvPr/>
          </p:nvSpPr>
          <p:spPr>
            <a:xfrm>
              <a:off x="0" y="-38100"/>
              <a:ext cx="1915814" cy="1386128"/>
            </a:xfrm>
            <a:prstGeom prst="rect">
              <a:avLst/>
            </a:prstGeom>
          </p:spPr>
          <p:txBody>
            <a:bodyPr lIns="50800" tIns="50800" rIns="50800" bIns="50800" rtlCol="0" anchor="ctr"/>
            <a:lstStyle/>
            <a:p>
              <a:pPr marL="0" lvl="0" indent="0" algn="ctr">
                <a:lnSpc>
                  <a:spcPts val="3499"/>
                </a:lnSpc>
              </a:pPr>
              <a:endParaRPr/>
            </a:p>
          </p:txBody>
        </p:sp>
      </p:grpSp>
      <p:sp>
        <p:nvSpPr>
          <p:cNvPr id="7" name="Freeform 7"/>
          <p:cNvSpPr/>
          <p:nvPr/>
        </p:nvSpPr>
        <p:spPr>
          <a:xfrm>
            <a:off x="0" y="-289193"/>
            <a:ext cx="6650224" cy="2335871"/>
          </a:xfrm>
          <a:custGeom>
            <a:avLst/>
            <a:gdLst/>
            <a:ahLst/>
            <a:cxnLst/>
            <a:rect l="l" t="t" r="r" b="b"/>
            <a:pathLst>
              <a:path w="6650224" h="2335871">
                <a:moveTo>
                  <a:pt x="0" y="0"/>
                </a:moveTo>
                <a:lnTo>
                  <a:pt x="6650224" y="0"/>
                </a:lnTo>
                <a:lnTo>
                  <a:pt x="6650224" y="2335872"/>
                </a:lnTo>
                <a:lnTo>
                  <a:pt x="0" y="2335872"/>
                </a:lnTo>
                <a:lnTo>
                  <a:pt x="0" y="0"/>
                </a:lnTo>
                <a:close/>
              </a:path>
            </a:pathLst>
          </a:custGeom>
          <a:blipFill>
            <a:blip r:embed="rId4"/>
            <a:stretch>
              <a:fillRect t="-1442" b="-30975"/>
            </a:stretch>
          </a:blipFill>
        </p:spPr>
        <p:txBody>
          <a:bodyPr/>
          <a:lstStyle/>
          <a:p>
            <a:endParaRPr lang="fr-MA"/>
          </a:p>
        </p:txBody>
      </p:sp>
      <p:sp>
        <p:nvSpPr>
          <p:cNvPr id="8" name="Freeform 8"/>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5"/>
            <a:stretch>
              <a:fillRect/>
            </a:stretch>
          </a:blipFill>
        </p:spPr>
        <p:txBody>
          <a:bodyPr/>
          <a:lstStyle/>
          <a:p>
            <a:endParaRPr lang="fr-MA"/>
          </a:p>
        </p:txBody>
      </p:sp>
      <p:sp>
        <p:nvSpPr>
          <p:cNvPr id="9" name="TextBox 9"/>
          <p:cNvSpPr txBox="1"/>
          <p:nvPr/>
        </p:nvSpPr>
        <p:spPr>
          <a:xfrm>
            <a:off x="4675253" y="3370698"/>
            <a:ext cx="7078066" cy="1474997"/>
          </a:xfrm>
          <a:prstGeom prst="rect">
            <a:avLst/>
          </a:prstGeom>
        </p:spPr>
        <p:txBody>
          <a:bodyPr lIns="0" tIns="0" rIns="0" bIns="0" rtlCol="0" anchor="t">
            <a:spAutoFit/>
          </a:bodyPr>
          <a:lstStyle/>
          <a:p>
            <a:pPr marL="0" lvl="0" indent="0" algn="l">
              <a:lnSpc>
                <a:spcPts val="11497"/>
              </a:lnSpc>
            </a:pPr>
            <a:r>
              <a:rPr lang="en-US" sz="9998">
                <a:solidFill>
                  <a:srgbClr val="000000"/>
                </a:solidFill>
                <a:latin typeface="Libre Baskerville"/>
                <a:ea typeface="Libre Baskerville"/>
                <a:cs typeface="Libre Baskerville"/>
                <a:sym typeface="Libre Baskerville"/>
              </a:rPr>
              <a:t>DIRS</a:t>
            </a:r>
          </a:p>
        </p:txBody>
      </p:sp>
      <p:sp>
        <p:nvSpPr>
          <p:cNvPr id="10" name="TextBox 10"/>
          <p:cNvSpPr txBox="1"/>
          <p:nvPr/>
        </p:nvSpPr>
        <p:spPr>
          <a:xfrm>
            <a:off x="2841603" y="5106075"/>
            <a:ext cx="8446714" cy="739715"/>
          </a:xfrm>
          <a:prstGeom prst="rect">
            <a:avLst/>
          </a:prstGeom>
        </p:spPr>
        <p:txBody>
          <a:bodyPr lIns="0" tIns="0" rIns="0" bIns="0" rtlCol="0" anchor="t">
            <a:spAutoFit/>
          </a:bodyPr>
          <a:lstStyle/>
          <a:p>
            <a:pPr marL="0" lvl="0" indent="0" algn="l">
              <a:lnSpc>
                <a:spcPts val="6050"/>
              </a:lnSpc>
            </a:pPr>
            <a:r>
              <a:rPr lang="en-US" sz="4321" b="1">
                <a:solidFill>
                  <a:srgbClr val="000000"/>
                </a:solidFill>
                <a:latin typeface="Glacial Indifference Bold"/>
                <a:ea typeface="Glacial Indifference Bold"/>
                <a:cs typeface="Glacial Indifference Bold"/>
                <a:sym typeface="Glacial Indifference Bold"/>
              </a:rPr>
              <a:t>Device Integrity &amp; Risk Scorer</a:t>
            </a:r>
          </a:p>
        </p:txBody>
      </p:sp>
      <p:sp>
        <p:nvSpPr>
          <p:cNvPr id="11" name="TextBox 11"/>
          <p:cNvSpPr txBox="1"/>
          <p:nvPr/>
        </p:nvSpPr>
        <p:spPr>
          <a:xfrm>
            <a:off x="3128720" y="6315119"/>
            <a:ext cx="7078066" cy="1009597"/>
          </a:xfrm>
          <a:prstGeom prst="rect">
            <a:avLst/>
          </a:prstGeom>
        </p:spPr>
        <p:txBody>
          <a:bodyPr lIns="0" tIns="0" rIns="0" bIns="0" rtlCol="0" anchor="t">
            <a:spAutoFit/>
          </a:bodyPr>
          <a:lstStyle/>
          <a:p>
            <a:pPr marL="0" lvl="0" indent="0" algn="ctr">
              <a:lnSpc>
                <a:spcPts val="4051"/>
              </a:lnSpc>
            </a:pPr>
            <a:r>
              <a:rPr lang="en-US" sz="2893">
                <a:solidFill>
                  <a:srgbClr val="000000"/>
                </a:solidFill>
                <a:latin typeface="Glacial Indifference"/>
                <a:ea typeface="Glacial Indifference"/>
                <a:cs typeface="Glacial Indifference"/>
                <a:sym typeface="Glacial Indifference"/>
              </a:rPr>
              <a:t>Framework d'analyse et de scoring de l'intégrité des appareils Android</a:t>
            </a:r>
          </a:p>
        </p:txBody>
      </p:sp>
      <p:sp>
        <p:nvSpPr>
          <p:cNvPr id="12" name="TextBox 12"/>
          <p:cNvSpPr txBox="1"/>
          <p:nvPr/>
        </p:nvSpPr>
        <p:spPr>
          <a:xfrm>
            <a:off x="3111191" y="8981415"/>
            <a:ext cx="7078066" cy="496621"/>
          </a:xfrm>
          <a:prstGeom prst="rect">
            <a:avLst/>
          </a:prstGeom>
        </p:spPr>
        <p:txBody>
          <a:bodyPr lIns="0" tIns="0" rIns="0" bIns="0" rtlCol="0" anchor="t">
            <a:spAutoFit/>
          </a:bodyPr>
          <a:lstStyle/>
          <a:p>
            <a:pPr marL="0" lvl="0" indent="0" algn="ctr">
              <a:lnSpc>
                <a:spcPts val="4051"/>
              </a:lnSpc>
            </a:pPr>
            <a:r>
              <a:rPr lang="en-US" sz="2893">
                <a:solidFill>
                  <a:srgbClr val="000000"/>
                </a:solidFill>
                <a:latin typeface="Glacial Indifference"/>
                <a:ea typeface="Glacial Indifference"/>
                <a:cs typeface="Glacial Indifference"/>
                <a:sym typeface="Glacial Indifference"/>
              </a:rPr>
              <a:t>Wissal MOKDAD - Hafssa AZARG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3077581" y="4231533"/>
            <a:ext cx="12132838" cy="4575145"/>
            <a:chOff x="0" y="0"/>
            <a:chExt cx="16177118" cy="6100193"/>
          </a:xfrm>
        </p:grpSpPr>
        <p:grpSp>
          <p:nvGrpSpPr>
            <p:cNvPr id="5" name="Group 5"/>
            <p:cNvGrpSpPr/>
            <p:nvPr/>
          </p:nvGrpSpPr>
          <p:grpSpPr>
            <a:xfrm>
              <a:off x="0" y="0"/>
              <a:ext cx="1202463" cy="1086855"/>
              <a:chOff x="0" y="0"/>
              <a:chExt cx="237523" cy="214687"/>
            </a:xfrm>
          </p:grpSpPr>
          <p:sp>
            <p:nvSpPr>
              <p:cNvPr id="6" name="Freeform 6"/>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7" name="TextBox 7"/>
              <p:cNvSpPr txBox="1"/>
              <p:nvPr/>
            </p:nvSpPr>
            <p:spPr>
              <a:xfrm>
                <a:off x="0" y="-38100"/>
                <a:ext cx="237523" cy="252787"/>
              </a:xfrm>
              <a:prstGeom prst="rect">
                <a:avLst/>
              </a:prstGeom>
            </p:spPr>
            <p:txBody>
              <a:bodyPr lIns="50800" tIns="50800" rIns="50800" bIns="50800" rtlCol="0" anchor="ctr"/>
              <a:lstStyle/>
              <a:p>
                <a:pPr marL="0" lvl="0" indent="0" algn="ctr">
                  <a:lnSpc>
                    <a:spcPts val="3220"/>
                  </a:lnSpc>
                </a:pPr>
                <a:r>
                  <a:rPr lang="en-US" sz="2300">
                    <a:solidFill>
                      <a:srgbClr val="E4E2DE"/>
                    </a:solidFill>
                    <a:latin typeface="Lora"/>
                    <a:ea typeface="Lora"/>
                    <a:cs typeface="Lora"/>
                    <a:sym typeface="Lora"/>
                  </a:rPr>
                  <a:t>1</a:t>
                </a:r>
              </a:p>
            </p:txBody>
          </p:sp>
        </p:grpSp>
        <p:grpSp>
          <p:nvGrpSpPr>
            <p:cNvPr id="8" name="Group 8"/>
            <p:cNvGrpSpPr/>
            <p:nvPr/>
          </p:nvGrpSpPr>
          <p:grpSpPr>
            <a:xfrm>
              <a:off x="0" y="1671228"/>
              <a:ext cx="1202463" cy="1086855"/>
              <a:chOff x="0" y="0"/>
              <a:chExt cx="237523" cy="214687"/>
            </a:xfrm>
          </p:grpSpPr>
          <p:sp>
            <p:nvSpPr>
              <p:cNvPr id="9" name="Freeform 9"/>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10" name="TextBox 10"/>
              <p:cNvSpPr txBox="1"/>
              <p:nvPr/>
            </p:nvSpPr>
            <p:spPr>
              <a:xfrm>
                <a:off x="0" y="-38100"/>
                <a:ext cx="237523" cy="252787"/>
              </a:xfrm>
              <a:prstGeom prst="rect">
                <a:avLst/>
              </a:prstGeom>
            </p:spPr>
            <p:txBody>
              <a:bodyPr lIns="50800" tIns="50800" rIns="50800" bIns="50800" rtlCol="0" anchor="ctr"/>
              <a:lstStyle/>
              <a:p>
                <a:pPr marL="0" lvl="0" indent="0" algn="ctr">
                  <a:lnSpc>
                    <a:spcPts val="3220"/>
                  </a:lnSpc>
                </a:pPr>
                <a:r>
                  <a:rPr lang="en-US" sz="2300">
                    <a:solidFill>
                      <a:srgbClr val="E4E2DE"/>
                    </a:solidFill>
                    <a:latin typeface="Lora"/>
                    <a:ea typeface="Lora"/>
                    <a:cs typeface="Lora"/>
                    <a:sym typeface="Lora"/>
                  </a:rPr>
                  <a:t>2</a:t>
                </a:r>
              </a:p>
            </p:txBody>
          </p:sp>
        </p:grpSp>
        <p:grpSp>
          <p:nvGrpSpPr>
            <p:cNvPr id="11" name="Group 11"/>
            <p:cNvGrpSpPr/>
            <p:nvPr/>
          </p:nvGrpSpPr>
          <p:grpSpPr>
            <a:xfrm>
              <a:off x="0" y="3342283"/>
              <a:ext cx="1202463" cy="1086855"/>
              <a:chOff x="0" y="0"/>
              <a:chExt cx="237523" cy="214687"/>
            </a:xfrm>
          </p:grpSpPr>
          <p:sp>
            <p:nvSpPr>
              <p:cNvPr id="12" name="Freeform 12"/>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13" name="TextBox 13"/>
              <p:cNvSpPr txBox="1"/>
              <p:nvPr/>
            </p:nvSpPr>
            <p:spPr>
              <a:xfrm>
                <a:off x="0" y="-38100"/>
                <a:ext cx="237523" cy="252787"/>
              </a:xfrm>
              <a:prstGeom prst="rect">
                <a:avLst/>
              </a:prstGeom>
            </p:spPr>
            <p:txBody>
              <a:bodyPr lIns="50800" tIns="50800" rIns="50800" bIns="50800" rtlCol="0" anchor="ctr"/>
              <a:lstStyle/>
              <a:p>
                <a:pPr marL="0" lvl="0" indent="0" algn="ctr">
                  <a:lnSpc>
                    <a:spcPts val="3220"/>
                  </a:lnSpc>
                </a:pPr>
                <a:r>
                  <a:rPr lang="en-US" sz="2300">
                    <a:solidFill>
                      <a:srgbClr val="E4E2DE"/>
                    </a:solidFill>
                    <a:latin typeface="Lora"/>
                    <a:ea typeface="Lora"/>
                    <a:cs typeface="Lora"/>
                    <a:sym typeface="Lora"/>
                  </a:rPr>
                  <a:t>3</a:t>
                </a:r>
              </a:p>
            </p:txBody>
          </p:sp>
        </p:grpSp>
        <p:grpSp>
          <p:nvGrpSpPr>
            <p:cNvPr id="14" name="Group 14"/>
            <p:cNvGrpSpPr/>
            <p:nvPr/>
          </p:nvGrpSpPr>
          <p:grpSpPr>
            <a:xfrm>
              <a:off x="0" y="5013338"/>
              <a:ext cx="1202463" cy="1086855"/>
              <a:chOff x="0" y="0"/>
              <a:chExt cx="237523" cy="214687"/>
            </a:xfrm>
          </p:grpSpPr>
          <p:sp>
            <p:nvSpPr>
              <p:cNvPr id="15" name="Freeform 15"/>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16" name="TextBox 16"/>
              <p:cNvSpPr txBox="1"/>
              <p:nvPr/>
            </p:nvSpPr>
            <p:spPr>
              <a:xfrm>
                <a:off x="0" y="-38100"/>
                <a:ext cx="237523" cy="252787"/>
              </a:xfrm>
              <a:prstGeom prst="rect">
                <a:avLst/>
              </a:prstGeom>
            </p:spPr>
            <p:txBody>
              <a:bodyPr lIns="50800" tIns="50800" rIns="50800" bIns="50800" rtlCol="0" anchor="ctr"/>
              <a:lstStyle/>
              <a:p>
                <a:pPr marL="0" lvl="0" indent="0" algn="ctr">
                  <a:lnSpc>
                    <a:spcPts val="3220"/>
                  </a:lnSpc>
                </a:pPr>
                <a:r>
                  <a:rPr lang="en-US" sz="2300">
                    <a:solidFill>
                      <a:srgbClr val="E4E2DE"/>
                    </a:solidFill>
                    <a:latin typeface="Lora"/>
                    <a:ea typeface="Lora"/>
                    <a:cs typeface="Lora"/>
                    <a:sym typeface="Lora"/>
                  </a:rPr>
                  <a:t>4</a:t>
                </a:r>
              </a:p>
            </p:txBody>
          </p:sp>
        </p:grpSp>
        <p:grpSp>
          <p:nvGrpSpPr>
            <p:cNvPr id="17" name="Group 17"/>
            <p:cNvGrpSpPr/>
            <p:nvPr/>
          </p:nvGrpSpPr>
          <p:grpSpPr>
            <a:xfrm>
              <a:off x="1542772" y="0"/>
              <a:ext cx="5659117" cy="1086855"/>
              <a:chOff x="0" y="0"/>
              <a:chExt cx="1117850" cy="214687"/>
            </a:xfrm>
          </p:grpSpPr>
          <p:sp>
            <p:nvSpPr>
              <p:cNvPr id="18" name="Freeform 18"/>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19" name="TextBox 19"/>
              <p:cNvSpPr txBox="1"/>
              <p:nvPr/>
            </p:nvSpPr>
            <p:spPr>
              <a:xfrm>
                <a:off x="0" y="-38100"/>
                <a:ext cx="1117850" cy="252787"/>
              </a:xfrm>
              <a:prstGeom prst="rect">
                <a:avLst/>
              </a:prstGeom>
            </p:spPr>
            <p:txBody>
              <a:bodyPr lIns="50800" tIns="50800" rIns="50800" bIns="50800" rtlCol="0" anchor="ctr"/>
              <a:lstStyle/>
              <a:p>
                <a:pPr marL="0" lvl="0" indent="0" algn="ctr">
                  <a:lnSpc>
                    <a:spcPts val="3220"/>
                  </a:lnSpc>
                </a:pPr>
                <a:r>
                  <a:rPr lang="en-US" sz="2300">
                    <a:solidFill>
                      <a:srgbClr val="000000"/>
                    </a:solidFill>
                    <a:latin typeface="Lora"/>
                    <a:ea typeface="Lora"/>
                    <a:cs typeface="Lora"/>
                    <a:sym typeface="Lora"/>
                  </a:rPr>
                  <a:t>Problématique</a:t>
                </a:r>
              </a:p>
            </p:txBody>
          </p:sp>
        </p:grpSp>
        <p:grpSp>
          <p:nvGrpSpPr>
            <p:cNvPr id="20" name="Group 20"/>
            <p:cNvGrpSpPr/>
            <p:nvPr/>
          </p:nvGrpSpPr>
          <p:grpSpPr>
            <a:xfrm>
              <a:off x="1542772" y="1671228"/>
              <a:ext cx="5659117" cy="1086855"/>
              <a:chOff x="0" y="0"/>
              <a:chExt cx="1117850" cy="214687"/>
            </a:xfrm>
          </p:grpSpPr>
          <p:sp>
            <p:nvSpPr>
              <p:cNvPr id="21" name="Freeform 21"/>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22" name="TextBox 22"/>
              <p:cNvSpPr txBox="1"/>
              <p:nvPr/>
            </p:nvSpPr>
            <p:spPr>
              <a:xfrm>
                <a:off x="0" y="-38100"/>
                <a:ext cx="1117850" cy="252787"/>
              </a:xfrm>
              <a:prstGeom prst="rect">
                <a:avLst/>
              </a:prstGeom>
            </p:spPr>
            <p:txBody>
              <a:bodyPr lIns="50800" tIns="50800" rIns="50800" bIns="50800" rtlCol="0" anchor="ctr"/>
              <a:lstStyle/>
              <a:p>
                <a:pPr marL="0" lvl="0" indent="0" algn="ctr">
                  <a:lnSpc>
                    <a:spcPts val="3220"/>
                  </a:lnSpc>
                </a:pPr>
                <a:r>
                  <a:rPr lang="en-US" sz="2300">
                    <a:solidFill>
                      <a:srgbClr val="000000"/>
                    </a:solidFill>
                    <a:latin typeface="Lora"/>
                    <a:ea typeface="Lora"/>
                    <a:cs typeface="Lora"/>
                    <a:sym typeface="Lora"/>
                  </a:rPr>
                  <a:t>Objectifs</a:t>
                </a:r>
              </a:p>
            </p:txBody>
          </p:sp>
        </p:grpSp>
        <p:grpSp>
          <p:nvGrpSpPr>
            <p:cNvPr id="23" name="Group 23"/>
            <p:cNvGrpSpPr/>
            <p:nvPr/>
          </p:nvGrpSpPr>
          <p:grpSpPr>
            <a:xfrm>
              <a:off x="1542772" y="3342283"/>
              <a:ext cx="5659117" cy="1086855"/>
              <a:chOff x="0" y="0"/>
              <a:chExt cx="1117850" cy="214687"/>
            </a:xfrm>
          </p:grpSpPr>
          <p:sp>
            <p:nvSpPr>
              <p:cNvPr id="24" name="Freeform 24"/>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25" name="TextBox 25"/>
              <p:cNvSpPr txBox="1"/>
              <p:nvPr/>
            </p:nvSpPr>
            <p:spPr>
              <a:xfrm>
                <a:off x="0" y="-38100"/>
                <a:ext cx="1117850" cy="252787"/>
              </a:xfrm>
              <a:prstGeom prst="rect">
                <a:avLst/>
              </a:prstGeom>
            </p:spPr>
            <p:txBody>
              <a:bodyPr lIns="50800" tIns="50800" rIns="50800" bIns="50800" rtlCol="0" anchor="ctr"/>
              <a:lstStyle/>
              <a:p>
                <a:pPr marL="0" lvl="0" indent="0" algn="ctr">
                  <a:lnSpc>
                    <a:spcPts val="3220"/>
                  </a:lnSpc>
                </a:pPr>
                <a:r>
                  <a:rPr lang="en-US" sz="2300">
                    <a:solidFill>
                      <a:srgbClr val="000000"/>
                    </a:solidFill>
                    <a:latin typeface="Lora"/>
                    <a:ea typeface="Lora"/>
                    <a:cs typeface="Lora"/>
                    <a:sym typeface="Lora"/>
                  </a:rPr>
                  <a:t>Architecture</a:t>
                </a:r>
              </a:p>
            </p:txBody>
          </p:sp>
        </p:grpSp>
        <p:grpSp>
          <p:nvGrpSpPr>
            <p:cNvPr id="26" name="Group 26"/>
            <p:cNvGrpSpPr/>
            <p:nvPr/>
          </p:nvGrpSpPr>
          <p:grpSpPr>
            <a:xfrm>
              <a:off x="1542772" y="5013338"/>
              <a:ext cx="5659117" cy="1086855"/>
              <a:chOff x="0" y="0"/>
              <a:chExt cx="1117850" cy="214687"/>
            </a:xfrm>
          </p:grpSpPr>
          <p:sp>
            <p:nvSpPr>
              <p:cNvPr id="27" name="Freeform 27"/>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28" name="TextBox 28"/>
              <p:cNvSpPr txBox="1"/>
              <p:nvPr/>
            </p:nvSpPr>
            <p:spPr>
              <a:xfrm>
                <a:off x="0" y="-38100"/>
                <a:ext cx="1117850" cy="252787"/>
              </a:xfrm>
              <a:prstGeom prst="rect">
                <a:avLst/>
              </a:prstGeom>
            </p:spPr>
            <p:txBody>
              <a:bodyPr lIns="50800" tIns="50800" rIns="50800" bIns="50800" rtlCol="0" anchor="ctr"/>
              <a:lstStyle/>
              <a:p>
                <a:pPr marL="0" lvl="0" indent="0" algn="ctr">
                  <a:lnSpc>
                    <a:spcPts val="3220"/>
                  </a:lnSpc>
                </a:pPr>
                <a:r>
                  <a:rPr lang="en-US" sz="2300">
                    <a:solidFill>
                      <a:srgbClr val="000000"/>
                    </a:solidFill>
                    <a:latin typeface="Lora"/>
                    <a:ea typeface="Lora"/>
                    <a:cs typeface="Lora"/>
                    <a:sym typeface="Lora"/>
                  </a:rPr>
                  <a:t>Algorithme</a:t>
                </a:r>
              </a:p>
            </p:txBody>
          </p:sp>
        </p:grpSp>
        <p:grpSp>
          <p:nvGrpSpPr>
            <p:cNvPr id="29" name="Group 29"/>
            <p:cNvGrpSpPr/>
            <p:nvPr/>
          </p:nvGrpSpPr>
          <p:grpSpPr>
            <a:xfrm>
              <a:off x="8975229" y="0"/>
              <a:ext cx="1202463" cy="1086855"/>
              <a:chOff x="0" y="0"/>
              <a:chExt cx="237523" cy="214687"/>
            </a:xfrm>
          </p:grpSpPr>
          <p:sp>
            <p:nvSpPr>
              <p:cNvPr id="30" name="Freeform 30"/>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31" name="TextBox 31"/>
              <p:cNvSpPr txBox="1"/>
              <p:nvPr/>
            </p:nvSpPr>
            <p:spPr>
              <a:xfrm>
                <a:off x="0" y="-38100"/>
                <a:ext cx="237523" cy="252787"/>
              </a:xfrm>
              <a:prstGeom prst="rect">
                <a:avLst/>
              </a:prstGeom>
            </p:spPr>
            <p:txBody>
              <a:bodyPr lIns="50800" tIns="50800" rIns="50800" bIns="50800" rtlCol="0" anchor="ctr"/>
              <a:lstStyle/>
              <a:p>
                <a:pPr marL="0" lvl="0" indent="0" algn="ctr">
                  <a:lnSpc>
                    <a:spcPts val="3220"/>
                  </a:lnSpc>
                </a:pPr>
                <a:r>
                  <a:rPr lang="en-US" sz="2300">
                    <a:solidFill>
                      <a:srgbClr val="E4E2DE"/>
                    </a:solidFill>
                    <a:latin typeface="Lora"/>
                    <a:ea typeface="Lora"/>
                    <a:cs typeface="Lora"/>
                    <a:sym typeface="Lora"/>
                  </a:rPr>
                  <a:t>5</a:t>
                </a:r>
              </a:p>
            </p:txBody>
          </p:sp>
        </p:grpSp>
        <p:grpSp>
          <p:nvGrpSpPr>
            <p:cNvPr id="32" name="Group 32"/>
            <p:cNvGrpSpPr/>
            <p:nvPr/>
          </p:nvGrpSpPr>
          <p:grpSpPr>
            <a:xfrm>
              <a:off x="8975229" y="1671228"/>
              <a:ext cx="1202463" cy="1086855"/>
              <a:chOff x="0" y="0"/>
              <a:chExt cx="237523" cy="214687"/>
            </a:xfrm>
          </p:grpSpPr>
          <p:sp>
            <p:nvSpPr>
              <p:cNvPr id="33" name="Freeform 33"/>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34" name="TextBox 34"/>
              <p:cNvSpPr txBox="1"/>
              <p:nvPr/>
            </p:nvSpPr>
            <p:spPr>
              <a:xfrm>
                <a:off x="0" y="-38100"/>
                <a:ext cx="237523" cy="252787"/>
              </a:xfrm>
              <a:prstGeom prst="rect">
                <a:avLst/>
              </a:prstGeom>
            </p:spPr>
            <p:txBody>
              <a:bodyPr lIns="50800" tIns="50800" rIns="50800" bIns="50800" rtlCol="0" anchor="ctr"/>
              <a:lstStyle/>
              <a:p>
                <a:pPr marL="0" lvl="0" indent="0" algn="ctr">
                  <a:lnSpc>
                    <a:spcPts val="3220"/>
                  </a:lnSpc>
                </a:pPr>
                <a:r>
                  <a:rPr lang="en-US" sz="2300">
                    <a:solidFill>
                      <a:srgbClr val="E4E2DE"/>
                    </a:solidFill>
                    <a:latin typeface="Lora"/>
                    <a:ea typeface="Lora"/>
                    <a:cs typeface="Lora"/>
                    <a:sym typeface="Lora"/>
                  </a:rPr>
                  <a:t>6</a:t>
                </a:r>
              </a:p>
            </p:txBody>
          </p:sp>
        </p:grpSp>
        <p:grpSp>
          <p:nvGrpSpPr>
            <p:cNvPr id="35" name="Group 35"/>
            <p:cNvGrpSpPr/>
            <p:nvPr/>
          </p:nvGrpSpPr>
          <p:grpSpPr>
            <a:xfrm>
              <a:off x="10518001" y="0"/>
              <a:ext cx="5659117" cy="1086855"/>
              <a:chOff x="0" y="0"/>
              <a:chExt cx="1117850" cy="214687"/>
            </a:xfrm>
          </p:grpSpPr>
          <p:sp>
            <p:nvSpPr>
              <p:cNvPr id="36" name="Freeform 36"/>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37" name="TextBox 37"/>
              <p:cNvSpPr txBox="1"/>
              <p:nvPr/>
            </p:nvSpPr>
            <p:spPr>
              <a:xfrm>
                <a:off x="0" y="-38100"/>
                <a:ext cx="1117850" cy="252787"/>
              </a:xfrm>
              <a:prstGeom prst="rect">
                <a:avLst/>
              </a:prstGeom>
            </p:spPr>
            <p:txBody>
              <a:bodyPr lIns="50800" tIns="50800" rIns="50800" bIns="50800" rtlCol="0" anchor="ctr"/>
              <a:lstStyle/>
              <a:p>
                <a:pPr marL="0" lvl="0" indent="0" algn="ctr">
                  <a:lnSpc>
                    <a:spcPts val="3220"/>
                  </a:lnSpc>
                </a:pPr>
                <a:r>
                  <a:rPr lang="en-US" sz="2300">
                    <a:solidFill>
                      <a:srgbClr val="000000"/>
                    </a:solidFill>
                    <a:latin typeface="Lora"/>
                    <a:ea typeface="Lora"/>
                    <a:cs typeface="Lora"/>
                    <a:sym typeface="Lora"/>
                  </a:rPr>
                  <a:t>Sécurité</a:t>
                </a:r>
              </a:p>
            </p:txBody>
          </p:sp>
        </p:grpSp>
        <p:grpSp>
          <p:nvGrpSpPr>
            <p:cNvPr id="38" name="Group 38"/>
            <p:cNvGrpSpPr/>
            <p:nvPr/>
          </p:nvGrpSpPr>
          <p:grpSpPr>
            <a:xfrm>
              <a:off x="10518001" y="1671228"/>
              <a:ext cx="5659117" cy="1086855"/>
              <a:chOff x="0" y="0"/>
              <a:chExt cx="1117850" cy="214687"/>
            </a:xfrm>
          </p:grpSpPr>
          <p:sp>
            <p:nvSpPr>
              <p:cNvPr id="39" name="Freeform 39"/>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40" name="TextBox 40"/>
              <p:cNvSpPr txBox="1"/>
              <p:nvPr/>
            </p:nvSpPr>
            <p:spPr>
              <a:xfrm>
                <a:off x="0" y="-38100"/>
                <a:ext cx="1117850" cy="252787"/>
              </a:xfrm>
              <a:prstGeom prst="rect">
                <a:avLst/>
              </a:prstGeom>
            </p:spPr>
            <p:txBody>
              <a:bodyPr lIns="50800" tIns="50800" rIns="50800" bIns="50800" rtlCol="0" anchor="ctr"/>
              <a:lstStyle/>
              <a:p>
                <a:pPr marL="0" lvl="0" indent="0" algn="ctr">
                  <a:lnSpc>
                    <a:spcPts val="3220"/>
                  </a:lnSpc>
                </a:pPr>
                <a:r>
                  <a:rPr lang="en-US" sz="2300">
                    <a:solidFill>
                      <a:srgbClr val="000000"/>
                    </a:solidFill>
                    <a:latin typeface="Lora"/>
                    <a:ea typeface="Lora"/>
                    <a:cs typeface="Lora"/>
                    <a:sym typeface="Lora"/>
                  </a:rPr>
                  <a:t>Conclusion</a:t>
                </a:r>
              </a:p>
            </p:txBody>
          </p:sp>
        </p:grpSp>
      </p:grpSp>
      <p:sp>
        <p:nvSpPr>
          <p:cNvPr id="41" name="TextBox 41"/>
          <p:cNvSpPr txBox="1"/>
          <p:nvPr/>
        </p:nvSpPr>
        <p:spPr>
          <a:xfrm>
            <a:off x="1028700" y="1016321"/>
            <a:ext cx="4847279" cy="379730"/>
          </a:xfrm>
          <a:prstGeom prst="rect">
            <a:avLst/>
          </a:prstGeom>
        </p:spPr>
        <p:txBody>
          <a:bodyPr lIns="0" tIns="0" rIns="0" bIns="0" rtlCol="0" anchor="t">
            <a:spAutoFit/>
          </a:bodyPr>
          <a:lstStyle/>
          <a:p>
            <a:pPr marL="0" lvl="0" indent="0" algn="l">
              <a:lnSpc>
                <a:spcPts val="3220"/>
              </a:lnSpc>
            </a:pPr>
            <a:r>
              <a:rPr lang="en-US" sz="2300">
                <a:solidFill>
                  <a:srgbClr val="000000"/>
                </a:solidFill>
                <a:latin typeface="Lora"/>
                <a:ea typeface="Lora"/>
                <a:cs typeface="Lora"/>
                <a:sym typeface="Lora"/>
              </a:rPr>
              <a:t>DIRS Framework</a:t>
            </a:r>
          </a:p>
        </p:txBody>
      </p:sp>
      <p:sp>
        <p:nvSpPr>
          <p:cNvPr id="42" name="TextBox 42"/>
          <p:cNvSpPr txBox="1"/>
          <p:nvPr/>
        </p:nvSpPr>
        <p:spPr>
          <a:xfrm>
            <a:off x="10250243" y="1016321"/>
            <a:ext cx="7009057" cy="379730"/>
          </a:xfrm>
          <a:prstGeom prst="rect">
            <a:avLst/>
          </a:prstGeom>
        </p:spPr>
        <p:txBody>
          <a:bodyPr lIns="0" tIns="0" rIns="0" bIns="0" rtlCol="0" anchor="t">
            <a:spAutoFit/>
          </a:bodyPr>
          <a:lstStyle/>
          <a:p>
            <a:pPr marL="0" lvl="0" indent="0" algn="r">
              <a:lnSpc>
                <a:spcPts val="3220"/>
              </a:lnSpc>
            </a:pPr>
            <a:r>
              <a:rPr lang="en-US" sz="2300">
                <a:solidFill>
                  <a:srgbClr val="000000"/>
                </a:solidFill>
                <a:latin typeface="Lora"/>
                <a:ea typeface="Lora"/>
                <a:cs typeface="Lora"/>
                <a:sym typeface="Lora"/>
              </a:rPr>
              <a:t>Device Integrity &amp; Risk Scorer</a:t>
            </a:r>
          </a:p>
        </p:txBody>
      </p:sp>
      <p:sp>
        <p:nvSpPr>
          <p:cNvPr id="43" name="TextBox 43"/>
          <p:cNvSpPr txBox="1"/>
          <p:nvPr/>
        </p:nvSpPr>
        <p:spPr>
          <a:xfrm>
            <a:off x="6186912" y="2497983"/>
            <a:ext cx="5914177" cy="866774"/>
          </a:xfrm>
          <a:prstGeom prst="rect">
            <a:avLst/>
          </a:prstGeom>
        </p:spPr>
        <p:txBody>
          <a:bodyPr lIns="0" tIns="0" rIns="0" bIns="0" rtlCol="0" anchor="t">
            <a:spAutoFit/>
          </a:bodyPr>
          <a:lstStyle/>
          <a:p>
            <a:pPr marL="0" lvl="0" indent="0" algn="ctr">
              <a:lnSpc>
                <a:spcPts val="6899"/>
              </a:lnSpc>
            </a:pPr>
            <a:r>
              <a:rPr lang="en-US" sz="5999">
                <a:solidFill>
                  <a:srgbClr val="000000"/>
                </a:solidFill>
                <a:latin typeface="Libre Baskerville"/>
                <a:ea typeface="Libre Baskerville"/>
                <a:cs typeface="Libre Baskerville"/>
                <a:sym typeface="Libre Baskerville"/>
              </a:rPr>
              <a:t>Sommaire</a:t>
            </a:r>
          </a:p>
        </p:txBody>
      </p:sp>
      <p:sp>
        <p:nvSpPr>
          <p:cNvPr id="44" name="Freeform 44"/>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47625"/>
              <a:ext cx="360059" cy="262312"/>
            </a:xfrm>
            <a:prstGeom prst="rect">
              <a:avLst/>
            </a:prstGeom>
          </p:spPr>
          <p:txBody>
            <a:bodyPr lIns="50800" tIns="50800" rIns="50800" bIns="50800" rtlCol="0" anchor="ctr"/>
            <a:lstStyle/>
            <a:p>
              <a:pPr marL="0" lvl="0" indent="0" algn="ctr">
                <a:lnSpc>
                  <a:spcPts val="3200"/>
                </a:lnSpc>
              </a:pPr>
              <a:r>
                <a:rPr lang="en-US" sz="2286">
                  <a:solidFill>
                    <a:srgbClr val="000000"/>
                  </a:solidFill>
                  <a:latin typeface="Lora"/>
                  <a:ea typeface="Lora"/>
                  <a:cs typeface="Lora"/>
                  <a:sym typeface="Lora"/>
                </a:rPr>
                <a:t>3</a:t>
              </a:r>
            </a:p>
          </p:txBody>
        </p:sp>
      </p:grpSp>
      <p:sp>
        <p:nvSpPr>
          <p:cNvPr id="7" name="TextBox 7"/>
          <p:cNvSpPr txBox="1"/>
          <p:nvPr/>
        </p:nvSpPr>
        <p:spPr>
          <a:xfrm>
            <a:off x="1028700" y="1006796"/>
            <a:ext cx="4847279" cy="389602"/>
          </a:xfrm>
          <a:prstGeom prst="rect">
            <a:avLst/>
          </a:prstGeom>
        </p:spPr>
        <p:txBody>
          <a:bodyPr lIns="0" tIns="0" rIns="0" bIns="0" rtlCol="0" anchor="t">
            <a:spAutoFit/>
          </a:bodyPr>
          <a:lstStyle/>
          <a:p>
            <a:pPr marL="0" lvl="0" indent="0" algn="l">
              <a:lnSpc>
                <a:spcPts val="3200"/>
              </a:lnSpc>
            </a:pPr>
            <a:r>
              <a:rPr lang="en-US" sz="2286">
                <a:solidFill>
                  <a:srgbClr val="000000"/>
                </a:solidFill>
                <a:latin typeface="Lora"/>
                <a:ea typeface="Lora"/>
                <a:cs typeface="Lora"/>
                <a:sym typeface="Lora"/>
              </a:rPr>
              <a:t>DIRS Framework</a:t>
            </a:r>
          </a:p>
        </p:txBody>
      </p:sp>
      <p:sp>
        <p:nvSpPr>
          <p:cNvPr id="8" name="TextBox 8"/>
          <p:cNvSpPr txBox="1"/>
          <p:nvPr/>
        </p:nvSpPr>
        <p:spPr>
          <a:xfrm>
            <a:off x="10250243" y="1006796"/>
            <a:ext cx="7009057" cy="389602"/>
          </a:xfrm>
          <a:prstGeom prst="rect">
            <a:avLst/>
          </a:prstGeom>
        </p:spPr>
        <p:txBody>
          <a:bodyPr lIns="0" tIns="0" rIns="0" bIns="0" rtlCol="0" anchor="t">
            <a:spAutoFit/>
          </a:bodyPr>
          <a:lstStyle/>
          <a:p>
            <a:pPr marL="0" lvl="0" indent="0" algn="r">
              <a:lnSpc>
                <a:spcPts val="3200"/>
              </a:lnSpc>
            </a:pPr>
            <a:r>
              <a:rPr lang="en-US" sz="2286">
                <a:solidFill>
                  <a:srgbClr val="000000"/>
                </a:solidFill>
                <a:latin typeface="Lora"/>
                <a:ea typeface="Lora"/>
                <a:cs typeface="Lora"/>
                <a:sym typeface="Lora"/>
              </a:rPr>
              <a:t>Device Integrity &amp; Risk Scorer</a:t>
            </a:r>
          </a:p>
        </p:txBody>
      </p:sp>
      <p:sp>
        <p:nvSpPr>
          <p:cNvPr id="9" name="TextBox 9"/>
          <p:cNvSpPr txBox="1"/>
          <p:nvPr/>
        </p:nvSpPr>
        <p:spPr>
          <a:xfrm>
            <a:off x="3379976" y="2501553"/>
            <a:ext cx="6332259" cy="1382449"/>
          </a:xfrm>
          <a:prstGeom prst="rect">
            <a:avLst/>
          </a:prstGeom>
        </p:spPr>
        <p:txBody>
          <a:bodyPr lIns="0" tIns="0" rIns="0" bIns="0" rtlCol="0" anchor="t">
            <a:spAutoFit/>
          </a:bodyPr>
          <a:lstStyle/>
          <a:p>
            <a:pPr marL="0" lvl="0" indent="0" algn="l">
              <a:lnSpc>
                <a:spcPts val="5414"/>
              </a:lnSpc>
            </a:pPr>
            <a:r>
              <a:rPr lang="en-US" sz="4708">
                <a:solidFill>
                  <a:srgbClr val="000000"/>
                </a:solidFill>
                <a:latin typeface="Libre Baskerville"/>
                <a:ea typeface="Libre Baskerville"/>
                <a:cs typeface="Libre Baskerville"/>
                <a:sym typeface="Libre Baskerville"/>
              </a:rPr>
              <a:t>Problématique – Statistiques Clés</a:t>
            </a:r>
          </a:p>
        </p:txBody>
      </p:sp>
      <p:grpSp>
        <p:nvGrpSpPr>
          <p:cNvPr id="10" name="Group 10"/>
          <p:cNvGrpSpPr/>
          <p:nvPr/>
        </p:nvGrpSpPr>
        <p:grpSpPr>
          <a:xfrm>
            <a:off x="1344109" y="5129784"/>
            <a:ext cx="4869727" cy="4128516"/>
            <a:chOff x="0" y="0"/>
            <a:chExt cx="1282562" cy="1087346"/>
          </a:xfrm>
        </p:grpSpPr>
        <p:sp>
          <p:nvSpPr>
            <p:cNvPr id="11" name="Freeform 11"/>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12" name="TextBox 12"/>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13" name="Group 13"/>
          <p:cNvGrpSpPr/>
          <p:nvPr/>
        </p:nvGrpSpPr>
        <p:grpSpPr>
          <a:xfrm>
            <a:off x="1344109" y="4394160"/>
            <a:ext cx="1630386" cy="745149"/>
            <a:chOff x="0" y="0"/>
            <a:chExt cx="429402" cy="196253"/>
          </a:xfrm>
        </p:grpSpPr>
        <p:sp>
          <p:nvSpPr>
            <p:cNvPr id="14" name="Freeform 1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15" name="TextBox 1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24K+</a:t>
              </a:r>
            </a:p>
          </p:txBody>
        </p:sp>
      </p:grpSp>
      <p:sp>
        <p:nvSpPr>
          <p:cNvPr id="16" name="TextBox 16"/>
          <p:cNvSpPr txBox="1"/>
          <p:nvPr/>
        </p:nvSpPr>
        <p:spPr>
          <a:xfrm>
            <a:off x="1990612" y="5765927"/>
            <a:ext cx="3553098" cy="2799428"/>
          </a:xfrm>
          <a:prstGeom prst="rect">
            <a:avLst/>
          </a:prstGeom>
        </p:spPr>
        <p:txBody>
          <a:bodyPr lIns="0" tIns="0" rIns="0" bIns="0" rtlCol="0" anchor="t">
            <a:spAutoFit/>
          </a:bodyPr>
          <a:lstStyle/>
          <a:p>
            <a:pPr marL="0" lvl="0" indent="0" algn="just">
              <a:lnSpc>
                <a:spcPts val="3200"/>
              </a:lnSpc>
            </a:pPr>
            <a:r>
              <a:rPr lang="en-US" sz="2286">
                <a:solidFill>
                  <a:srgbClr val="E4E2DE"/>
                </a:solidFill>
                <a:latin typeface="Glacial Indifference"/>
                <a:ea typeface="Glacial Indifference"/>
                <a:cs typeface="Glacial Indifference"/>
                <a:sym typeface="Glacial Indifference"/>
              </a:rPr>
              <a:t>Variantes de ROM Android en circulation mondiale. Cette fragmentation massive complique la gestion de la sécurité et l'application uniforme des correctifs.</a:t>
            </a:r>
          </a:p>
        </p:txBody>
      </p:sp>
      <p:grpSp>
        <p:nvGrpSpPr>
          <p:cNvPr id="17" name="Group 17"/>
          <p:cNvGrpSpPr/>
          <p:nvPr/>
        </p:nvGrpSpPr>
        <p:grpSpPr>
          <a:xfrm>
            <a:off x="2962631" y="4394160"/>
            <a:ext cx="1630386" cy="745149"/>
            <a:chOff x="0" y="0"/>
            <a:chExt cx="429402" cy="196253"/>
          </a:xfrm>
        </p:grpSpPr>
        <p:sp>
          <p:nvSpPr>
            <p:cNvPr id="18" name="Freeform 18"/>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19" name="TextBox 19"/>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ROM</a:t>
              </a:r>
            </a:p>
          </p:txBody>
        </p:sp>
      </p:grpSp>
      <p:grpSp>
        <p:nvGrpSpPr>
          <p:cNvPr id="20" name="Group 20"/>
          <p:cNvGrpSpPr/>
          <p:nvPr/>
        </p:nvGrpSpPr>
        <p:grpSpPr>
          <a:xfrm>
            <a:off x="4583450" y="4394160"/>
            <a:ext cx="1630386" cy="745149"/>
            <a:chOff x="0" y="0"/>
            <a:chExt cx="429402" cy="196253"/>
          </a:xfrm>
        </p:grpSpPr>
        <p:sp>
          <p:nvSpPr>
            <p:cNvPr id="21" name="Freeform 21"/>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22" name="TextBox 22"/>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2024</a:t>
              </a:r>
            </a:p>
          </p:txBody>
        </p:sp>
      </p:grpSp>
      <p:grpSp>
        <p:nvGrpSpPr>
          <p:cNvPr id="23" name="Group 23"/>
          <p:cNvGrpSpPr/>
          <p:nvPr/>
        </p:nvGrpSpPr>
        <p:grpSpPr>
          <a:xfrm>
            <a:off x="6709136" y="5129784"/>
            <a:ext cx="4869727" cy="4128516"/>
            <a:chOff x="0" y="0"/>
            <a:chExt cx="1282562" cy="1087346"/>
          </a:xfrm>
        </p:grpSpPr>
        <p:sp>
          <p:nvSpPr>
            <p:cNvPr id="24" name="Freeform 24"/>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25" name="TextBox 25"/>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26" name="Group 26"/>
          <p:cNvGrpSpPr/>
          <p:nvPr/>
        </p:nvGrpSpPr>
        <p:grpSpPr>
          <a:xfrm>
            <a:off x="6709136" y="4394160"/>
            <a:ext cx="1630386" cy="745149"/>
            <a:chOff x="0" y="0"/>
            <a:chExt cx="429402" cy="196253"/>
          </a:xfrm>
        </p:grpSpPr>
        <p:sp>
          <p:nvSpPr>
            <p:cNvPr id="27" name="Freeform 27"/>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28" name="TextBox 28"/>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68%</a:t>
              </a:r>
            </a:p>
          </p:txBody>
        </p:sp>
      </p:grpSp>
      <p:sp>
        <p:nvSpPr>
          <p:cNvPr id="29" name="TextBox 29"/>
          <p:cNvSpPr txBox="1"/>
          <p:nvPr/>
        </p:nvSpPr>
        <p:spPr>
          <a:xfrm>
            <a:off x="7355639" y="5765927"/>
            <a:ext cx="3553098" cy="2399378"/>
          </a:xfrm>
          <a:prstGeom prst="rect">
            <a:avLst/>
          </a:prstGeom>
        </p:spPr>
        <p:txBody>
          <a:bodyPr lIns="0" tIns="0" rIns="0" bIns="0" rtlCol="0" anchor="t">
            <a:spAutoFit/>
          </a:bodyPr>
          <a:lstStyle/>
          <a:p>
            <a:pPr marL="0" lvl="0" indent="0" algn="just">
              <a:lnSpc>
                <a:spcPts val="3200"/>
              </a:lnSpc>
            </a:pPr>
            <a:r>
              <a:rPr lang="en-US" sz="2286">
                <a:solidFill>
                  <a:srgbClr val="E4E2DE"/>
                </a:solidFill>
                <a:latin typeface="Glacial Indifference"/>
                <a:ea typeface="Glacial Indifference"/>
                <a:cs typeface="Glacial Indifference"/>
                <a:sym typeface="Glacial Indifference"/>
              </a:rPr>
              <a:t>Des appareils en entreprise ne sont pas patchés avec les dernières mises à jour de sécurité, exposant les flottes mobiles à des vulnérabilités connues.</a:t>
            </a:r>
          </a:p>
        </p:txBody>
      </p:sp>
      <p:grpSp>
        <p:nvGrpSpPr>
          <p:cNvPr id="30" name="Group 30"/>
          <p:cNvGrpSpPr/>
          <p:nvPr/>
        </p:nvGrpSpPr>
        <p:grpSpPr>
          <a:xfrm>
            <a:off x="8327658" y="4394160"/>
            <a:ext cx="1630386" cy="745149"/>
            <a:chOff x="0" y="0"/>
            <a:chExt cx="429402" cy="196253"/>
          </a:xfrm>
        </p:grpSpPr>
        <p:sp>
          <p:nvSpPr>
            <p:cNvPr id="31" name="Freeform 31"/>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32" name="TextBox 32"/>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BYOD</a:t>
              </a:r>
            </a:p>
          </p:txBody>
        </p:sp>
      </p:grpSp>
      <p:grpSp>
        <p:nvGrpSpPr>
          <p:cNvPr id="33" name="Group 33"/>
          <p:cNvGrpSpPr/>
          <p:nvPr/>
        </p:nvGrpSpPr>
        <p:grpSpPr>
          <a:xfrm>
            <a:off x="9948478" y="4394160"/>
            <a:ext cx="1630386" cy="745149"/>
            <a:chOff x="0" y="0"/>
            <a:chExt cx="429402" cy="196253"/>
          </a:xfrm>
        </p:grpSpPr>
        <p:sp>
          <p:nvSpPr>
            <p:cNvPr id="34" name="Freeform 3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35" name="TextBox 3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Risque</a:t>
              </a:r>
            </a:p>
          </p:txBody>
        </p:sp>
      </p:grpSp>
      <p:grpSp>
        <p:nvGrpSpPr>
          <p:cNvPr id="36" name="Group 36"/>
          <p:cNvGrpSpPr/>
          <p:nvPr/>
        </p:nvGrpSpPr>
        <p:grpSpPr>
          <a:xfrm>
            <a:off x="12071339" y="5129784"/>
            <a:ext cx="4869727" cy="4128516"/>
            <a:chOff x="0" y="0"/>
            <a:chExt cx="1282562" cy="1087346"/>
          </a:xfrm>
        </p:grpSpPr>
        <p:sp>
          <p:nvSpPr>
            <p:cNvPr id="37" name="Freeform 37"/>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38" name="TextBox 38"/>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39" name="Group 39"/>
          <p:cNvGrpSpPr/>
          <p:nvPr/>
        </p:nvGrpSpPr>
        <p:grpSpPr>
          <a:xfrm>
            <a:off x="12071339" y="4394160"/>
            <a:ext cx="1630386" cy="745149"/>
            <a:chOff x="0" y="0"/>
            <a:chExt cx="429402" cy="196253"/>
          </a:xfrm>
        </p:grpSpPr>
        <p:sp>
          <p:nvSpPr>
            <p:cNvPr id="40" name="Freeform 40"/>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41" name="TextBox 41"/>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CVE</a:t>
              </a:r>
            </a:p>
          </p:txBody>
        </p:sp>
      </p:grpSp>
      <p:sp>
        <p:nvSpPr>
          <p:cNvPr id="42" name="TextBox 42"/>
          <p:cNvSpPr txBox="1"/>
          <p:nvPr/>
        </p:nvSpPr>
        <p:spPr>
          <a:xfrm>
            <a:off x="12717841" y="5765927"/>
            <a:ext cx="3553098" cy="2799428"/>
          </a:xfrm>
          <a:prstGeom prst="rect">
            <a:avLst/>
          </a:prstGeom>
        </p:spPr>
        <p:txBody>
          <a:bodyPr lIns="0" tIns="0" rIns="0" bIns="0" rtlCol="0" anchor="t">
            <a:spAutoFit/>
          </a:bodyPr>
          <a:lstStyle/>
          <a:p>
            <a:pPr marL="0" lvl="0" indent="0" algn="just">
              <a:lnSpc>
                <a:spcPts val="3200"/>
              </a:lnSpc>
            </a:pPr>
            <a:r>
              <a:rPr lang="en-US" sz="2286">
                <a:solidFill>
                  <a:srgbClr val="E4E2DE"/>
                </a:solidFill>
                <a:latin typeface="Glacial Indifference"/>
                <a:ea typeface="Glacial Indifference"/>
                <a:cs typeface="Glacial Indifference"/>
                <a:sym typeface="Glacial Indifference"/>
              </a:rPr>
              <a:t>CVE-2024 : Exploits TEE critiques identifiés. Les environnements d'exécution de confiance sont ciblés par des attaques sophistiquées compromettant la chaîne de confiance.</a:t>
            </a:r>
          </a:p>
        </p:txBody>
      </p:sp>
      <p:grpSp>
        <p:nvGrpSpPr>
          <p:cNvPr id="43" name="Group 43"/>
          <p:cNvGrpSpPr/>
          <p:nvPr/>
        </p:nvGrpSpPr>
        <p:grpSpPr>
          <a:xfrm>
            <a:off x="13689861" y="4394160"/>
            <a:ext cx="1630386" cy="745149"/>
            <a:chOff x="0" y="0"/>
            <a:chExt cx="429402" cy="196253"/>
          </a:xfrm>
        </p:grpSpPr>
        <p:sp>
          <p:nvSpPr>
            <p:cNvPr id="44" name="Freeform 4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45" name="TextBox 4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TEE</a:t>
              </a:r>
            </a:p>
          </p:txBody>
        </p:sp>
      </p:grpSp>
      <p:grpSp>
        <p:nvGrpSpPr>
          <p:cNvPr id="46" name="Group 46"/>
          <p:cNvGrpSpPr/>
          <p:nvPr/>
        </p:nvGrpSpPr>
        <p:grpSpPr>
          <a:xfrm>
            <a:off x="15310680" y="4394160"/>
            <a:ext cx="1630386" cy="745149"/>
            <a:chOff x="0" y="0"/>
            <a:chExt cx="429402" cy="196253"/>
          </a:xfrm>
        </p:grpSpPr>
        <p:sp>
          <p:nvSpPr>
            <p:cNvPr id="47" name="Freeform 47"/>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48" name="TextBox 48"/>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Crit.</a:t>
              </a:r>
            </a:p>
          </p:txBody>
        </p:sp>
      </p:grpSp>
      <p:sp>
        <p:nvSpPr>
          <p:cNvPr id="49" name="Freeform 49"/>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4</a:t>
              </a:r>
            </a:p>
          </p:txBody>
        </p:sp>
      </p:grpSp>
      <p:grpSp>
        <p:nvGrpSpPr>
          <p:cNvPr id="7" name="Group 7"/>
          <p:cNvGrpSpPr/>
          <p:nvPr/>
        </p:nvGrpSpPr>
        <p:grpSpPr>
          <a:xfrm>
            <a:off x="9744604" y="1586551"/>
            <a:ext cx="4780510" cy="2899540"/>
            <a:chOff x="0" y="0"/>
            <a:chExt cx="1259064" cy="763665"/>
          </a:xfrm>
        </p:grpSpPr>
        <p:sp>
          <p:nvSpPr>
            <p:cNvPr id="8" name="Freeform 8"/>
            <p:cNvSpPr/>
            <p:nvPr/>
          </p:nvSpPr>
          <p:spPr>
            <a:xfrm>
              <a:off x="0" y="0"/>
              <a:ext cx="1259064" cy="763665"/>
            </a:xfrm>
            <a:custGeom>
              <a:avLst/>
              <a:gdLst/>
              <a:ahLst/>
              <a:cxnLst/>
              <a:rect l="l" t="t" r="r" b="b"/>
              <a:pathLst>
                <a:path w="1259064" h="763665">
                  <a:moveTo>
                    <a:pt x="0" y="0"/>
                  </a:moveTo>
                  <a:lnTo>
                    <a:pt x="1259064" y="0"/>
                  </a:lnTo>
                  <a:lnTo>
                    <a:pt x="1259064" y="763665"/>
                  </a:lnTo>
                  <a:lnTo>
                    <a:pt x="0" y="763665"/>
                  </a:lnTo>
                  <a:close/>
                </a:path>
              </a:pathLst>
            </a:custGeom>
            <a:solidFill>
              <a:srgbClr val="343131"/>
            </a:solidFill>
            <a:ln w="9525" cap="sq">
              <a:solidFill>
                <a:srgbClr val="E4E2DE"/>
              </a:solidFill>
              <a:prstDash val="solid"/>
              <a:miter/>
            </a:ln>
          </p:spPr>
          <p:txBody>
            <a:bodyPr/>
            <a:lstStyle/>
            <a:p>
              <a:endParaRPr lang="fr-MA"/>
            </a:p>
          </p:txBody>
        </p:sp>
        <p:sp>
          <p:nvSpPr>
            <p:cNvPr id="9" name="TextBox 9"/>
            <p:cNvSpPr txBox="1"/>
            <p:nvPr/>
          </p:nvSpPr>
          <p:spPr>
            <a:xfrm>
              <a:off x="0" y="-38100"/>
              <a:ext cx="1259064" cy="801765"/>
            </a:xfrm>
            <a:prstGeom prst="rect">
              <a:avLst/>
            </a:prstGeom>
          </p:spPr>
          <p:txBody>
            <a:bodyPr lIns="50800" tIns="50800" rIns="50800" bIns="50800" rtlCol="0" anchor="ctr"/>
            <a:lstStyle/>
            <a:p>
              <a:pPr marL="0" lvl="0" indent="0" algn="ctr">
                <a:lnSpc>
                  <a:spcPts val="3220"/>
                </a:lnSpc>
              </a:pPr>
              <a:endParaRPr/>
            </a:p>
          </p:txBody>
        </p:sp>
      </p:grpSp>
      <p:sp>
        <p:nvSpPr>
          <p:cNvPr id="10" name="TextBox 10"/>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2024</a:t>
            </a:r>
          </a:p>
        </p:txBody>
      </p:sp>
      <p:sp>
        <p:nvSpPr>
          <p:cNvPr id="11" name="TextBox 11"/>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Analyse de Sécurité Mobile</a:t>
            </a:r>
          </a:p>
        </p:txBody>
      </p:sp>
      <p:sp>
        <p:nvSpPr>
          <p:cNvPr id="12" name="TextBox 12"/>
          <p:cNvSpPr txBox="1"/>
          <p:nvPr/>
        </p:nvSpPr>
        <p:spPr>
          <a:xfrm>
            <a:off x="3379976" y="2492028"/>
            <a:ext cx="5250651" cy="964066"/>
          </a:xfrm>
          <a:prstGeom prst="rect">
            <a:avLst/>
          </a:prstGeom>
        </p:spPr>
        <p:txBody>
          <a:bodyPr lIns="0" tIns="0" rIns="0" bIns="0" rtlCol="0" anchor="t">
            <a:spAutoFit/>
          </a:bodyPr>
          <a:lstStyle/>
          <a:p>
            <a:pPr marL="0" lvl="0" indent="0" algn="l">
              <a:lnSpc>
                <a:spcPts val="3819"/>
              </a:lnSpc>
            </a:pPr>
            <a:r>
              <a:rPr lang="en-US" sz="3321">
                <a:solidFill>
                  <a:srgbClr val="000000"/>
                </a:solidFill>
                <a:latin typeface="Libre Baskerville"/>
                <a:ea typeface="Libre Baskerville"/>
                <a:cs typeface="Libre Baskerville"/>
                <a:sym typeface="Libre Baskerville"/>
              </a:rPr>
              <a:t>Arbre de Compromission</a:t>
            </a:r>
          </a:p>
        </p:txBody>
      </p:sp>
      <p:sp>
        <p:nvSpPr>
          <p:cNvPr id="13" name="TextBox 13"/>
          <p:cNvSpPr txBox="1"/>
          <p:nvPr/>
        </p:nvSpPr>
        <p:spPr>
          <a:xfrm>
            <a:off x="1676379" y="3944174"/>
            <a:ext cx="6546982" cy="4442460"/>
          </a:xfrm>
          <a:prstGeom prst="rect">
            <a:avLst/>
          </a:prstGeom>
        </p:spPr>
        <p:txBody>
          <a:bodyPr lIns="0" tIns="0" rIns="0" bIns="0" rtlCol="0" anchor="t">
            <a:spAutoFit/>
          </a:bodyPr>
          <a:lstStyle/>
          <a:p>
            <a:pPr marL="0" lvl="0" indent="0" algn="just">
              <a:lnSpc>
                <a:spcPts val="2940"/>
              </a:lnSpc>
              <a:spcBef>
                <a:spcPct val="0"/>
              </a:spcBef>
            </a:pPr>
            <a:r>
              <a:rPr lang="en-US" sz="2100">
                <a:solidFill>
                  <a:srgbClr val="000000"/>
                </a:solidFill>
                <a:latin typeface="Lora"/>
                <a:ea typeface="Lora"/>
                <a:cs typeface="Lora"/>
                <a:sym typeface="Lora"/>
              </a:rPr>
              <a:t>L'arbre de compromission Root of Trust illustre les chemins d'attaque potentiels contre l'intégrité d'un appareil Android. Chaque nœud représente un composant critique de la chaîne de confiance.</a:t>
            </a:r>
          </a:p>
          <a:p>
            <a:pPr marL="0" lvl="0" indent="0" algn="just">
              <a:lnSpc>
                <a:spcPts val="2940"/>
              </a:lnSpc>
              <a:spcBef>
                <a:spcPct val="0"/>
              </a:spcBef>
            </a:pPr>
            <a:r>
              <a:rPr lang="en-US" sz="2100">
                <a:solidFill>
                  <a:srgbClr val="000000"/>
                </a:solidFill>
                <a:latin typeface="Lora"/>
                <a:ea typeface="Lora"/>
                <a:cs typeface="Lora"/>
                <a:sym typeface="Lora"/>
              </a:rPr>
              <a:t>Les états compromis (rouge) indiquent une violation active de la sécurité. Les états à risque (orange) signalent des vulnérabilités exploitables. Les états stables (gris) confirment l'intégrité du composant.</a:t>
            </a:r>
          </a:p>
          <a:p>
            <a:pPr marL="0" lvl="0" indent="0" algn="just">
              <a:lnSpc>
                <a:spcPts val="2940"/>
              </a:lnSpc>
              <a:spcBef>
                <a:spcPct val="0"/>
              </a:spcBef>
            </a:pPr>
            <a:r>
              <a:rPr lang="en-US" sz="2100">
                <a:solidFill>
                  <a:srgbClr val="000000"/>
                </a:solidFill>
                <a:latin typeface="Lora"/>
                <a:ea typeface="Lora"/>
                <a:cs typeface="Lora"/>
                <a:sym typeface="Lora"/>
              </a:rPr>
              <a:t>Cette visualisation permet d'identifier rapidement les vecteurs d'attaque prioritaires et les dépendances critiques dans la chaîne de vérification.</a:t>
            </a:r>
          </a:p>
        </p:txBody>
      </p:sp>
      <p:grpSp>
        <p:nvGrpSpPr>
          <p:cNvPr id="14" name="Group 14"/>
          <p:cNvGrpSpPr/>
          <p:nvPr/>
        </p:nvGrpSpPr>
        <p:grpSpPr>
          <a:xfrm>
            <a:off x="9744604" y="4486090"/>
            <a:ext cx="4780510" cy="2899540"/>
            <a:chOff x="0" y="0"/>
            <a:chExt cx="1259064" cy="763665"/>
          </a:xfrm>
        </p:grpSpPr>
        <p:sp>
          <p:nvSpPr>
            <p:cNvPr id="15" name="Freeform 15"/>
            <p:cNvSpPr/>
            <p:nvPr/>
          </p:nvSpPr>
          <p:spPr>
            <a:xfrm>
              <a:off x="0" y="0"/>
              <a:ext cx="1259064" cy="763665"/>
            </a:xfrm>
            <a:custGeom>
              <a:avLst/>
              <a:gdLst/>
              <a:ahLst/>
              <a:cxnLst/>
              <a:rect l="l" t="t" r="r" b="b"/>
              <a:pathLst>
                <a:path w="1259064" h="763665">
                  <a:moveTo>
                    <a:pt x="0" y="0"/>
                  </a:moveTo>
                  <a:lnTo>
                    <a:pt x="1259064" y="0"/>
                  </a:lnTo>
                  <a:lnTo>
                    <a:pt x="1259064" y="763665"/>
                  </a:lnTo>
                  <a:lnTo>
                    <a:pt x="0" y="763665"/>
                  </a:lnTo>
                  <a:close/>
                </a:path>
              </a:pathLst>
            </a:custGeom>
            <a:solidFill>
              <a:srgbClr val="343131"/>
            </a:solidFill>
            <a:ln w="9525" cap="sq">
              <a:solidFill>
                <a:srgbClr val="E4E2DE"/>
              </a:solidFill>
              <a:prstDash val="solid"/>
              <a:miter/>
            </a:ln>
          </p:spPr>
          <p:txBody>
            <a:bodyPr/>
            <a:lstStyle/>
            <a:p>
              <a:endParaRPr lang="fr-MA"/>
            </a:p>
          </p:txBody>
        </p:sp>
        <p:sp>
          <p:nvSpPr>
            <p:cNvPr id="16" name="TextBox 16"/>
            <p:cNvSpPr txBox="1"/>
            <p:nvPr/>
          </p:nvSpPr>
          <p:spPr>
            <a:xfrm>
              <a:off x="0" y="-38100"/>
              <a:ext cx="1259064" cy="801765"/>
            </a:xfrm>
            <a:prstGeom prst="rect">
              <a:avLst/>
            </a:prstGeom>
          </p:spPr>
          <p:txBody>
            <a:bodyPr lIns="50800" tIns="50800" rIns="50800" bIns="50800" rtlCol="0" anchor="ctr"/>
            <a:lstStyle/>
            <a:p>
              <a:pPr marL="0" lvl="0" indent="0" algn="ctr">
                <a:lnSpc>
                  <a:spcPts val="3220"/>
                </a:lnSpc>
              </a:pPr>
              <a:endParaRPr/>
            </a:p>
          </p:txBody>
        </p:sp>
      </p:grpSp>
      <p:grpSp>
        <p:nvGrpSpPr>
          <p:cNvPr id="17" name="Group 17"/>
          <p:cNvGrpSpPr/>
          <p:nvPr/>
        </p:nvGrpSpPr>
        <p:grpSpPr>
          <a:xfrm>
            <a:off x="9744604" y="7385630"/>
            <a:ext cx="4780510" cy="2899540"/>
            <a:chOff x="0" y="0"/>
            <a:chExt cx="1259064" cy="763665"/>
          </a:xfrm>
        </p:grpSpPr>
        <p:sp>
          <p:nvSpPr>
            <p:cNvPr id="18" name="Freeform 18"/>
            <p:cNvSpPr/>
            <p:nvPr/>
          </p:nvSpPr>
          <p:spPr>
            <a:xfrm>
              <a:off x="0" y="0"/>
              <a:ext cx="1259064" cy="763665"/>
            </a:xfrm>
            <a:custGeom>
              <a:avLst/>
              <a:gdLst/>
              <a:ahLst/>
              <a:cxnLst/>
              <a:rect l="l" t="t" r="r" b="b"/>
              <a:pathLst>
                <a:path w="1259064" h="763665">
                  <a:moveTo>
                    <a:pt x="0" y="0"/>
                  </a:moveTo>
                  <a:lnTo>
                    <a:pt x="1259064" y="0"/>
                  </a:lnTo>
                  <a:lnTo>
                    <a:pt x="1259064" y="763665"/>
                  </a:lnTo>
                  <a:lnTo>
                    <a:pt x="0" y="763665"/>
                  </a:lnTo>
                  <a:close/>
                </a:path>
              </a:pathLst>
            </a:custGeom>
            <a:solidFill>
              <a:srgbClr val="343131"/>
            </a:solidFill>
            <a:ln w="9525" cap="sq">
              <a:solidFill>
                <a:srgbClr val="E4E2DE"/>
              </a:solidFill>
              <a:prstDash val="solid"/>
              <a:miter/>
            </a:ln>
          </p:spPr>
          <p:txBody>
            <a:bodyPr/>
            <a:lstStyle/>
            <a:p>
              <a:endParaRPr lang="fr-MA"/>
            </a:p>
          </p:txBody>
        </p:sp>
        <p:sp>
          <p:nvSpPr>
            <p:cNvPr id="19" name="TextBox 19"/>
            <p:cNvSpPr txBox="1"/>
            <p:nvPr/>
          </p:nvSpPr>
          <p:spPr>
            <a:xfrm>
              <a:off x="0" y="-38100"/>
              <a:ext cx="1259064" cy="801765"/>
            </a:xfrm>
            <a:prstGeom prst="rect">
              <a:avLst/>
            </a:prstGeom>
          </p:spPr>
          <p:txBody>
            <a:bodyPr lIns="50800" tIns="50800" rIns="50800" bIns="50800" rtlCol="0" anchor="ctr"/>
            <a:lstStyle/>
            <a:p>
              <a:pPr marL="0" lvl="0" indent="0" algn="ctr">
                <a:lnSpc>
                  <a:spcPts val="3220"/>
                </a:lnSpc>
              </a:pPr>
              <a:endParaRPr/>
            </a:p>
          </p:txBody>
        </p:sp>
      </p:grpSp>
      <p:grpSp>
        <p:nvGrpSpPr>
          <p:cNvPr id="20" name="Group 20"/>
          <p:cNvGrpSpPr/>
          <p:nvPr/>
        </p:nvGrpSpPr>
        <p:grpSpPr>
          <a:xfrm>
            <a:off x="14365764" y="1586551"/>
            <a:ext cx="3922236" cy="8700449"/>
            <a:chOff x="0" y="0"/>
            <a:chExt cx="5229648" cy="11600599"/>
          </a:xfrm>
        </p:grpSpPr>
        <p:pic>
          <p:nvPicPr>
            <p:cNvPr id="21" name="Picture 21"/>
            <p:cNvPicPr>
              <a:picLocks noChangeAspect="1"/>
            </p:cNvPicPr>
            <p:nvPr/>
          </p:nvPicPr>
          <p:blipFill>
            <a:blip r:embed="rId3"/>
            <a:srcRect l="10455" r="10455"/>
            <a:stretch>
              <a:fillRect/>
            </a:stretch>
          </p:blipFill>
          <p:spPr>
            <a:xfrm>
              <a:off x="0" y="0"/>
              <a:ext cx="5229648" cy="11600599"/>
            </a:xfrm>
            <a:prstGeom prst="rect">
              <a:avLst/>
            </a:prstGeom>
          </p:spPr>
        </p:pic>
      </p:grpSp>
      <p:sp>
        <p:nvSpPr>
          <p:cNvPr id="22" name="TextBox 22"/>
          <p:cNvSpPr txBox="1"/>
          <p:nvPr/>
        </p:nvSpPr>
        <p:spPr>
          <a:xfrm>
            <a:off x="10310202" y="1920514"/>
            <a:ext cx="3323918" cy="448546"/>
          </a:xfrm>
          <a:prstGeom prst="rect">
            <a:avLst/>
          </a:prstGeom>
        </p:spPr>
        <p:txBody>
          <a:bodyPr lIns="0" tIns="0" rIns="0" bIns="0" rtlCol="0" anchor="t">
            <a:spAutoFit/>
          </a:bodyPr>
          <a:lstStyle/>
          <a:p>
            <a:pPr marL="0" lvl="0" indent="0" algn="l">
              <a:lnSpc>
                <a:spcPts val="3626"/>
              </a:lnSpc>
            </a:pPr>
            <a:r>
              <a:rPr lang="en-US" sz="2590" b="1">
                <a:solidFill>
                  <a:srgbClr val="E4E2DE"/>
                </a:solidFill>
                <a:latin typeface="Glacial Indifference Bold"/>
                <a:ea typeface="Glacial Indifference Bold"/>
                <a:cs typeface="Glacial Indifference Bold"/>
                <a:sym typeface="Glacial Indifference Bold"/>
              </a:rPr>
              <a:t>COMPROMIS</a:t>
            </a:r>
          </a:p>
        </p:txBody>
      </p:sp>
      <p:sp>
        <p:nvSpPr>
          <p:cNvPr id="23" name="TextBox 23"/>
          <p:cNvSpPr txBox="1"/>
          <p:nvPr/>
        </p:nvSpPr>
        <p:spPr>
          <a:xfrm>
            <a:off x="10310202" y="2716392"/>
            <a:ext cx="3323918" cy="1102360"/>
          </a:xfrm>
          <a:prstGeom prst="rect">
            <a:avLst/>
          </a:prstGeom>
        </p:spPr>
        <p:txBody>
          <a:bodyPr lIns="0" tIns="0" rIns="0" bIns="0" rtlCol="0" anchor="t">
            <a:spAutoFit/>
          </a:bodyPr>
          <a:lstStyle/>
          <a:p>
            <a:pPr marL="0" lvl="0" indent="0" algn="just">
              <a:lnSpc>
                <a:spcPts val="2239"/>
              </a:lnSpc>
            </a:pPr>
            <a:r>
              <a:rPr lang="en-US" sz="1599">
                <a:solidFill>
                  <a:srgbClr val="E4E2DE"/>
                </a:solidFill>
                <a:latin typeface="Glacial Indifference"/>
                <a:ea typeface="Glacial Indifference"/>
                <a:cs typeface="Glacial Indifference"/>
                <a:sym typeface="Glacial Indifference"/>
              </a:rPr>
              <a:t>Bootloader déverrouillé, ROM modifiée, accès root actif. Intégrité système invalidée. Nécessite remédiation immédiate.</a:t>
            </a:r>
          </a:p>
        </p:txBody>
      </p:sp>
      <p:sp>
        <p:nvSpPr>
          <p:cNvPr id="24" name="TextBox 24"/>
          <p:cNvSpPr txBox="1"/>
          <p:nvPr/>
        </p:nvSpPr>
        <p:spPr>
          <a:xfrm>
            <a:off x="10310202" y="4819465"/>
            <a:ext cx="3323918" cy="448546"/>
          </a:xfrm>
          <a:prstGeom prst="rect">
            <a:avLst/>
          </a:prstGeom>
        </p:spPr>
        <p:txBody>
          <a:bodyPr lIns="0" tIns="0" rIns="0" bIns="0" rtlCol="0" anchor="t">
            <a:spAutoFit/>
          </a:bodyPr>
          <a:lstStyle/>
          <a:p>
            <a:pPr marL="0" lvl="0" indent="0" algn="l">
              <a:lnSpc>
                <a:spcPts val="3626"/>
              </a:lnSpc>
            </a:pPr>
            <a:r>
              <a:rPr lang="en-US" sz="2590" b="1">
                <a:solidFill>
                  <a:srgbClr val="E4E2DE"/>
                </a:solidFill>
                <a:latin typeface="Glacial Indifference Bold"/>
                <a:ea typeface="Glacial Indifference Bold"/>
                <a:cs typeface="Glacial Indifference Bold"/>
                <a:sym typeface="Glacial Indifference Bold"/>
              </a:rPr>
              <a:t>À RISQUE</a:t>
            </a:r>
          </a:p>
        </p:txBody>
      </p:sp>
      <p:sp>
        <p:nvSpPr>
          <p:cNvPr id="25" name="TextBox 25"/>
          <p:cNvSpPr txBox="1"/>
          <p:nvPr/>
        </p:nvSpPr>
        <p:spPr>
          <a:xfrm>
            <a:off x="10310202" y="5615343"/>
            <a:ext cx="3323918" cy="1102360"/>
          </a:xfrm>
          <a:prstGeom prst="rect">
            <a:avLst/>
          </a:prstGeom>
        </p:spPr>
        <p:txBody>
          <a:bodyPr lIns="0" tIns="0" rIns="0" bIns="0" rtlCol="0" anchor="t">
            <a:spAutoFit/>
          </a:bodyPr>
          <a:lstStyle/>
          <a:p>
            <a:pPr marL="0" lvl="0" indent="0" algn="just">
              <a:lnSpc>
                <a:spcPts val="2239"/>
              </a:lnSpc>
            </a:pPr>
            <a:r>
              <a:rPr lang="en-US" sz="1599">
                <a:solidFill>
                  <a:srgbClr val="E4E2DE"/>
                </a:solidFill>
                <a:latin typeface="Glacial Indifference"/>
                <a:ea typeface="Glacial Indifference"/>
                <a:cs typeface="Glacial Indifference"/>
                <a:sym typeface="Glacial Indifference"/>
              </a:rPr>
              <a:t>Patches de sécurité obsolètes, certificats non vérifiés, configurations TEE vulnérables. Surveillance renforcée requise.</a:t>
            </a:r>
          </a:p>
        </p:txBody>
      </p:sp>
      <p:sp>
        <p:nvSpPr>
          <p:cNvPr id="26" name="TextBox 26"/>
          <p:cNvSpPr txBox="1"/>
          <p:nvPr/>
        </p:nvSpPr>
        <p:spPr>
          <a:xfrm>
            <a:off x="10310202" y="7518980"/>
            <a:ext cx="3323918" cy="448546"/>
          </a:xfrm>
          <a:prstGeom prst="rect">
            <a:avLst/>
          </a:prstGeom>
        </p:spPr>
        <p:txBody>
          <a:bodyPr lIns="0" tIns="0" rIns="0" bIns="0" rtlCol="0" anchor="t">
            <a:spAutoFit/>
          </a:bodyPr>
          <a:lstStyle/>
          <a:p>
            <a:pPr marL="0" lvl="0" indent="0" algn="l">
              <a:lnSpc>
                <a:spcPts val="3626"/>
              </a:lnSpc>
            </a:pPr>
            <a:r>
              <a:rPr lang="en-US" sz="2590" b="1">
                <a:solidFill>
                  <a:srgbClr val="E4E2DE"/>
                </a:solidFill>
                <a:latin typeface="Glacial Indifference Bold"/>
                <a:ea typeface="Glacial Indifference Bold"/>
                <a:cs typeface="Glacial Indifference Bold"/>
                <a:sym typeface="Glacial Indifference Bold"/>
              </a:rPr>
              <a:t>STABLE</a:t>
            </a:r>
          </a:p>
        </p:txBody>
      </p:sp>
      <p:sp>
        <p:nvSpPr>
          <p:cNvPr id="27" name="TextBox 27"/>
          <p:cNvSpPr txBox="1"/>
          <p:nvPr/>
        </p:nvSpPr>
        <p:spPr>
          <a:xfrm>
            <a:off x="10310202" y="8314857"/>
            <a:ext cx="3323918" cy="826135"/>
          </a:xfrm>
          <a:prstGeom prst="rect">
            <a:avLst/>
          </a:prstGeom>
        </p:spPr>
        <p:txBody>
          <a:bodyPr lIns="0" tIns="0" rIns="0" bIns="0" rtlCol="0" anchor="t">
            <a:spAutoFit/>
          </a:bodyPr>
          <a:lstStyle/>
          <a:p>
            <a:pPr marL="0" lvl="0" indent="0" algn="just">
              <a:lnSpc>
                <a:spcPts val="2239"/>
              </a:lnSpc>
            </a:pPr>
            <a:r>
              <a:rPr lang="en-US" sz="1599">
                <a:solidFill>
                  <a:srgbClr val="E4E2DE"/>
                </a:solidFill>
                <a:latin typeface="Glacial Indifference"/>
                <a:ea typeface="Glacial Indifference"/>
                <a:cs typeface="Glacial Indifference"/>
                <a:sym typeface="Glacial Indifference"/>
              </a:rPr>
              <a:t>Chaîne AVB vérifiée, SELinux enforcing, KeyStore hardware actif. État nominal de sécurité confirmé.</a:t>
            </a:r>
          </a:p>
        </p:txBody>
      </p:sp>
      <p:sp>
        <p:nvSpPr>
          <p:cNvPr id="28" name="Freeform 28"/>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4"/>
            <a:stretch>
              <a:fillRect/>
            </a:stretch>
          </a:blipFill>
        </p:spPr>
        <p:txBody>
          <a:bodyPr/>
          <a:lstStyle/>
          <a:p>
            <a:endParaRPr lang="fr-MA"/>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5</a:t>
              </a:r>
            </a:p>
          </p:txBody>
        </p:sp>
      </p:grpSp>
      <p:grpSp>
        <p:nvGrpSpPr>
          <p:cNvPr id="7" name="Group 7"/>
          <p:cNvGrpSpPr/>
          <p:nvPr/>
        </p:nvGrpSpPr>
        <p:grpSpPr>
          <a:xfrm>
            <a:off x="2876353" y="4210874"/>
            <a:ext cx="2653220" cy="523875"/>
            <a:chOff x="0" y="0"/>
            <a:chExt cx="840611" cy="165978"/>
          </a:xfrm>
        </p:grpSpPr>
        <p:sp>
          <p:nvSpPr>
            <p:cNvPr id="8" name="Freeform 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9" name="TextBox 9"/>
            <p:cNvSpPr txBox="1"/>
            <p:nvPr/>
          </p:nvSpPr>
          <p:spPr>
            <a:xfrm>
              <a:off x="0" y="-28575"/>
              <a:ext cx="840611" cy="194553"/>
            </a:xfrm>
            <a:prstGeom prst="rect">
              <a:avLst/>
            </a:prstGeom>
          </p:spPr>
          <p:txBody>
            <a:bodyPr lIns="50800" tIns="50800" rIns="50800" bIns="50800" rtlCol="0" anchor="ctr"/>
            <a:lstStyle/>
            <a:p>
              <a:pPr marL="0" lvl="0" indent="0" algn="ctr">
                <a:lnSpc>
                  <a:spcPts val="2666"/>
                </a:lnSpc>
              </a:pPr>
              <a:r>
                <a:rPr lang="en-US" sz="1904">
                  <a:solidFill>
                    <a:srgbClr val="000000"/>
                  </a:solidFill>
                  <a:latin typeface="Lora"/>
                  <a:ea typeface="Lora"/>
                  <a:cs typeface="Lora"/>
                  <a:sym typeface="Lora"/>
                </a:rPr>
                <a:t>Risk Quantification</a:t>
              </a:r>
            </a:p>
          </p:txBody>
        </p:sp>
      </p:grpSp>
      <p:grpSp>
        <p:nvGrpSpPr>
          <p:cNvPr id="10" name="Group 10"/>
          <p:cNvGrpSpPr/>
          <p:nvPr/>
        </p:nvGrpSpPr>
        <p:grpSpPr>
          <a:xfrm>
            <a:off x="1469091" y="4579156"/>
            <a:ext cx="1636842" cy="163684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a:stretch>
            </a:blipFill>
          </p:spPr>
          <p:txBody>
            <a:bodyPr/>
            <a:lstStyle/>
            <a:p>
              <a:endParaRPr lang="fr-MA"/>
            </a:p>
          </p:txBody>
        </p:sp>
      </p:grpSp>
      <p:grpSp>
        <p:nvGrpSpPr>
          <p:cNvPr id="12" name="Group 12"/>
          <p:cNvGrpSpPr/>
          <p:nvPr/>
        </p:nvGrpSpPr>
        <p:grpSpPr>
          <a:xfrm>
            <a:off x="2876353" y="6930374"/>
            <a:ext cx="2653220" cy="523875"/>
            <a:chOff x="0" y="0"/>
            <a:chExt cx="840611" cy="165978"/>
          </a:xfrm>
        </p:grpSpPr>
        <p:sp>
          <p:nvSpPr>
            <p:cNvPr id="13" name="Freeform 1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4" name="TextBox 14"/>
            <p:cNvSpPr txBox="1"/>
            <p:nvPr/>
          </p:nvSpPr>
          <p:spPr>
            <a:xfrm>
              <a:off x="0" y="-28575"/>
              <a:ext cx="840611" cy="194553"/>
            </a:xfrm>
            <a:prstGeom prst="rect">
              <a:avLst/>
            </a:prstGeom>
          </p:spPr>
          <p:txBody>
            <a:bodyPr lIns="50800" tIns="50800" rIns="50800" bIns="50800" rtlCol="0" anchor="ctr"/>
            <a:lstStyle/>
            <a:p>
              <a:pPr marL="0" lvl="0" indent="0" algn="ctr">
                <a:lnSpc>
                  <a:spcPts val="2666"/>
                </a:lnSpc>
              </a:pPr>
              <a:r>
                <a:rPr lang="en-US" sz="1904">
                  <a:solidFill>
                    <a:srgbClr val="000000"/>
                  </a:solidFill>
                  <a:latin typeface="Lora"/>
                  <a:ea typeface="Lora"/>
                  <a:cs typeface="Lora"/>
                  <a:sym typeface="Lora"/>
                </a:rPr>
                <a:t>Signal vs Noise</a:t>
              </a:r>
            </a:p>
          </p:txBody>
        </p:sp>
      </p:grpSp>
      <p:grpSp>
        <p:nvGrpSpPr>
          <p:cNvPr id="15" name="Group 15"/>
          <p:cNvGrpSpPr/>
          <p:nvPr/>
        </p:nvGrpSpPr>
        <p:grpSpPr>
          <a:xfrm>
            <a:off x="1469091" y="7298656"/>
            <a:ext cx="1636842" cy="163684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fr-MA"/>
            </a:p>
          </p:txBody>
        </p:sp>
      </p:grpSp>
      <p:grpSp>
        <p:nvGrpSpPr>
          <p:cNvPr id="17" name="Group 17"/>
          <p:cNvGrpSpPr/>
          <p:nvPr/>
        </p:nvGrpSpPr>
        <p:grpSpPr>
          <a:xfrm>
            <a:off x="11063370" y="4210874"/>
            <a:ext cx="2653220" cy="523875"/>
            <a:chOff x="0" y="0"/>
            <a:chExt cx="840611" cy="165978"/>
          </a:xfrm>
        </p:grpSpPr>
        <p:sp>
          <p:nvSpPr>
            <p:cNvPr id="18" name="Freeform 1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9" name="TextBox 19"/>
            <p:cNvSpPr txBox="1"/>
            <p:nvPr/>
          </p:nvSpPr>
          <p:spPr>
            <a:xfrm>
              <a:off x="0" y="-28575"/>
              <a:ext cx="840611" cy="194553"/>
            </a:xfrm>
            <a:prstGeom prst="rect">
              <a:avLst/>
            </a:prstGeom>
          </p:spPr>
          <p:txBody>
            <a:bodyPr lIns="50800" tIns="50800" rIns="50800" bIns="50800" rtlCol="0" anchor="ctr"/>
            <a:lstStyle/>
            <a:p>
              <a:pPr marL="0" lvl="0" indent="0" algn="ctr">
                <a:lnSpc>
                  <a:spcPts val="2666"/>
                </a:lnSpc>
              </a:pPr>
              <a:r>
                <a:rPr lang="en-US" sz="1904">
                  <a:solidFill>
                    <a:srgbClr val="000000"/>
                  </a:solidFill>
                  <a:latin typeface="Lora"/>
                  <a:ea typeface="Lora"/>
                  <a:cs typeface="Lora"/>
                  <a:sym typeface="Lora"/>
                </a:rPr>
                <a:t>Fleet Coverage</a:t>
              </a:r>
            </a:p>
          </p:txBody>
        </p:sp>
      </p:grpSp>
      <p:grpSp>
        <p:nvGrpSpPr>
          <p:cNvPr id="20" name="Group 20"/>
          <p:cNvGrpSpPr/>
          <p:nvPr/>
        </p:nvGrpSpPr>
        <p:grpSpPr>
          <a:xfrm>
            <a:off x="9656109" y="4579156"/>
            <a:ext cx="1636842" cy="163684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fr-MA"/>
            </a:p>
          </p:txBody>
        </p:sp>
      </p:grpSp>
      <p:grpSp>
        <p:nvGrpSpPr>
          <p:cNvPr id="22" name="Group 22"/>
          <p:cNvGrpSpPr/>
          <p:nvPr/>
        </p:nvGrpSpPr>
        <p:grpSpPr>
          <a:xfrm>
            <a:off x="11063370" y="6930374"/>
            <a:ext cx="2653220" cy="523875"/>
            <a:chOff x="0" y="0"/>
            <a:chExt cx="840611" cy="165978"/>
          </a:xfrm>
        </p:grpSpPr>
        <p:sp>
          <p:nvSpPr>
            <p:cNvPr id="23" name="Freeform 2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24" name="TextBox 24"/>
            <p:cNvSpPr txBox="1"/>
            <p:nvPr/>
          </p:nvSpPr>
          <p:spPr>
            <a:xfrm>
              <a:off x="0" y="-28575"/>
              <a:ext cx="840611" cy="194553"/>
            </a:xfrm>
            <a:prstGeom prst="rect">
              <a:avLst/>
            </a:prstGeom>
          </p:spPr>
          <p:txBody>
            <a:bodyPr lIns="50800" tIns="50800" rIns="50800" bIns="50800" rtlCol="0" anchor="ctr"/>
            <a:lstStyle/>
            <a:p>
              <a:pPr marL="0" lvl="0" indent="0" algn="ctr">
                <a:lnSpc>
                  <a:spcPts val="2666"/>
                </a:lnSpc>
              </a:pPr>
              <a:r>
                <a:rPr lang="en-US" sz="1904">
                  <a:solidFill>
                    <a:srgbClr val="000000"/>
                  </a:solidFill>
                  <a:latin typeface="Lora"/>
                  <a:ea typeface="Lora"/>
                  <a:cs typeface="Lora"/>
                  <a:sym typeface="Lora"/>
                </a:rPr>
                <a:t>Compliance Alignment</a:t>
              </a:r>
            </a:p>
          </p:txBody>
        </p:sp>
      </p:grpSp>
      <p:grpSp>
        <p:nvGrpSpPr>
          <p:cNvPr id="25" name="Group 25"/>
          <p:cNvGrpSpPr/>
          <p:nvPr/>
        </p:nvGrpSpPr>
        <p:grpSpPr>
          <a:xfrm>
            <a:off x="9656109" y="7298656"/>
            <a:ext cx="1636842" cy="163684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a:stretch>
            </a:blipFill>
          </p:spPr>
          <p:txBody>
            <a:bodyPr/>
            <a:lstStyle/>
            <a:p>
              <a:endParaRPr lang="fr-MA"/>
            </a:p>
          </p:txBody>
        </p:sp>
      </p:grpSp>
      <p:sp>
        <p:nvSpPr>
          <p:cNvPr id="27" name="TextBox 27"/>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Framework</a:t>
            </a:r>
          </a:p>
        </p:txBody>
      </p:sp>
      <p:sp>
        <p:nvSpPr>
          <p:cNvPr id="28" name="TextBox 28"/>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Device Integrity &amp; Risk Scorer</a:t>
            </a:r>
          </a:p>
        </p:txBody>
      </p:sp>
      <p:sp>
        <p:nvSpPr>
          <p:cNvPr id="29" name="TextBox 29"/>
          <p:cNvSpPr txBox="1"/>
          <p:nvPr/>
        </p:nvSpPr>
        <p:spPr>
          <a:xfrm>
            <a:off x="3379976" y="2511078"/>
            <a:ext cx="5250651" cy="1178436"/>
          </a:xfrm>
          <a:prstGeom prst="rect">
            <a:avLst/>
          </a:prstGeom>
        </p:spPr>
        <p:txBody>
          <a:bodyPr lIns="0" tIns="0" rIns="0" bIns="0" rtlCol="0" anchor="t">
            <a:spAutoFit/>
          </a:bodyPr>
          <a:lstStyle/>
          <a:p>
            <a:pPr marL="0" lvl="0" indent="0" algn="l">
              <a:lnSpc>
                <a:spcPts val="4692"/>
              </a:lnSpc>
            </a:pPr>
            <a:r>
              <a:rPr lang="en-US" sz="4080">
                <a:solidFill>
                  <a:srgbClr val="000000"/>
                </a:solidFill>
                <a:latin typeface="Libre Baskerville"/>
                <a:ea typeface="Libre Baskerville"/>
                <a:cs typeface="Libre Baskerville"/>
                <a:sym typeface="Libre Baskerville"/>
              </a:rPr>
              <a:t>Objectifs du Framework</a:t>
            </a:r>
          </a:p>
        </p:txBody>
      </p:sp>
      <p:sp>
        <p:nvSpPr>
          <p:cNvPr id="30" name="TextBox 30"/>
          <p:cNvSpPr txBox="1"/>
          <p:nvPr/>
        </p:nvSpPr>
        <p:spPr>
          <a:xfrm>
            <a:off x="3289625" y="4818998"/>
            <a:ext cx="5342267" cy="989854"/>
          </a:xfrm>
          <a:prstGeom prst="rect">
            <a:avLst/>
          </a:prstGeom>
        </p:spPr>
        <p:txBody>
          <a:bodyPr lIns="0" tIns="0" rIns="0" bIns="0" rtlCol="0" anchor="t">
            <a:spAutoFit/>
          </a:bodyPr>
          <a:lstStyle/>
          <a:p>
            <a:pPr marL="0" lvl="0" indent="0" algn="just">
              <a:lnSpc>
                <a:spcPts val="2666"/>
              </a:lnSpc>
            </a:pPr>
            <a:r>
              <a:rPr lang="en-US" sz="1904">
                <a:solidFill>
                  <a:srgbClr val="343131"/>
                </a:solidFill>
                <a:latin typeface="Glacial Indifference"/>
                <a:ea typeface="Glacial Indifference"/>
                <a:cs typeface="Glacial Indifference"/>
                <a:sym typeface="Glacial Indifference"/>
              </a:rPr>
              <a:t>Scoring précis et reproductible basé sur des métriques CVSS 3.1. Quantification objective du risque device pour une prise de décision éclairée.</a:t>
            </a:r>
          </a:p>
        </p:txBody>
      </p:sp>
      <p:sp>
        <p:nvSpPr>
          <p:cNvPr id="31" name="TextBox 31"/>
          <p:cNvSpPr txBox="1"/>
          <p:nvPr/>
        </p:nvSpPr>
        <p:spPr>
          <a:xfrm>
            <a:off x="3289625" y="7538498"/>
            <a:ext cx="5342267" cy="1323229"/>
          </a:xfrm>
          <a:prstGeom prst="rect">
            <a:avLst/>
          </a:prstGeom>
        </p:spPr>
        <p:txBody>
          <a:bodyPr lIns="0" tIns="0" rIns="0" bIns="0" rtlCol="0" anchor="t">
            <a:spAutoFit/>
          </a:bodyPr>
          <a:lstStyle/>
          <a:p>
            <a:pPr marL="0" lvl="0" indent="0" algn="just">
              <a:lnSpc>
                <a:spcPts val="2666"/>
              </a:lnSpc>
            </a:pPr>
            <a:r>
              <a:rPr lang="en-US" sz="1904">
                <a:solidFill>
                  <a:srgbClr val="343131"/>
                </a:solidFill>
                <a:latin typeface="Glacial Indifference"/>
                <a:ea typeface="Glacial Indifference"/>
                <a:cs typeface="Glacial Indifference"/>
                <a:sym typeface="Glacial Indifference"/>
              </a:rPr>
              <a:t>Filtrage intelligent des faux positifs grâce à un algorithme de pondération contextuel. Priorisation des alertes critiques pour réduire la fatigue d'alerte.</a:t>
            </a:r>
          </a:p>
        </p:txBody>
      </p:sp>
      <p:sp>
        <p:nvSpPr>
          <p:cNvPr id="32" name="TextBox 32"/>
          <p:cNvSpPr txBox="1"/>
          <p:nvPr/>
        </p:nvSpPr>
        <p:spPr>
          <a:xfrm>
            <a:off x="11476642" y="4818998"/>
            <a:ext cx="5342267" cy="1323229"/>
          </a:xfrm>
          <a:prstGeom prst="rect">
            <a:avLst/>
          </a:prstGeom>
        </p:spPr>
        <p:txBody>
          <a:bodyPr lIns="0" tIns="0" rIns="0" bIns="0" rtlCol="0" anchor="t">
            <a:spAutoFit/>
          </a:bodyPr>
          <a:lstStyle/>
          <a:p>
            <a:pPr marL="0" lvl="0" indent="0" algn="just">
              <a:lnSpc>
                <a:spcPts val="2666"/>
              </a:lnSpc>
            </a:pPr>
            <a:r>
              <a:rPr lang="en-US" sz="1904">
                <a:solidFill>
                  <a:srgbClr val="343131"/>
                </a:solidFill>
                <a:latin typeface="Glacial Indifference"/>
                <a:ea typeface="Glacial Indifference"/>
                <a:cs typeface="Glacial Indifference"/>
                <a:sym typeface="Glacial Indifference"/>
              </a:rPr>
              <a:t>Couverture exhaustive de la flotte Android avec support des 24 000+ variantes ROM. Scalabilité native pour environnements enterprise multi-devices.</a:t>
            </a:r>
          </a:p>
        </p:txBody>
      </p:sp>
      <p:sp>
        <p:nvSpPr>
          <p:cNvPr id="33" name="TextBox 33"/>
          <p:cNvSpPr txBox="1"/>
          <p:nvPr/>
        </p:nvSpPr>
        <p:spPr>
          <a:xfrm>
            <a:off x="11476642" y="7538498"/>
            <a:ext cx="5342267" cy="1323229"/>
          </a:xfrm>
          <a:prstGeom prst="rect">
            <a:avLst/>
          </a:prstGeom>
        </p:spPr>
        <p:txBody>
          <a:bodyPr lIns="0" tIns="0" rIns="0" bIns="0" rtlCol="0" anchor="t">
            <a:spAutoFit/>
          </a:bodyPr>
          <a:lstStyle/>
          <a:p>
            <a:pPr marL="0" lvl="0" indent="0" algn="just">
              <a:lnSpc>
                <a:spcPts val="2666"/>
              </a:lnSpc>
            </a:pPr>
            <a:r>
              <a:rPr lang="en-US" sz="1904">
                <a:solidFill>
                  <a:srgbClr val="343131"/>
                </a:solidFill>
                <a:latin typeface="Glacial Indifference"/>
                <a:ea typeface="Glacial Indifference"/>
                <a:cs typeface="Glacial Indifference"/>
                <a:sym typeface="Glacial Indifference"/>
              </a:rPr>
              <a:t>Alignement natif OWASP Mobile Top 10 et standards Zero-Trust. Génération automatique de rapports d'audit conformes aux exigences réglementaires.</a:t>
            </a:r>
          </a:p>
        </p:txBody>
      </p:sp>
      <p:sp>
        <p:nvSpPr>
          <p:cNvPr id="34" name="Freeform 34"/>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7"/>
            <a:stretch>
              <a:fillRect/>
            </a:stretch>
          </a:blipFill>
        </p:spPr>
        <p:txBody>
          <a:bodyPr/>
          <a:lstStyle/>
          <a:p>
            <a:endParaRPr lang="fr-MA"/>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6</a:t>
              </a:r>
            </a:p>
          </p:txBody>
        </p:sp>
      </p:grpSp>
      <p:grpSp>
        <p:nvGrpSpPr>
          <p:cNvPr id="7" name="Group 7"/>
          <p:cNvGrpSpPr/>
          <p:nvPr/>
        </p:nvGrpSpPr>
        <p:grpSpPr>
          <a:xfrm>
            <a:off x="2876353" y="4210874"/>
            <a:ext cx="2653220" cy="523875"/>
            <a:chOff x="0" y="0"/>
            <a:chExt cx="840611" cy="165978"/>
          </a:xfrm>
        </p:grpSpPr>
        <p:sp>
          <p:nvSpPr>
            <p:cNvPr id="8" name="Freeform 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9" name="TextBox 9"/>
            <p:cNvSpPr txBox="1"/>
            <p:nvPr/>
          </p:nvSpPr>
          <p:spPr>
            <a:xfrm>
              <a:off x="0" y="-28575"/>
              <a:ext cx="840611" cy="194553"/>
            </a:xfrm>
            <a:prstGeom prst="rect">
              <a:avLst/>
            </a:prstGeom>
          </p:spPr>
          <p:txBody>
            <a:bodyPr lIns="50800" tIns="50800" rIns="50800" bIns="50800" rtlCol="0" anchor="ctr"/>
            <a:lstStyle/>
            <a:p>
              <a:pPr marL="0" lvl="0" indent="0" algn="ctr">
                <a:lnSpc>
                  <a:spcPts val="2666"/>
                </a:lnSpc>
              </a:pPr>
              <a:r>
                <a:rPr lang="en-US" sz="1904">
                  <a:solidFill>
                    <a:srgbClr val="000000"/>
                  </a:solidFill>
                  <a:latin typeface="Lora"/>
                  <a:ea typeface="Lora"/>
                  <a:cs typeface="Lora"/>
                  <a:sym typeface="Lora"/>
                </a:rPr>
                <a:t>Remediation Engine</a:t>
              </a:r>
            </a:p>
          </p:txBody>
        </p:sp>
      </p:grpSp>
      <p:grpSp>
        <p:nvGrpSpPr>
          <p:cNvPr id="10" name="Group 10"/>
          <p:cNvGrpSpPr/>
          <p:nvPr/>
        </p:nvGrpSpPr>
        <p:grpSpPr>
          <a:xfrm>
            <a:off x="1469091" y="4579156"/>
            <a:ext cx="1636842" cy="163684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a:stretch>
            </a:blipFill>
          </p:spPr>
          <p:txBody>
            <a:bodyPr/>
            <a:lstStyle/>
            <a:p>
              <a:endParaRPr lang="fr-MA"/>
            </a:p>
          </p:txBody>
        </p:sp>
      </p:grpSp>
      <p:grpSp>
        <p:nvGrpSpPr>
          <p:cNvPr id="12" name="Group 12"/>
          <p:cNvGrpSpPr/>
          <p:nvPr/>
        </p:nvGrpSpPr>
        <p:grpSpPr>
          <a:xfrm>
            <a:off x="2876353" y="6930374"/>
            <a:ext cx="2653220" cy="523875"/>
            <a:chOff x="0" y="0"/>
            <a:chExt cx="840611" cy="165978"/>
          </a:xfrm>
        </p:grpSpPr>
        <p:sp>
          <p:nvSpPr>
            <p:cNvPr id="13" name="Freeform 1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4" name="TextBox 14"/>
            <p:cNvSpPr txBox="1"/>
            <p:nvPr/>
          </p:nvSpPr>
          <p:spPr>
            <a:xfrm>
              <a:off x="0" y="-28575"/>
              <a:ext cx="840611" cy="194553"/>
            </a:xfrm>
            <a:prstGeom prst="rect">
              <a:avLst/>
            </a:prstGeom>
          </p:spPr>
          <p:txBody>
            <a:bodyPr lIns="50800" tIns="50800" rIns="50800" bIns="50800" rtlCol="0" anchor="ctr"/>
            <a:lstStyle/>
            <a:p>
              <a:pPr marL="0" lvl="0" indent="0" algn="ctr">
                <a:lnSpc>
                  <a:spcPts val="2666"/>
                </a:lnSpc>
              </a:pPr>
              <a:r>
                <a:rPr lang="en-US" sz="1904">
                  <a:solidFill>
                    <a:srgbClr val="000000"/>
                  </a:solidFill>
                  <a:latin typeface="Lora"/>
                  <a:ea typeface="Lora"/>
                  <a:cs typeface="Lora"/>
                  <a:sym typeface="Lora"/>
                </a:rPr>
                <a:t>Predictive Intelligence</a:t>
              </a:r>
            </a:p>
          </p:txBody>
        </p:sp>
      </p:grpSp>
      <p:grpSp>
        <p:nvGrpSpPr>
          <p:cNvPr id="15" name="Group 15"/>
          <p:cNvGrpSpPr/>
          <p:nvPr/>
        </p:nvGrpSpPr>
        <p:grpSpPr>
          <a:xfrm>
            <a:off x="1469091" y="7298656"/>
            <a:ext cx="1636842" cy="163684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fr-MA"/>
            </a:p>
          </p:txBody>
        </p:sp>
      </p:grpSp>
      <p:grpSp>
        <p:nvGrpSpPr>
          <p:cNvPr id="17" name="Group 17"/>
          <p:cNvGrpSpPr/>
          <p:nvPr/>
        </p:nvGrpSpPr>
        <p:grpSpPr>
          <a:xfrm>
            <a:off x="11063370" y="4210874"/>
            <a:ext cx="2653220" cy="523875"/>
            <a:chOff x="0" y="0"/>
            <a:chExt cx="840611" cy="165978"/>
          </a:xfrm>
        </p:grpSpPr>
        <p:sp>
          <p:nvSpPr>
            <p:cNvPr id="18" name="Freeform 1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9" name="TextBox 19"/>
            <p:cNvSpPr txBox="1"/>
            <p:nvPr/>
          </p:nvSpPr>
          <p:spPr>
            <a:xfrm>
              <a:off x="0" y="-28575"/>
              <a:ext cx="840611" cy="194553"/>
            </a:xfrm>
            <a:prstGeom prst="rect">
              <a:avLst/>
            </a:prstGeom>
          </p:spPr>
          <p:txBody>
            <a:bodyPr lIns="50800" tIns="50800" rIns="50800" bIns="50800" rtlCol="0" anchor="ctr"/>
            <a:lstStyle/>
            <a:p>
              <a:pPr marL="0" lvl="0" indent="0" algn="ctr">
                <a:lnSpc>
                  <a:spcPts val="2666"/>
                </a:lnSpc>
              </a:pPr>
              <a:r>
                <a:rPr lang="en-US" sz="1904">
                  <a:solidFill>
                    <a:srgbClr val="000000"/>
                  </a:solidFill>
                  <a:latin typeface="Lora"/>
                  <a:ea typeface="Lora"/>
                  <a:cs typeface="Lora"/>
                  <a:sym typeface="Lora"/>
                </a:rPr>
                <a:t>Fleet Coverage</a:t>
              </a:r>
            </a:p>
          </p:txBody>
        </p:sp>
      </p:grpSp>
      <p:grpSp>
        <p:nvGrpSpPr>
          <p:cNvPr id="20" name="Group 20"/>
          <p:cNvGrpSpPr/>
          <p:nvPr/>
        </p:nvGrpSpPr>
        <p:grpSpPr>
          <a:xfrm>
            <a:off x="9656109" y="4579156"/>
            <a:ext cx="1636842" cy="163684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fr-MA"/>
            </a:p>
          </p:txBody>
        </p:sp>
      </p:grpSp>
      <p:grpSp>
        <p:nvGrpSpPr>
          <p:cNvPr id="22" name="Group 22"/>
          <p:cNvGrpSpPr/>
          <p:nvPr/>
        </p:nvGrpSpPr>
        <p:grpSpPr>
          <a:xfrm>
            <a:off x="11063370" y="6930374"/>
            <a:ext cx="2653220" cy="523875"/>
            <a:chOff x="0" y="0"/>
            <a:chExt cx="840611" cy="165978"/>
          </a:xfrm>
        </p:grpSpPr>
        <p:sp>
          <p:nvSpPr>
            <p:cNvPr id="23" name="Freeform 2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24" name="TextBox 24"/>
            <p:cNvSpPr txBox="1"/>
            <p:nvPr/>
          </p:nvSpPr>
          <p:spPr>
            <a:xfrm>
              <a:off x="0" y="-28575"/>
              <a:ext cx="840611" cy="194553"/>
            </a:xfrm>
            <a:prstGeom prst="rect">
              <a:avLst/>
            </a:prstGeom>
          </p:spPr>
          <p:txBody>
            <a:bodyPr lIns="50800" tIns="50800" rIns="50800" bIns="50800" rtlCol="0" anchor="ctr"/>
            <a:lstStyle/>
            <a:p>
              <a:pPr marL="0" lvl="0" indent="0" algn="ctr">
                <a:lnSpc>
                  <a:spcPts val="2666"/>
                </a:lnSpc>
              </a:pPr>
              <a:r>
                <a:rPr lang="en-US" sz="1904">
                  <a:solidFill>
                    <a:srgbClr val="000000"/>
                  </a:solidFill>
                  <a:latin typeface="Lora"/>
                  <a:ea typeface="Lora"/>
                  <a:cs typeface="Lora"/>
                  <a:sym typeface="Lora"/>
                </a:rPr>
                <a:t>Compliance Alignment</a:t>
              </a:r>
            </a:p>
          </p:txBody>
        </p:sp>
      </p:grpSp>
      <p:grpSp>
        <p:nvGrpSpPr>
          <p:cNvPr id="25" name="Group 25"/>
          <p:cNvGrpSpPr/>
          <p:nvPr/>
        </p:nvGrpSpPr>
        <p:grpSpPr>
          <a:xfrm>
            <a:off x="9656109" y="7298656"/>
            <a:ext cx="1636842" cy="163684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a:stretch>
            </a:blipFill>
          </p:spPr>
          <p:txBody>
            <a:bodyPr/>
            <a:lstStyle/>
            <a:p>
              <a:endParaRPr lang="fr-MA"/>
            </a:p>
          </p:txBody>
        </p:sp>
      </p:grpSp>
      <p:sp>
        <p:nvSpPr>
          <p:cNvPr id="27" name="TextBox 27"/>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Framework</a:t>
            </a:r>
          </a:p>
        </p:txBody>
      </p:sp>
      <p:sp>
        <p:nvSpPr>
          <p:cNvPr id="28" name="TextBox 28"/>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Device Integrity &amp; Risk Scorer</a:t>
            </a:r>
          </a:p>
        </p:txBody>
      </p:sp>
      <p:sp>
        <p:nvSpPr>
          <p:cNvPr id="29" name="TextBox 29"/>
          <p:cNvSpPr txBox="1"/>
          <p:nvPr/>
        </p:nvSpPr>
        <p:spPr>
          <a:xfrm>
            <a:off x="3379976" y="2511078"/>
            <a:ext cx="5250651" cy="727052"/>
          </a:xfrm>
          <a:prstGeom prst="rect">
            <a:avLst/>
          </a:prstGeom>
        </p:spPr>
        <p:txBody>
          <a:bodyPr lIns="0" tIns="0" rIns="0" bIns="0" rtlCol="0" anchor="t">
            <a:spAutoFit/>
          </a:bodyPr>
          <a:lstStyle/>
          <a:p>
            <a:pPr marL="0" lvl="0" indent="0" algn="l">
              <a:lnSpc>
                <a:spcPts val="5745"/>
              </a:lnSpc>
            </a:pPr>
            <a:r>
              <a:rPr lang="en-US" sz="4996">
                <a:solidFill>
                  <a:srgbClr val="000000"/>
                </a:solidFill>
                <a:latin typeface="Libre Baskerville"/>
                <a:ea typeface="Libre Baskerville"/>
                <a:cs typeface="Libre Baskerville"/>
                <a:sym typeface="Libre Baskerville"/>
              </a:rPr>
              <a:t>Objectifs (suite)</a:t>
            </a:r>
          </a:p>
        </p:txBody>
      </p:sp>
      <p:sp>
        <p:nvSpPr>
          <p:cNvPr id="30" name="TextBox 30"/>
          <p:cNvSpPr txBox="1"/>
          <p:nvPr/>
        </p:nvSpPr>
        <p:spPr>
          <a:xfrm>
            <a:off x="3289625" y="4818998"/>
            <a:ext cx="5342267" cy="1323229"/>
          </a:xfrm>
          <a:prstGeom prst="rect">
            <a:avLst/>
          </a:prstGeom>
        </p:spPr>
        <p:txBody>
          <a:bodyPr lIns="0" tIns="0" rIns="0" bIns="0" rtlCol="0" anchor="t">
            <a:spAutoFit/>
          </a:bodyPr>
          <a:lstStyle/>
          <a:p>
            <a:pPr marL="0" lvl="0" indent="0" algn="just">
              <a:lnSpc>
                <a:spcPts val="2666"/>
              </a:lnSpc>
            </a:pPr>
            <a:r>
              <a:rPr lang="en-US" sz="1904">
                <a:solidFill>
                  <a:srgbClr val="343131"/>
                </a:solidFill>
                <a:latin typeface="Glacial Indifference"/>
                <a:ea typeface="Glacial Indifference"/>
                <a:cs typeface="Glacial Indifference"/>
                <a:sym typeface="Glacial Indifference"/>
              </a:rPr>
              <a:t>Génération automatique de playbooks de remédiation contextualisés. Priorisation intelligente des actions correctives selon criticité et impact business.</a:t>
            </a:r>
          </a:p>
        </p:txBody>
      </p:sp>
      <p:sp>
        <p:nvSpPr>
          <p:cNvPr id="31" name="TextBox 31"/>
          <p:cNvSpPr txBox="1"/>
          <p:nvPr/>
        </p:nvSpPr>
        <p:spPr>
          <a:xfrm>
            <a:off x="3289625" y="7538498"/>
            <a:ext cx="5342267" cy="989854"/>
          </a:xfrm>
          <a:prstGeom prst="rect">
            <a:avLst/>
          </a:prstGeom>
        </p:spPr>
        <p:txBody>
          <a:bodyPr lIns="0" tIns="0" rIns="0" bIns="0" rtlCol="0" anchor="t">
            <a:spAutoFit/>
          </a:bodyPr>
          <a:lstStyle/>
          <a:p>
            <a:pPr marL="0" lvl="0" indent="0" algn="just">
              <a:lnSpc>
                <a:spcPts val="2666"/>
              </a:lnSpc>
            </a:pPr>
            <a:r>
              <a:rPr lang="en-US" sz="1904">
                <a:solidFill>
                  <a:srgbClr val="343131"/>
                </a:solidFill>
                <a:latin typeface="Glacial Indifference"/>
                <a:ea typeface="Glacial Indifference"/>
                <a:cs typeface="Glacial Indifference"/>
                <a:sym typeface="Glacial Indifference"/>
              </a:rPr>
              <a:t>Modèles ML pour anticiper les vecteurs d'attaque émergents. Scoring prédictif basé sur tendances CVE et comportements anomaliques détectés.</a:t>
            </a:r>
          </a:p>
        </p:txBody>
      </p:sp>
      <p:sp>
        <p:nvSpPr>
          <p:cNvPr id="32" name="TextBox 32"/>
          <p:cNvSpPr txBox="1"/>
          <p:nvPr/>
        </p:nvSpPr>
        <p:spPr>
          <a:xfrm>
            <a:off x="11476642" y="4818998"/>
            <a:ext cx="5342267" cy="989854"/>
          </a:xfrm>
          <a:prstGeom prst="rect">
            <a:avLst/>
          </a:prstGeom>
        </p:spPr>
        <p:txBody>
          <a:bodyPr lIns="0" tIns="0" rIns="0" bIns="0" rtlCol="0" anchor="t">
            <a:spAutoFit/>
          </a:bodyPr>
          <a:lstStyle/>
          <a:p>
            <a:pPr marL="0" lvl="0" indent="0" algn="just">
              <a:lnSpc>
                <a:spcPts val="2666"/>
              </a:lnSpc>
            </a:pPr>
            <a:r>
              <a:rPr lang="en-US" sz="1904">
                <a:solidFill>
                  <a:srgbClr val="343131"/>
                </a:solidFill>
                <a:latin typeface="Glacial Indifference"/>
                <a:ea typeface="Glacial Indifference"/>
                <a:cs typeface="Glacial Indifference"/>
                <a:sym typeface="Glacial Indifference"/>
              </a:rPr>
              <a:t>Couverture exhaustive de 24 000+ variantes ROM Android. Adaptation dynamique aux spécificités constructeurs et versions OS.</a:t>
            </a:r>
          </a:p>
        </p:txBody>
      </p:sp>
      <p:sp>
        <p:nvSpPr>
          <p:cNvPr id="33" name="TextBox 33"/>
          <p:cNvSpPr txBox="1"/>
          <p:nvPr/>
        </p:nvSpPr>
        <p:spPr>
          <a:xfrm>
            <a:off x="11476642" y="7538498"/>
            <a:ext cx="5342267" cy="989854"/>
          </a:xfrm>
          <a:prstGeom prst="rect">
            <a:avLst/>
          </a:prstGeom>
        </p:spPr>
        <p:txBody>
          <a:bodyPr lIns="0" tIns="0" rIns="0" bIns="0" rtlCol="0" anchor="t">
            <a:spAutoFit/>
          </a:bodyPr>
          <a:lstStyle/>
          <a:p>
            <a:pPr marL="0" lvl="0" indent="0" algn="just">
              <a:lnSpc>
                <a:spcPts val="2666"/>
              </a:lnSpc>
            </a:pPr>
            <a:r>
              <a:rPr lang="en-US" sz="1904">
                <a:solidFill>
                  <a:srgbClr val="343131"/>
                </a:solidFill>
                <a:latin typeface="Glacial Indifference"/>
                <a:ea typeface="Glacial Indifference"/>
                <a:cs typeface="Glacial Indifference"/>
                <a:sym typeface="Glacial Indifference"/>
              </a:rPr>
              <a:t>Alignement natif OWASP Mobile Top 10 et CVSS 3.1. Rapports de conformité automatisés pour audits réglementaires.</a:t>
            </a:r>
          </a:p>
        </p:txBody>
      </p:sp>
      <p:sp>
        <p:nvSpPr>
          <p:cNvPr id="34" name="Freeform 34"/>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7"/>
            <a:stretch>
              <a:fillRect/>
            </a:stretch>
          </a:blipFill>
        </p:spPr>
        <p:txBody>
          <a:bodyPr/>
          <a:lstStyle/>
          <a:p>
            <a:endParaRPr lang="fr-MA"/>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43131"/>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E4E2DE"/>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E4E2DE"/>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E4E2DE"/>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7</a:t>
              </a:r>
            </a:p>
          </p:txBody>
        </p:sp>
      </p:grpSp>
      <p:sp>
        <p:nvSpPr>
          <p:cNvPr id="7" name="Freeform 7"/>
          <p:cNvSpPr/>
          <p:nvPr/>
        </p:nvSpPr>
        <p:spPr>
          <a:xfrm rot="-8173503">
            <a:off x="10407523" y="6921451"/>
            <a:ext cx="582761" cy="1828269"/>
          </a:xfrm>
          <a:custGeom>
            <a:avLst/>
            <a:gdLst/>
            <a:ahLst/>
            <a:cxnLst/>
            <a:rect l="l" t="t" r="r" b="b"/>
            <a:pathLst>
              <a:path w="582761" h="1828269">
                <a:moveTo>
                  <a:pt x="0" y="0"/>
                </a:moveTo>
                <a:lnTo>
                  <a:pt x="582761" y="0"/>
                </a:lnTo>
                <a:lnTo>
                  <a:pt x="582761" y="1828269"/>
                </a:lnTo>
                <a:lnTo>
                  <a:pt x="0" y="18282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MA"/>
          </a:p>
        </p:txBody>
      </p:sp>
      <p:sp>
        <p:nvSpPr>
          <p:cNvPr id="8" name="Freeform 8"/>
          <p:cNvSpPr/>
          <p:nvPr/>
        </p:nvSpPr>
        <p:spPr>
          <a:xfrm rot="7924996" flipH="1">
            <a:off x="7301005" y="6843780"/>
            <a:ext cx="582761" cy="1828269"/>
          </a:xfrm>
          <a:custGeom>
            <a:avLst/>
            <a:gdLst/>
            <a:ahLst/>
            <a:cxnLst/>
            <a:rect l="l" t="t" r="r" b="b"/>
            <a:pathLst>
              <a:path w="582761" h="1828269">
                <a:moveTo>
                  <a:pt x="582761" y="0"/>
                </a:moveTo>
                <a:lnTo>
                  <a:pt x="0" y="0"/>
                </a:lnTo>
                <a:lnTo>
                  <a:pt x="0" y="1828270"/>
                </a:lnTo>
                <a:lnTo>
                  <a:pt x="582761" y="1828270"/>
                </a:lnTo>
                <a:lnTo>
                  <a:pt x="58276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MA"/>
          </a:p>
        </p:txBody>
      </p:sp>
      <p:sp>
        <p:nvSpPr>
          <p:cNvPr id="9" name="Freeform 9"/>
          <p:cNvSpPr/>
          <p:nvPr/>
        </p:nvSpPr>
        <p:spPr>
          <a:xfrm rot="-9717398">
            <a:off x="8821165" y="6427499"/>
            <a:ext cx="681344" cy="1899217"/>
          </a:xfrm>
          <a:custGeom>
            <a:avLst/>
            <a:gdLst/>
            <a:ahLst/>
            <a:cxnLst/>
            <a:rect l="l" t="t" r="r" b="b"/>
            <a:pathLst>
              <a:path w="681344" h="1899217">
                <a:moveTo>
                  <a:pt x="0" y="0"/>
                </a:moveTo>
                <a:lnTo>
                  <a:pt x="681345" y="0"/>
                </a:lnTo>
                <a:lnTo>
                  <a:pt x="681345" y="1899217"/>
                </a:lnTo>
                <a:lnTo>
                  <a:pt x="0" y="189921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MA"/>
          </a:p>
        </p:txBody>
      </p:sp>
      <p:grpSp>
        <p:nvGrpSpPr>
          <p:cNvPr id="10" name="Group 10"/>
          <p:cNvGrpSpPr/>
          <p:nvPr/>
        </p:nvGrpSpPr>
        <p:grpSpPr>
          <a:xfrm>
            <a:off x="7817390" y="8237222"/>
            <a:ext cx="2653220" cy="909621"/>
            <a:chOff x="0" y="0"/>
            <a:chExt cx="840611" cy="288192"/>
          </a:xfrm>
        </p:grpSpPr>
        <p:sp>
          <p:nvSpPr>
            <p:cNvPr id="11" name="Freeform 11"/>
            <p:cNvSpPr/>
            <p:nvPr/>
          </p:nvSpPr>
          <p:spPr>
            <a:xfrm>
              <a:off x="0" y="0"/>
              <a:ext cx="840611" cy="288192"/>
            </a:xfrm>
            <a:custGeom>
              <a:avLst/>
              <a:gdLst/>
              <a:ahLst/>
              <a:cxnLst/>
              <a:rect l="l" t="t" r="r" b="b"/>
              <a:pathLst>
                <a:path w="840611" h="288192">
                  <a:moveTo>
                    <a:pt x="144096" y="0"/>
                  </a:moveTo>
                  <a:lnTo>
                    <a:pt x="696515" y="0"/>
                  </a:lnTo>
                  <a:cubicBezTo>
                    <a:pt x="734731" y="0"/>
                    <a:pt x="771383" y="15181"/>
                    <a:pt x="798406" y="42205"/>
                  </a:cubicBezTo>
                  <a:cubicBezTo>
                    <a:pt x="825429" y="69228"/>
                    <a:pt x="840611" y="105879"/>
                    <a:pt x="840611" y="144096"/>
                  </a:cubicBezTo>
                  <a:lnTo>
                    <a:pt x="840611" y="144096"/>
                  </a:lnTo>
                  <a:cubicBezTo>
                    <a:pt x="840611" y="182313"/>
                    <a:pt x="825429" y="218964"/>
                    <a:pt x="798406" y="245987"/>
                  </a:cubicBezTo>
                  <a:cubicBezTo>
                    <a:pt x="771383" y="273010"/>
                    <a:pt x="734731" y="288192"/>
                    <a:pt x="696515" y="288192"/>
                  </a:cubicBezTo>
                  <a:lnTo>
                    <a:pt x="144096" y="288192"/>
                  </a:lnTo>
                  <a:cubicBezTo>
                    <a:pt x="105879" y="288192"/>
                    <a:pt x="69228" y="273010"/>
                    <a:pt x="42205" y="245987"/>
                  </a:cubicBezTo>
                  <a:cubicBezTo>
                    <a:pt x="15181" y="218964"/>
                    <a:pt x="0" y="182313"/>
                    <a:pt x="0" y="144096"/>
                  </a:cubicBezTo>
                  <a:lnTo>
                    <a:pt x="0" y="144096"/>
                  </a:lnTo>
                  <a:cubicBezTo>
                    <a:pt x="0" y="105879"/>
                    <a:pt x="15181" y="69228"/>
                    <a:pt x="42205" y="42205"/>
                  </a:cubicBezTo>
                  <a:cubicBezTo>
                    <a:pt x="69228" y="15181"/>
                    <a:pt x="105879" y="0"/>
                    <a:pt x="144096" y="0"/>
                  </a:cubicBezTo>
                  <a:close/>
                </a:path>
              </a:pathLst>
            </a:custGeom>
            <a:solidFill>
              <a:srgbClr val="343131"/>
            </a:solidFill>
            <a:ln w="9525" cap="rnd">
              <a:solidFill>
                <a:srgbClr val="E4E2DE"/>
              </a:solidFill>
              <a:prstDash val="solid"/>
              <a:round/>
            </a:ln>
          </p:spPr>
          <p:txBody>
            <a:bodyPr/>
            <a:lstStyle/>
            <a:p>
              <a:endParaRPr lang="fr-MA"/>
            </a:p>
          </p:txBody>
        </p:sp>
        <p:sp>
          <p:nvSpPr>
            <p:cNvPr id="12" name="TextBox 12"/>
            <p:cNvSpPr txBox="1"/>
            <p:nvPr/>
          </p:nvSpPr>
          <p:spPr>
            <a:xfrm>
              <a:off x="0" y="-85725"/>
              <a:ext cx="840611" cy="373917"/>
            </a:xfrm>
            <a:prstGeom prst="rect">
              <a:avLst/>
            </a:prstGeom>
          </p:spPr>
          <p:txBody>
            <a:bodyPr lIns="50800" tIns="50800" rIns="50800" bIns="50800" rtlCol="0" anchor="ctr"/>
            <a:lstStyle/>
            <a:p>
              <a:pPr marL="0" lvl="0" indent="0" algn="ctr">
                <a:lnSpc>
                  <a:spcPts val="6015"/>
                </a:lnSpc>
              </a:pPr>
              <a:r>
                <a:rPr lang="en-US" sz="4296" b="1">
                  <a:solidFill>
                    <a:srgbClr val="E4E2DE"/>
                  </a:solidFill>
                  <a:latin typeface="Lora Bold"/>
                  <a:ea typeface="Lora Bold"/>
                  <a:cs typeface="Lora Bold"/>
                  <a:sym typeface="Lora Bold"/>
                </a:rPr>
                <a:t>2024</a:t>
              </a:r>
            </a:p>
          </p:txBody>
        </p:sp>
      </p:grpSp>
      <p:grpSp>
        <p:nvGrpSpPr>
          <p:cNvPr id="13" name="Group 13"/>
          <p:cNvGrpSpPr/>
          <p:nvPr/>
        </p:nvGrpSpPr>
        <p:grpSpPr>
          <a:xfrm>
            <a:off x="1028700" y="6808491"/>
            <a:ext cx="759028" cy="568617"/>
            <a:chOff x="0" y="0"/>
            <a:chExt cx="199909" cy="149759"/>
          </a:xfrm>
        </p:grpSpPr>
        <p:sp>
          <p:nvSpPr>
            <p:cNvPr id="14" name="Freeform 14"/>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15" name="TextBox 15"/>
            <p:cNvSpPr txBox="1"/>
            <p:nvPr/>
          </p:nvSpPr>
          <p:spPr>
            <a:xfrm>
              <a:off x="0" y="-28575"/>
              <a:ext cx="199909" cy="178334"/>
            </a:xfrm>
            <a:prstGeom prst="rect">
              <a:avLst/>
            </a:prstGeom>
          </p:spPr>
          <p:txBody>
            <a:bodyPr lIns="50800" tIns="50800" rIns="50800" bIns="50800" rtlCol="0" anchor="ctr"/>
            <a:lstStyle/>
            <a:p>
              <a:pPr marL="0" lvl="0" indent="0" algn="ctr">
                <a:lnSpc>
                  <a:spcPts val="2798"/>
                </a:lnSpc>
              </a:pPr>
              <a:r>
                <a:rPr lang="en-US" sz="1998">
                  <a:solidFill>
                    <a:srgbClr val="343131"/>
                  </a:solidFill>
                  <a:latin typeface="Lora"/>
                  <a:ea typeface="Lora"/>
                  <a:cs typeface="Lora"/>
                  <a:sym typeface="Lora"/>
                </a:rPr>
                <a:t>1</a:t>
              </a:r>
            </a:p>
          </p:txBody>
        </p:sp>
      </p:grpSp>
      <p:grpSp>
        <p:nvGrpSpPr>
          <p:cNvPr id="16" name="Group 16"/>
          <p:cNvGrpSpPr/>
          <p:nvPr/>
        </p:nvGrpSpPr>
        <p:grpSpPr>
          <a:xfrm>
            <a:off x="1786265" y="4033216"/>
            <a:ext cx="759028" cy="568617"/>
            <a:chOff x="0" y="0"/>
            <a:chExt cx="199909" cy="149759"/>
          </a:xfrm>
        </p:grpSpPr>
        <p:sp>
          <p:nvSpPr>
            <p:cNvPr id="17" name="Freeform 17"/>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18" name="TextBox 18"/>
            <p:cNvSpPr txBox="1"/>
            <p:nvPr/>
          </p:nvSpPr>
          <p:spPr>
            <a:xfrm>
              <a:off x="0" y="-28575"/>
              <a:ext cx="199909" cy="178334"/>
            </a:xfrm>
            <a:prstGeom prst="rect">
              <a:avLst/>
            </a:prstGeom>
          </p:spPr>
          <p:txBody>
            <a:bodyPr lIns="50800" tIns="50800" rIns="50800" bIns="50800" rtlCol="0" anchor="ctr"/>
            <a:lstStyle/>
            <a:p>
              <a:pPr marL="0" lvl="0" indent="0" algn="ctr">
                <a:lnSpc>
                  <a:spcPts val="2798"/>
                </a:lnSpc>
              </a:pPr>
              <a:r>
                <a:rPr lang="en-US" sz="1998">
                  <a:solidFill>
                    <a:srgbClr val="343131"/>
                  </a:solidFill>
                  <a:latin typeface="Lora"/>
                  <a:ea typeface="Lora"/>
                  <a:cs typeface="Lora"/>
                  <a:sym typeface="Lora"/>
                </a:rPr>
                <a:t>2</a:t>
              </a:r>
            </a:p>
          </p:txBody>
        </p:sp>
      </p:grpSp>
      <p:grpSp>
        <p:nvGrpSpPr>
          <p:cNvPr id="19" name="Group 19"/>
          <p:cNvGrpSpPr/>
          <p:nvPr/>
        </p:nvGrpSpPr>
        <p:grpSpPr>
          <a:xfrm>
            <a:off x="6883259" y="4033216"/>
            <a:ext cx="759028" cy="568617"/>
            <a:chOff x="0" y="0"/>
            <a:chExt cx="199909" cy="149759"/>
          </a:xfrm>
        </p:grpSpPr>
        <p:sp>
          <p:nvSpPr>
            <p:cNvPr id="20" name="Freeform 20"/>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1" name="TextBox 21"/>
            <p:cNvSpPr txBox="1"/>
            <p:nvPr/>
          </p:nvSpPr>
          <p:spPr>
            <a:xfrm>
              <a:off x="0" y="-28575"/>
              <a:ext cx="199909" cy="178334"/>
            </a:xfrm>
            <a:prstGeom prst="rect">
              <a:avLst/>
            </a:prstGeom>
          </p:spPr>
          <p:txBody>
            <a:bodyPr lIns="50800" tIns="50800" rIns="50800" bIns="50800" rtlCol="0" anchor="ctr"/>
            <a:lstStyle/>
            <a:p>
              <a:pPr marL="0" lvl="0" indent="0" algn="ctr">
                <a:lnSpc>
                  <a:spcPts val="2798"/>
                </a:lnSpc>
              </a:pPr>
              <a:r>
                <a:rPr lang="en-US" sz="1998">
                  <a:solidFill>
                    <a:srgbClr val="343131"/>
                  </a:solidFill>
                  <a:latin typeface="Lora"/>
                  <a:ea typeface="Lora"/>
                  <a:cs typeface="Lora"/>
                  <a:sym typeface="Lora"/>
                </a:rPr>
                <a:t>3</a:t>
              </a:r>
            </a:p>
          </p:txBody>
        </p:sp>
      </p:grpSp>
      <p:grpSp>
        <p:nvGrpSpPr>
          <p:cNvPr id="22" name="Group 22"/>
          <p:cNvGrpSpPr/>
          <p:nvPr/>
        </p:nvGrpSpPr>
        <p:grpSpPr>
          <a:xfrm>
            <a:off x="11969112" y="4033216"/>
            <a:ext cx="759028" cy="568617"/>
            <a:chOff x="0" y="0"/>
            <a:chExt cx="199909" cy="149759"/>
          </a:xfrm>
        </p:grpSpPr>
        <p:sp>
          <p:nvSpPr>
            <p:cNvPr id="23" name="Freeform 23"/>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4" name="TextBox 24"/>
            <p:cNvSpPr txBox="1"/>
            <p:nvPr/>
          </p:nvSpPr>
          <p:spPr>
            <a:xfrm>
              <a:off x="0" y="-28575"/>
              <a:ext cx="199909" cy="178334"/>
            </a:xfrm>
            <a:prstGeom prst="rect">
              <a:avLst/>
            </a:prstGeom>
          </p:spPr>
          <p:txBody>
            <a:bodyPr lIns="50800" tIns="50800" rIns="50800" bIns="50800" rtlCol="0" anchor="ctr"/>
            <a:lstStyle/>
            <a:p>
              <a:pPr marL="0" lvl="0" indent="0" algn="ctr">
                <a:lnSpc>
                  <a:spcPts val="2798"/>
                </a:lnSpc>
              </a:pPr>
              <a:r>
                <a:rPr lang="en-US" sz="1998">
                  <a:solidFill>
                    <a:srgbClr val="343131"/>
                  </a:solidFill>
                  <a:latin typeface="Lora"/>
                  <a:ea typeface="Lora"/>
                  <a:cs typeface="Lora"/>
                  <a:sym typeface="Lora"/>
                </a:rPr>
                <a:t>4</a:t>
              </a:r>
            </a:p>
          </p:txBody>
        </p:sp>
      </p:grpSp>
      <p:grpSp>
        <p:nvGrpSpPr>
          <p:cNvPr id="25" name="Group 25"/>
          <p:cNvGrpSpPr/>
          <p:nvPr/>
        </p:nvGrpSpPr>
        <p:grpSpPr>
          <a:xfrm>
            <a:off x="11969112" y="6808491"/>
            <a:ext cx="759028" cy="568617"/>
            <a:chOff x="0" y="0"/>
            <a:chExt cx="199909" cy="149759"/>
          </a:xfrm>
        </p:grpSpPr>
        <p:sp>
          <p:nvSpPr>
            <p:cNvPr id="26" name="Freeform 26"/>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7" name="TextBox 27"/>
            <p:cNvSpPr txBox="1"/>
            <p:nvPr/>
          </p:nvSpPr>
          <p:spPr>
            <a:xfrm>
              <a:off x="0" y="-28575"/>
              <a:ext cx="199909" cy="178334"/>
            </a:xfrm>
            <a:prstGeom prst="rect">
              <a:avLst/>
            </a:prstGeom>
          </p:spPr>
          <p:txBody>
            <a:bodyPr lIns="50800" tIns="50800" rIns="50800" bIns="50800" rtlCol="0" anchor="ctr"/>
            <a:lstStyle/>
            <a:p>
              <a:pPr marL="0" lvl="0" indent="0" algn="ctr">
                <a:lnSpc>
                  <a:spcPts val="2798"/>
                </a:lnSpc>
              </a:pPr>
              <a:r>
                <a:rPr lang="en-US" sz="1998">
                  <a:solidFill>
                    <a:srgbClr val="343131"/>
                  </a:solidFill>
                  <a:latin typeface="Lora"/>
                  <a:ea typeface="Lora"/>
                  <a:cs typeface="Lora"/>
                  <a:sym typeface="Lora"/>
                </a:rPr>
                <a:t>5</a:t>
              </a:r>
            </a:p>
          </p:txBody>
        </p:sp>
      </p:grpSp>
      <p:sp>
        <p:nvSpPr>
          <p:cNvPr id="28" name="TextBox 28"/>
          <p:cNvSpPr txBox="1"/>
          <p:nvPr/>
        </p:nvSpPr>
        <p:spPr>
          <a:xfrm>
            <a:off x="7832906" y="3922274"/>
            <a:ext cx="3600989" cy="1768475"/>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Logique Métier</a:t>
            </a:r>
          </a:p>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Algorithmes de scoring, calcul des pondérations et orchestration des règles de sécurité.</a:t>
            </a:r>
          </a:p>
        </p:txBody>
      </p:sp>
      <p:sp>
        <p:nvSpPr>
          <p:cNvPr id="29" name="TextBox 29"/>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E4E2DE"/>
                </a:solidFill>
                <a:latin typeface="Lora"/>
                <a:ea typeface="Lora"/>
                <a:cs typeface="Lora"/>
                <a:sym typeface="Lora"/>
              </a:rPr>
              <a:t>DIRS Framework</a:t>
            </a:r>
          </a:p>
        </p:txBody>
      </p:sp>
      <p:sp>
        <p:nvSpPr>
          <p:cNvPr id="30" name="TextBox 30"/>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E4E2DE"/>
                </a:solidFill>
                <a:latin typeface="Lora"/>
                <a:ea typeface="Lora"/>
                <a:cs typeface="Lora"/>
                <a:sym typeface="Lora"/>
              </a:rPr>
              <a:t>Architecture &amp; Ingénierie Android</a:t>
            </a:r>
          </a:p>
        </p:txBody>
      </p:sp>
      <p:sp>
        <p:nvSpPr>
          <p:cNvPr id="31" name="TextBox 31"/>
          <p:cNvSpPr txBox="1"/>
          <p:nvPr/>
        </p:nvSpPr>
        <p:spPr>
          <a:xfrm>
            <a:off x="3379976" y="2511078"/>
            <a:ext cx="7888719" cy="727052"/>
          </a:xfrm>
          <a:prstGeom prst="rect">
            <a:avLst/>
          </a:prstGeom>
        </p:spPr>
        <p:txBody>
          <a:bodyPr lIns="0" tIns="0" rIns="0" bIns="0" rtlCol="0" anchor="t">
            <a:spAutoFit/>
          </a:bodyPr>
          <a:lstStyle/>
          <a:p>
            <a:pPr marL="0" lvl="0" indent="0" algn="l">
              <a:lnSpc>
                <a:spcPts val="5745"/>
              </a:lnSpc>
            </a:pPr>
            <a:r>
              <a:rPr lang="en-US" sz="4996">
                <a:solidFill>
                  <a:srgbClr val="E4E2DE"/>
                </a:solidFill>
                <a:latin typeface="Libre Baskerville"/>
                <a:ea typeface="Libre Baskerville"/>
                <a:cs typeface="Libre Baskerville"/>
                <a:sym typeface="Libre Baskerville"/>
              </a:rPr>
              <a:t>Stack Technique DIRS</a:t>
            </a:r>
          </a:p>
        </p:txBody>
      </p:sp>
      <p:sp>
        <p:nvSpPr>
          <p:cNvPr id="32" name="TextBox 32"/>
          <p:cNvSpPr txBox="1"/>
          <p:nvPr/>
        </p:nvSpPr>
        <p:spPr>
          <a:xfrm>
            <a:off x="12930377" y="6751341"/>
            <a:ext cx="4328923" cy="1416050"/>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Build (Vite)</a:t>
            </a:r>
          </a:p>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Bundling optimisé, hot module replacement et compilation rapide pour le développement.</a:t>
            </a:r>
          </a:p>
        </p:txBody>
      </p:sp>
      <p:sp>
        <p:nvSpPr>
          <p:cNvPr id="33" name="TextBox 33"/>
          <p:cNvSpPr txBox="1"/>
          <p:nvPr/>
        </p:nvSpPr>
        <p:spPr>
          <a:xfrm>
            <a:off x="1974543" y="6751341"/>
            <a:ext cx="4328923" cy="1416050"/>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Présentation (React)</a:t>
            </a:r>
          </a:p>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Interface utilisateur réactive avec composants modulaires, rendu optimisé et gestion des événements utilisateur.</a:t>
            </a:r>
          </a:p>
        </p:txBody>
      </p:sp>
      <p:sp>
        <p:nvSpPr>
          <p:cNvPr id="34" name="TextBox 34"/>
          <p:cNvSpPr txBox="1"/>
          <p:nvPr/>
        </p:nvSpPr>
        <p:spPr>
          <a:xfrm>
            <a:off x="2764390" y="3976066"/>
            <a:ext cx="3600989" cy="1768475"/>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Gestion d'État</a:t>
            </a:r>
          </a:p>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Store centralisé avec reducers immutables, synchronisation LocalStorage et réactivité temps réel.</a:t>
            </a:r>
          </a:p>
        </p:txBody>
      </p:sp>
      <p:sp>
        <p:nvSpPr>
          <p:cNvPr id="35" name="TextBox 35"/>
          <p:cNvSpPr txBox="1"/>
          <p:nvPr/>
        </p:nvSpPr>
        <p:spPr>
          <a:xfrm>
            <a:off x="12900745" y="3922274"/>
            <a:ext cx="3600989" cy="1416050"/>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Contrat TypeScript</a:t>
            </a:r>
          </a:p>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Typage strict, interfaces définies et validation Zod pour garantir l'intégrité des données.</a:t>
            </a:r>
          </a:p>
        </p:txBody>
      </p:sp>
      <p:sp>
        <p:nvSpPr>
          <p:cNvPr id="36" name="Freeform 36"/>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5"/>
            <a:stretch>
              <a:fillRect/>
            </a:stretch>
          </a:blipFill>
        </p:spPr>
        <p:txBody>
          <a:bodyPr/>
          <a:lstStyle/>
          <a:p>
            <a:endParaRPr lang="fr-MA"/>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43131"/>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E4E2DE"/>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E4E2DE"/>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E4E2DE"/>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8</a:t>
              </a:r>
            </a:p>
          </p:txBody>
        </p:sp>
      </p:grpSp>
      <p:sp>
        <p:nvSpPr>
          <p:cNvPr id="7" name="TextBox 7"/>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E4E2DE"/>
                </a:solidFill>
                <a:latin typeface="Lora"/>
                <a:ea typeface="Lora"/>
                <a:cs typeface="Lora"/>
                <a:sym typeface="Lora"/>
              </a:rPr>
              <a:t>DIRS Framework</a:t>
            </a:r>
          </a:p>
        </p:txBody>
      </p:sp>
      <p:sp>
        <p:nvSpPr>
          <p:cNvPr id="8" name="TextBox 8"/>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E4E2DE"/>
                </a:solidFill>
                <a:latin typeface="Lora"/>
                <a:ea typeface="Lora"/>
                <a:cs typeface="Lora"/>
                <a:sym typeface="Lora"/>
              </a:rPr>
              <a:t>Architecture Technique</a:t>
            </a:r>
          </a:p>
        </p:txBody>
      </p:sp>
      <p:sp>
        <p:nvSpPr>
          <p:cNvPr id="9" name="TextBox 9"/>
          <p:cNvSpPr txBox="1"/>
          <p:nvPr/>
        </p:nvSpPr>
        <p:spPr>
          <a:xfrm>
            <a:off x="3379976" y="2501553"/>
            <a:ext cx="5250651" cy="587553"/>
          </a:xfrm>
          <a:prstGeom prst="rect">
            <a:avLst/>
          </a:prstGeom>
        </p:spPr>
        <p:txBody>
          <a:bodyPr lIns="0" tIns="0" rIns="0" bIns="0" rtlCol="0" anchor="t">
            <a:spAutoFit/>
          </a:bodyPr>
          <a:lstStyle/>
          <a:p>
            <a:pPr marL="0" lvl="0" indent="0" algn="l">
              <a:lnSpc>
                <a:spcPts val="4632"/>
              </a:lnSpc>
            </a:pPr>
            <a:r>
              <a:rPr lang="en-US" sz="4028">
                <a:solidFill>
                  <a:srgbClr val="E4E2DE"/>
                </a:solidFill>
                <a:latin typeface="Libre Baskerville"/>
                <a:ea typeface="Libre Baskerville"/>
                <a:cs typeface="Libre Baskerville"/>
                <a:sym typeface="Libre Baskerville"/>
              </a:rPr>
              <a:t>Design Pattern SOC</a:t>
            </a:r>
          </a:p>
        </p:txBody>
      </p:sp>
      <p:grpSp>
        <p:nvGrpSpPr>
          <p:cNvPr id="10" name="Group 10"/>
          <p:cNvGrpSpPr/>
          <p:nvPr/>
        </p:nvGrpSpPr>
        <p:grpSpPr>
          <a:xfrm>
            <a:off x="1352539" y="3982274"/>
            <a:ext cx="5188685" cy="5052338"/>
            <a:chOff x="0" y="0"/>
            <a:chExt cx="1366567" cy="1330657"/>
          </a:xfrm>
        </p:grpSpPr>
        <p:sp>
          <p:nvSpPr>
            <p:cNvPr id="11" name="Freeform 11"/>
            <p:cNvSpPr/>
            <p:nvPr/>
          </p:nvSpPr>
          <p:spPr>
            <a:xfrm>
              <a:off x="0" y="0"/>
              <a:ext cx="1366567" cy="1330657"/>
            </a:xfrm>
            <a:custGeom>
              <a:avLst/>
              <a:gdLst/>
              <a:ahLst/>
              <a:cxnLst/>
              <a:rect l="l" t="t" r="r" b="b"/>
              <a:pathLst>
                <a:path w="1366567" h="1330657">
                  <a:moveTo>
                    <a:pt x="0" y="0"/>
                  </a:moveTo>
                  <a:lnTo>
                    <a:pt x="1366567" y="0"/>
                  </a:lnTo>
                  <a:lnTo>
                    <a:pt x="1366567" y="1330657"/>
                  </a:lnTo>
                  <a:lnTo>
                    <a:pt x="0" y="1330657"/>
                  </a:lnTo>
                  <a:close/>
                </a:path>
              </a:pathLst>
            </a:custGeom>
            <a:ln w="9525" cap="sq">
              <a:solidFill>
                <a:srgbClr val="E4E2DE"/>
              </a:solidFill>
              <a:prstDash val="solid"/>
              <a:miter/>
            </a:ln>
          </p:spPr>
          <p:txBody>
            <a:bodyPr/>
            <a:lstStyle/>
            <a:p>
              <a:endParaRPr lang="fr-MA"/>
            </a:p>
          </p:txBody>
        </p:sp>
        <p:sp>
          <p:nvSpPr>
            <p:cNvPr id="12" name="TextBox 12"/>
            <p:cNvSpPr txBox="1"/>
            <p:nvPr/>
          </p:nvSpPr>
          <p:spPr>
            <a:xfrm>
              <a:off x="0" y="-38100"/>
              <a:ext cx="1366567" cy="1368757"/>
            </a:xfrm>
            <a:prstGeom prst="rect">
              <a:avLst/>
            </a:prstGeom>
          </p:spPr>
          <p:txBody>
            <a:bodyPr lIns="50800" tIns="50800" rIns="50800" bIns="50800" rtlCol="0" anchor="ctr"/>
            <a:lstStyle/>
            <a:p>
              <a:pPr marL="0" lvl="0" indent="0" algn="ctr">
                <a:lnSpc>
                  <a:spcPts val="3499"/>
                </a:lnSpc>
              </a:pPr>
              <a:endParaRPr/>
            </a:p>
          </p:txBody>
        </p:sp>
      </p:grpSp>
      <p:grpSp>
        <p:nvGrpSpPr>
          <p:cNvPr id="13" name="Group 13"/>
          <p:cNvGrpSpPr/>
          <p:nvPr/>
        </p:nvGrpSpPr>
        <p:grpSpPr>
          <a:xfrm>
            <a:off x="1352539" y="3982274"/>
            <a:ext cx="5188685" cy="986818"/>
            <a:chOff x="0" y="0"/>
            <a:chExt cx="1366567" cy="259903"/>
          </a:xfrm>
        </p:grpSpPr>
        <p:sp>
          <p:nvSpPr>
            <p:cNvPr id="14" name="Freeform 14"/>
            <p:cNvSpPr/>
            <p:nvPr/>
          </p:nvSpPr>
          <p:spPr>
            <a:xfrm>
              <a:off x="0" y="0"/>
              <a:ext cx="1366567" cy="259903"/>
            </a:xfrm>
            <a:custGeom>
              <a:avLst/>
              <a:gdLst/>
              <a:ahLst/>
              <a:cxnLst/>
              <a:rect l="l" t="t" r="r" b="b"/>
              <a:pathLst>
                <a:path w="1366567" h="259903">
                  <a:moveTo>
                    <a:pt x="0" y="0"/>
                  </a:moveTo>
                  <a:lnTo>
                    <a:pt x="1366567" y="0"/>
                  </a:lnTo>
                  <a:lnTo>
                    <a:pt x="1366567" y="259903"/>
                  </a:lnTo>
                  <a:lnTo>
                    <a:pt x="0" y="259903"/>
                  </a:lnTo>
                  <a:close/>
                </a:path>
              </a:pathLst>
            </a:custGeom>
            <a:solidFill>
              <a:srgbClr val="E4E2DE"/>
            </a:solidFill>
            <a:ln w="9525" cap="sq">
              <a:solidFill>
                <a:srgbClr val="343131"/>
              </a:solidFill>
              <a:prstDash val="solid"/>
              <a:miter/>
            </a:ln>
          </p:spPr>
          <p:txBody>
            <a:bodyPr/>
            <a:lstStyle/>
            <a:p>
              <a:endParaRPr lang="fr-MA"/>
            </a:p>
          </p:txBody>
        </p:sp>
        <p:sp>
          <p:nvSpPr>
            <p:cNvPr id="15" name="TextBox 15"/>
            <p:cNvSpPr txBox="1"/>
            <p:nvPr/>
          </p:nvSpPr>
          <p:spPr>
            <a:xfrm>
              <a:off x="0" y="-38100"/>
              <a:ext cx="1366567" cy="298003"/>
            </a:xfrm>
            <a:prstGeom prst="rect">
              <a:avLst/>
            </a:prstGeom>
          </p:spPr>
          <p:txBody>
            <a:bodyPr lIns="50800" tIns="50800" rIns="50800" bIns="50800" rtlCol="0" anchor="ctr"/>
            <a:lstStyle/>
            <a:p>
              <a:pPr marL="0" lvl="0" indent="0" algn="ctr">
                <a:lnSpc>
                  <a:spcPts val="3220"/>
                </a:lnSpc>
              </a:pPr>
              <a:endParaRPr/>
            </a:p>
          </p:txBody>
        </p:sp>
      </p:grpSp>
      <p:sp>
        <p:nvSpPr>
          <p:cNvPr id="16" name="TextBox 16"/>
          <p:cNvSpPr txBox="1"/>
          <p:nvPr/>
        </p:nvSpPr>
        <p:spPr>
          <a:xfrm>
            <a:off x="1600066" y="4206442"/>
            <a:ext cx="4693632" cy="481381"/>
          </a:xfrm>
          <a:prstGeom prst="rect">
            <a:avLst/>
          </a:prstGeom>
        </p:spPr>
        <p:txBody>
          <a:bodyPr lIns="0" tIns="0" rIns="0" bIns="0" rtlCol="0" anchor="t">
            <a:spAutoFit/>
          </a:bodyPr>
          <a:lstStyle/>
          <a:p>
            <a:pPr marL="0" lvl="0" indent="0" algn="ctr">
              <a:lnSpc>
                <a:spcPts val="3917"/>
              </a:lnSpc>
            </a:pPr>
            <a:r>
              <a:rPr lang="en-US" sz="2797">
                <a:solidFill>
                  <a:srgbClr val="343131"/>
                </a:solidFill>
                <a:latin typeface="Lora"/>
                <a:ea typeface="Lora"/>
                <a:cs typeface="Lora"/>
                <a:sym typeface="Lora"/>
              </a:rPr>
              <a:t>UI Layer</a:t>
            </a:r>
          </a:p>
        </p:txBody>
      </p:sp>
      <p:grpSp>
        <p:nvGrpSpPr>
          <p:cNvPr id="17" name="Group 17"/>
          <p:cNvGrpSpPr/>
          <p:nvPr/>
        </p:nvGrpSpPr>
        <p:grpSpPr>
          <a:xfrm>
            <a:off x="6541224" y="3982274"/>
            <a:ext cx="5188685" cy="5052338"/>
            <a:chOff x="0" y="0"/>
            <a:chExt cx="1366567" cy="1330657"/>
          </a:xfrm>
        </p:grpSpPr>
        <p:sp>
          <p:nvSpPr>
            <p:cNvPr id="18" name="Freeform 18"/>
            <p:cNvSpPr/>
            <p:nvPr/>
          </p:nvSpPr>
          <p:spPr>
            <a:xfrm>
              <a:off x="0" y="0"/>
              <a:ext cx="1366567" cy="1330657"/>
            </a:xfrm>
            <a:custGeom>
              <a:avLst/>
              <a:gdLst/>
              <a:ahLst/>
              <a:cxnLst/>
              <a:rect l="l" t="t" r="r" b="b"/>
              <a:pathLst>
                <a:path w="1366567" h="1330657">
                  <a:moveTo>
                    <a:pt x="0" y="0"/>
                  </a:moveTo>
                  <a:lnTo>
                    <a:pt x="1366567" y="0"/>
                  </a:lnTo>
                  <a:lnTo>
                    <a:pt x="1366567" y="1330657"/>
                  </a:lnTo>
                  <a:lnTo>
                    <a:pt x="0" y="1330657"/>
                  </a:lnTo>
                  <a:close/>
                </a:path>
              </a:pathLst>
            </a:custGeom>
            <a:ln w="9525" cap="sq">
              <a:solidFill>
                <a:srgbClr val="E4E2DE"/>
              </a:solidFill>
              <a:prstDash val="solid"/>
              <a:miter/>
            </a:ln>
          </p:spPr>
          <p:txBody>
            <a:bodyPr/>
            <a:lstStyle/>
            <a:p>
              <a:endParaRPr lang="fr-MA"/>
            </a:p>
          </p:txBody>
        </p:sp>
        <p:sp>
          <p:nvSpPr>
            <p:cNvPr id="19" name="TextBox 19"/>
            <p:cNvSpPr txBox="1"/>
            <p:nvPr/>
          </p:nvSpPr>
          <p:spPr>
            <a:xfrm>
              <a:off x="0" y="-38100"/>
              <a:ext cx="1366567" cy="1368757"/>
            </a:xfrm>
            <a:prstGeom prst="rect">
              <a:avLst/>
            </a:prstGeom>
          </p:spPr>
          <p:txBody>
            <a:bodyPr lIns="50800" tIns="50800" rIns="50800" bIns="50800" rtlCol="0" anchor="ctr"/>
            <a:lstStyle/>
            <a:p>
              <a:pPr marL="0" lvl="0" indent="0" algn="ctr">
                <a:lnSpc>
                  <a:spcPts val="3499"/>
                </a:lnSpc>
              </a:pPr>
              <a:endParaRPr/>
            </a:p>
          </p:txBody>
        </p:sp>
      </p:grpSp>
      <p:grpSp>
        <p:nvGrpSpPr>
          <p:cNvPr id="20" name="Group 20"/>
          <p:cNvGrpSpPr/>
          <p:nvPr/>
        </p:nvGrpSpPr>
        <p:grpSpPr>
          <a:xfrm>
            <a:off x="11729909" y="3982274"/>
            <a:ext cx="5188685" cy="5052338"/>
            <a:chOff x="0" y="0"/>
            <a:chExt cx="1366567" cy="1330657"/>
          </a:xfrm>
        </p:grpSpPr>
        <p:sp>
          <p:nvSpPr>
            <p:cNvPr id="21" name="Freeform 21"/>
            <p:cNvSpPr/>
            <p:nvPr/>
          </p:nvSpPr>
          <p:spPr>
            <a:xfrm>
              <a:off x="0" y="0"/>
              <a:ext cx="1366567" cy="1330657"/>
            </a:xfrm>
            <a:custGeom>
              <a:avLst/>
              <a:gdLst/>
              <a:ahLst/>
              <a:cxnLst/>
              <a:rect l="l" t="t" r="r" b="b"/>
              <a:pathLst>
                <a:path w="1366567" h="1330657">
                  <a:moveTo>
                    <a:pt x="0" y="0"/>
                  </a:moveTo>
                  <a:lnTo>
                    <a:pt x="1366567" y="0"/>
                  </a:lnTo>
                  <a:lnTo>
                    <a:pt x="1366567" y="1330657"/>
                  </a:lnTo>
                  <a:lnTo>
                    <a:pt x="0" y="1330657"/>
                  </a:lnTo>
                  <a:close/>
                </a:path>
              </a:pathLst>
            </a:custGeom>
            <a:ln w="9525" cap="sq">
              <a:solidFill>
                <a:srgbClr val="E4E2DE"/>
              </a:solidFill>
              <a:prstDash val="solid"/>
              <a:miter/>
            </a:ln>
          </p:spPr>
          <p:txBody>
            <a:bodyPr/>
            <a:lstStyle/>
            <a:p>
              <a:endParaRPr lang="fr-MA"/>
            </a:p>
          </p:txBody>
        </p:sp>
        <p:sp>
          <p:nvSpPr>
            <p:cNvPr id="22" name="TextBox 22"/>
            <p:cNvSpPr txBox="1"/>
            <p:nvPr/>
          </p:nvSpPr>
          <p:spPr>
            <a:xfrm>
              <a:off x="0" y="-38100"/>
              <a:ext cx="1366567" cy="1368757"/>
            </a:xfrm>
            <a:prstGeom prst="rect">
              <a:avLst/>
            </a:prstGeom>
          </p:spPr>
          <p:txBody>
            <a:bodyPr lIns="50800" tIns="50800" rIns="50800" bIns="50800" rtlCol="0" anchor="ctr"/>
            <a:lstStyle/>
            <a:p>
              <a:pPr marL="0" lvl="0" indent="0" algn="ctr">
                <a:lnSpc>
                  <a:spcPts val="3499"/>
                </a:lnSpc>
              </a:pPr>
              <a:endParaRPr/>
            </a:p>
          </p:txBody>
        </p:sp>
      </p:grpSp>
      <p:grpSp>
        <p:nvGrpSpPr>
          <p:cNvPr id="23" name="Group 23"/>
          <p:cNvGrpSpPr/>
          <p:nvPr/>
        </p:nvGrpSpPr>
        <p:grpSpPr>
          <a:xfrm>
            <a:off x="6541224" y="3982274"/>
            <a:ext cx="5188685" cy="986818"/>
            <a:chOff x="0" y="0"/>
            <a:chExt cx="1366567" cy="259903"/>
          </a:xfrm>
        </p:grpSpPr>
        <p:sp>
          <p:nvSpPr>
            <p:cNvPr id="24" name="Freeform 24"/>
            <p:cNvSpPr/>
            <p:nvPr/>
          </p:nvSpPr>
          <p:spPr>
            <a:xfrm>
              <a:off x="0" y="0"/>
              <a:ext cx="1366567" cy="259903"/>
            </a:xfrm>
            <a:custGeom>
              <a:avLst/>
              <a:gdLst/>
              <a:ahLst/>
              <a:cxnLst/>
              <a:rect l="l" t="t" r="r" b="b"/>
              <a:pathLst>
                <a:path w="1366567" h="259903">
                  <a:moveTo>
                    <a:pt x="0" y="0"/>
                  </a:moveTo>
                  <a:lnTo>
                    <a:pt x="1366567" y="0"/>
                  </a:lnTo>
                  <a:lnTo>
                    <a:pt x="1366567" y="259903"/>
                  </a:lnTo>
                  <a:lnTo>
                    <a:pt x="0" y="259903"/>
                  </a:lnTo>
                  <a:close/>
                </a:path>
              </a:pathLst>
            </a:custGeom>
            <a:solidFill>
              <a:srgbClr val="E4E2DE"/>
            </a:solidFill>
            <a:ln w="9525" cap="sq">
              <a:solidFill>
                <a:srgbClr val="343131"/>
              </a:solidFill>
              <a:prstDash val="solid"/>
              <a:miter/>
            </a:ln>
          </p:spPr>
          <p:txBody>
            <a:bodyPr/>
            <a:lstStyle/>
            <a:p>
              <a:endParaRPr lang="fr-MA"/>
            </a:p>
          </p:txBody>
        </p:sp>
        <p:sp>
          <p:nvSpPr>
            <p:cNvPr id="25" name="TextBox 25"/>
            <p:cNvSpPr txBox="1"/>
            <p:nvPr/>
          </p:nvSpPr>
          <p:spPr>
            <a:xfrm>
              <a:off x="0" y="-38100"/>
              <a:ext cx="1366567" cy="298003"/>
            </a:xfrm>
            <a:prstGeom prst="rect">
              <a:avLst/>
            </a:prstGeom>
          </p:spPr>
          <p:txBody>
            <a:bodyPr lIns="50800" tIns="50800" rIns="50800" bIns="50800" rtlCol="0" anchor="ctr"/>
            <a:lstStyle/>
            <a:p>
              <a:pPr marL="0" lvl="0" indent="0" algn="ctr">
                <a:lnSpc>
                  <a:spcPts val="3220"/>
                </a:lnSpc>
              </a:pPr>
              <a:endParaRPr/>
            </a:p>
          </p:txBody>
        </p:sp>
      </p:grpSp>
      <p:sp>
        <p:nvSpPr>
          <p:cNvPr id="26" name="TextBox 26"/>
          <p:cNvSpPr txBox="1"/>
          <p:nvPr/>
        </p:nvSpPr>
        <p:spPr>
          <a:xfrm>
            <a:off x="6788751" y="4206442"/>
            <a:ext cx="4693632" cy="481381"/>
          </a:xfrm>
          <a:prstGeom prst="rect">
            <a:avLst/>
          </a:prstGeom>
        </p:spPr>
        <p:txBody>
          <a:bodyPr lIns="0" tIns="0" rIns="0" bIns="0" rtlCol="0" anchor="t">
            <a:spAutoFit/>
          </a:bodyPr>
          <a:lstStyle/>
          <a:p>
            <a:pPr marL="0" lvl="0" indent="0" algn="ctr">
              <a:lnSpc>
                <a:spcPts val="3917"/>
              </a:lnSpc>
            </a:pPr>
            <a:r>
              <a:rPr lang="en-US" sz="2797">
                <a:solidFill>
                  <a:srgbClr val="343131"/>
                </a:solidFill>
                <a:latin typeface="Lora"/>
                <a:ea typeface="Lora"/>
                <a:cs typeface="Lora"/>
                <a:sym typeface="Lora"/>
              </a:rPr>
              <a:t>Interface Contract</a:t>
            </a:r>
          </a:p>
        </p:txBody>
      </p:sp>
      <p:grpSp>
        <p:nvGrpSpPr>
          <p:cNvPr id="27" name="Group 27"/>
          <p:cNvGrpSpPr/>
          <p:nvPr/>
        </p:nvGrpSpPr>
        <p:grpSpPr>
          <a:xfrm>
            <a:off x="11746776" y="3982274"/>
            <a:ext cx="5188685" cy="986818"/>
            <a:chOff x="0" y="0"/>
            <a:chExt cx="1366567" cy="259903"/>
          </a:xfrm>
        </p:grpSpPr>
        <p:sp>
          <p:nvSpPr>
            <p:cNvPr id="28" name="Freeform 28"/>
            <p:cNvSpPr/>
            <p:nvPr/>
          </p:nvSpPr>
          <p:spPr>
            <a:xfrm>
              <a:off x="0" y="0"/>
              <a:ext cx="1366567" cy="259903"/>
            </a:xfrm>
            <a:custGeom>
              <a:avLst/>
              <a:gdLst/>
              <a:ahLst/>
              <a:cxnLst/>
              <a:rect l="l" t="t" r="r" b="b"/>
              <a:pathLst>
                <a:path w="1366567" h="259903">
                  <a:moveTo>
                    <a:pt x="0" y="0"/>
                  </a:moveTo>
                  <a:lnTo>
                    <a:pt x="1366567" y="0"/>
                  </a:lnTo>
                  <a:lnTo>
                    <a:pt x="1366567" y="259903"/>
                  </a:lnTo>
                  <a:lnTo>
                    <a:pt x="0" y="259903"/>
                  </a:lnTo>
                  <a:close/>
                </a:path>
              </a:pathLst>
            </a:custGeom>
            <a:solidFill>
              <a:srgbClr val="E4E2DE"/>
            </a:solidFill>
            <a:ln w="9525" cap="sq">
              <a:solidFill>
                <a:srgbClr val="343131"/>
              </a:solidFill>
              <a:prstDash val="solid"/>
              <a:miter/>
            </a:ln>
          </p:spPr>
          <p:txBody>
            <a:bodyPr/>
            <a:lstStyle/>
            <a:p>
              <a:endParaRPr lang="fr-MA"/>
            </a:p>
          </p:txBody>
        </p:sp>
        <p:sp>
          <p:nvSpPr>
            <p:cNvPr id="29" name="TextBox 29"/>
            <p:cNvSpPr txBox="1"/>
            <p:nvPr/>
          </p:nvSpPr>
          <p:spPr>
            <a:xfrm>
              <a:off x="0" y="-38100"/>
              <a:ext cx="1366567" cy="298003"/>
            </a:xfrm>
            <a:prstGeom prst="rect">
              <a:avLst/>
            </a:prstGeom>
          </p:spPr>
          <p:txBody>
            <a:bodyPr lIns="50800" tIns="50800" rIns="50800" bIns="50800" rtlCol="0" anchor="ctr"/>
            <a:lstStyle/>
            <a:p>
              <a:pPr marL="0" lvl="0" indent="0" algn="ctr">
                <a:lnSpc>
                  <a:spcPts val="3220"/>
                </a:lnSpc>
              </a:pPr>
              <a:endParaRPr/>
            </a:p>
          </p:txBody>
        </p:sp>
      </p:grpSp>
      <p:sp>
        <p:nvSpPr>
          <p:cNvPr id="30" name="TextBox 30"/>
          <p:cNvSpPr txBox="1"/>
          <p:nvPr/>
        </p:nvSpPr>
        <p:spPr>
          <a:xfrm>
            <a:off x="11994302" y="4206442"/>
            <a:ext cx="4693632" cy="481381"/>
          </a:xfrm>
          <a:prstGeom prst="rect">
            <a:avLst/>
          </a:prstGeom>
        </p:spPr>
        <p:txBody>
          <a:bodyPr lIns="0" tIns="0" rIns="0" bIns="0" rtlCol="0" anchor="t">
            <a:spAutoFit/>
          </a:bodyPr>
          <a:lstStyle/>
          <a:p>
            <a:pPr marL="0" lvl="0" indent="0" algn="ctr">
              <a:lnSpc>
                <a:spcPts val="3917"/>
              </a:lnSpc>
            </a:pPr>
            <a:r>
              <a:rPr lang="en-US" sz="2797">
                <a:solidFill>
                  <a:srgbClr val="343131"/>
                </a:solidFill>
                <a:latin typeface="Lora"/>
                <a:ea typeface="Lora"/>
                <a:cs typeface="Lora"/>
                <a:sym typeface="Lora"/>
              </a:rPr>
              <a:t>Engine Layer</a:t>
            </a:r>
          </a:p>
        </p:txBody>
      </p:sp>
      <p:sp>
        <p:nvSpPr>
          <p:cNvPr id="31" name="TextBox 31"/>
          <p:cNvSpPr txBox="1"/>
          <p:nvPr/>
        </p:nvSpPr>
        <p:spPr>
          <a:xfrm>
            <a:off x="1782420" y="5434023"/>
            <a:ext cx="4328923" cy="2966122"/>
          </a:xfrm>
          <a:prstGeom prst="rect">
            <a:avLst/>
          </a:prstGeom>
        </p:spPr>
        <p:txBody>
          <a:bodyPr lIns="0" tIns="0" rIns="0" bIns="0" rtlCol="0" anchor="t">
            <a:spAutoFit/>
          </a:bodyPr>
          <a:lstStyle/>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DeviceOverview.tsx</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RiskGauge.tsx</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FindingsList.tsx</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VectorChart.tsx</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AlertFeed.tsx</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Composants React responsables de la présentation et de l'interaction utilisateur.</a:t>
            </a:r>
          </a:p>
        </p:txBody>
      </p:sp>
      <p:sp>
        <p:nvSpPr>
          <p:cNvPr id="32" name="TextBox 32"/>
          <p:cNvSpPr txBox="1"/>
          <p:nvPr/>
        </p:nvSpPr>
        <p:spPr>
          <a:xfrm>
            <a:off x="6971105" y="5434023"/>
            <a:ext cx="4328923" cy="2223172"/>
          </a:xfrm>
          <a:prstGeom prst="rect">
            <a:avLst/>
          </a:prstGeom>
        </p:spPr>
        <p:txBody>
          <a:bodyPr lIns="0" tIns="0" rIns="0" bIns="0" rtlCol="0" anchor="t">
            <a:spAutoFit/>
          </a:bodyPr>
          <a:lstStyle/>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 Contrat Bidirectionnel</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Types TypeScript partagés définissant la structure des données échangées entre les couches UI et Engine.</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Garantit le découplage et la testabilité.</a:t>
            </a:r>
          </a:p>
        </p:txBody>
      </p:sp>
      <p:sp>
        <p:nvSpPr>
          <p:cNvPr id="33" name="TextBox 33"/>
          <p:cNvSpPr txBox="1"/>
          <p:nvPr/>
        </p:nvSpPr>
        <p:spPr>
          <a:xfrm>
            <a:off x="12158534" y="5434023"/>
            <a:ext cx="4328923" cy="2594647"/>
          </a:xfrm>
          <a:prstGeom prst="rect">
            <a:avLst/>
          </a:prstGeom>
        </p:spPr>
        <p:txBody>
          <a:bodyPr lIns="0" tIns="0" rIns="0" bIns="0" rtlCol="0" anchor="t">
            <a:spAutoFit/>
          </a:bodyPr>
          <a:lstStyle/>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ScoringEngine.ts</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IntegrityAnalyzer.ts</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PrivilegeScanner.ts</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NetworkAuditor.ts</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ComplianceMapper.ts</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Modules TypeScript purs encapsulant la logique métier.</a:t>
            </a:r>
          </a:p>
        </p:txBody>
      </p:sp>
      <p:sp>
        <p:nvSpPr>
          <p:cNvPr id="34" name="Freeform 34"/>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8</a:t>
              </a:r>
            </a:p>
          </p:txBody>
        </p:sp>
      </p:grpSp>
      <p:grpSp>
        <p:nvGrpSpPr>
          <p:cNvPr id="7" name="Group 7"/>
          <p:cNvGrpSpPr/>
          <p:nvPr/>
        </p:nvGrpSpPr>
        <p:grpSpPr>
          <a:xfrm>
            <a:off x="9744604" y="1586551"/>
            <a:ext cx="4780510" cy="2899540"/>
            <a:chOff x="0" y="0"/>
            <a:chExt cx="1259064" cy="763665"/>
          </a:xfrm>
        </p:grpSpPr>
        <p:sp>
          <p:nvSpPr>
            <p:cNvPr id="8" name="Freeform 8"/>
            <p:cNvSpPr/>
            <p:nvPr/>
          </p:nvSpPr>
          <p:spPr>
            <a:xfrm>
              <a:off x="0" y="0"/>
              <a:ext cx="1259064" cy="763665"/>
            </a:xfrm>
            <a:custGeom>
              <a:avLst/>
              <a:gdLst/>
              <a:ahLst/>
              <a:cxnLst/>
              <a:rect l="l" t="t" r="r" b="b"/>
              <a:pathLst>
                <a:path w="1259064" h="763665">
                  <a:moveTo>
                    <a:pt x="0" y="0"/>
                  </a:moveTo>
                  <a:lnTo>
                    <a:pt x="1259064" y="0"/>
                  </a:lnTo>
                  <a:lnTo>
                    <a:pt x="1259064" y="763665"/>
                  </a:lnTo>
                  <a:lnTo>
                    <a:pt x="0" y="763665"/>
                  </a:lnTo>
                  <a:close/>
                </a:path>
              </a:pathLst>
            </a:custGeom>
            <a:solidFill>
              <a:srgbClr val="343131"/>
            </a:solidFill>
            <a:ln w="9525" cap="sq">
              <a:solidFill>
                <a:srgbClr val="E4E2DE"/>
              </a:solidFill>
              <a:prstDash val="solid"/>
              <a:miter/>
            </a:ln>
          </p:spPr>
          <p:txBody>
            <a:bodyPr/>
            <a:lstStyle/>
            <a:p>
              <a:endParaRPr lang="fr-MA"/>
            </a:p>
          </p:txBody>
        </p:sp>
        <p:sp>
          <p:nvSpPr>
            <p:cNvPr id="9" name="TextBox 9"/>
            <p:cNvSpPr txBox="1"/>
            <p:nvPr/>
          </p:nvSpPr>
          <p:spPr>
            <a:xfrm>
              <a:off x="0" y="-38100"/>
              <a:ext cx="1259064" cy="801765"/>
            </a:xfrm>
            <a:prstGeom prst="rect">
              <a:avLst/>
            </a:prstGeom>
          </p:spPr>
          <p:txBody>
            <a:bodyPr lIns="50800" tIns="50800" rIns="50800" bIns="50800" rtlCol="0" anchor="ctr"/>
            <a:lstStyle/>
            <a:p>
              <a:pPr marL="0" lvl="0" indent="0" algn="ctr">
                <a:lnSpc>
                  <a:spcPts val="3220"/>
                </a:lnSpc>
              </a:pPr>
              <a:endParaRPr/>
            </a:p>
          </p:txBody>
        </p:sp>
      </p:grpSp>
      <p:sp>
        <p:nvSpPr>
          <p:cNvPr id="10" name="TextBox 10"/>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2024</a:t>
            </a:r>
          </a:p>
        </p:txBody>
      </p:sp>
      <p:sp>
        <p:nvSpPr>
          <p:cNvPr id="11" name="TextBox 11"/>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Device Integrity &amp; Risk Scorer</a:t>
            </a:r>
          </a:p>
        </p:txBody>
      </p:sp>
      <p:sp>
        <p:nvSpPr>
          <p:cNvPr id="12" name="TextBox 12"/>
          <p:cNvSpPr txBox="1"/>
          <p:nvPr/>
        </p:nvSpPr>
        <p:spPr>
          <a:xfrm>
            <a:off x="3379976" y="2511078"/>
            <a:ext cx="5250651" cy="727052"/>
          </a:xfrm>
          <a:prstGeom prst="rect">
            <a:avLst/>
          </a:prstGeom>
        </p:spPr>
        <p:txBody>
          <a:bodyPr lIns="0" tIns="0" rIns="0" bIns="0" rtlCol="0" anchor="t">
            <a:spAutoFit/>
          </a:bodyPr>
          <a:lstStyle/>
          <a:p>
            <a:pPr marL="0" lvl="0" indent="0" algn="l">
              <a:lnSpc>
                <a:spcPts val="5745"/>
              </a:lnSpc>
            </a:pPr>
            <a:r>
              <a:rPr lang="en-US" sz="4996">
                <a:solidFill>
                  <a:srgbClr val="000000"/>
                </a:solidFill>
                <a:latin typeface="Libre Baskerville"/>
                <a:ea typeface="Libre Baskerville"/>
                <a:cs typeface="Libre Baskerville"/>
                <a:sym typeface="Libre Baskerville"/>
              </a:rPr>
              <a:t>Gestion d'État</a:t>
            </a:r>
          </a:p>
        </p:txBody>
      </p:sp>
      <p:sp>
        <p:nvSpPr>
          <p:cNvPr id="13" name="TextBox 13"/>
          <p:cNvSpPr txBox="1"/>
          <p:nvPr/>
        </p:nvSpPr>
        <p:spPr>
          <a:xfrm>
            <a:off x="1676379" y="3944174"/>
            <a:ext cx="6546982" cy="3158577"/>
          </a:xfrm>
          <a:prstGeom prst="rect">
            <a:avLst/>
          </a:prstGeom>
        </p:spPr>
        <p:txBody>
          <a:bodyPr lIns="0" tIns="0" rIns="0" bIns="0" rtlCol="0" anchor="t">
            <a:spAutoFit/>
          </a:bodyPr>
          <a:lstStyle/>
          <a:p>
            <a:pPr marL="436461" lvl="1" indent="-218230" algn="just">
              <a:lnSpc>
                <a:spcPts val="2830"/>
              </a:lnSpc>
              <a:spcBef>
                <a:spcPct val="0"/>
              </a:spcBef>
              <a:buFont typeface="Arial"/>
              <a:buChar char="•"/>
            </a:pPr>
            <a:r>
              <a:rPr lang="en-US" sz="2021">
                <a:solidFill>
                  <a:srgbClr val="000000"/>
                </a:solidFill>
                <a:latin typeface="Lora"/>
                <a:ea typeface="Lora"/>
                <a:cs typeface="Lora"/>
                <a:sym typeface="Lora"/>
              </a:rPr>
              <a:t>Architecture réactive et immutable assurant la traçabilité et la synchronisation des états</a:t>
            </a:r>
          </a:p>
          <a:p>
            <a:pPr marL="436461" lvl="1" indent="-218230" algn="just">
              <a:lnSpc>
                <a:spcPts val="2830"/>
              </a:lnSpc>
              <a:spcBef>
                <a:spcPct val="0"/>
              </a:spcBef>
              <a:buFont typeface="Arial"/>
              <a:buChar char="•"/>
            </a:pPr>
            <a:r>
              <a:rPr lang="en-US" sz="2021">
                <a:solidFill>
                  <a:srgbClr val="000000"/>
                </a:solidFill>
                <a:latin typeface="Lora"/>
                <a:ea typeface="Lora"/>
                <a:cs typeface="Lora"/>
                <a:sym typeface="Lora"/>
              </a:rPr>
              <a:t>Store réactif (Observable) avec mise à jour automatique de l’interface en temps réel</a:t>
            </a:r>
          </a:p>
          <a:p>
            <a:pPr marL="436461" lvl="1" indent="-218230" algn="just">
              <a:lnSpc>
                <a:spcPts val="2830"/>
              </a:lnSpc>
              <a:spcBef>
                <a:spcPct val="0"/>
              </a:spcBef>
              <a:buFont typeface="Arial"/>
              <a:buChar char="•"/>
            </a:pPr>
            <a:r>
              <a:rPr lang="en-US" sz="2021">
                <a:solidFill>
                  <a:srgbClr val="000000"/>
                </a:solidFill>
                <a:latin typeface="Lora"/>
                <a:ea typeface="Lora"/>
                <a:cs typeface="Lora"/>
                <a:sym typeface="Lora"/>
              </a:rPr>
              <a:t>Reducers immutables : chaque action crée un nouvel état sans modifier l’ancien (facilite le debug)</a:t>
            </a:r>
          </a:p>
          <a:p>
            <a:pPr marL="436461" lvl="1" indent="-218230" algn="just">
              <a:lnSpc>
                <a:spcPts val="2830"/>
              </a:lnSpc>
              <a:spcBef>
                <a:spcPct val="0"/>
              </a:spcBef>
              <a:buFont typeface="Arial"/>
              <a:buChar char="•"/>
            </a:pPr>
            <a:r>
              <a:rPr lang="en-US" sz="2021">
                <a:solidFill>
                  <a:srgbClr val="000000"/>
                </a:solidFill>
                <a:latin typeface="Lora"/>
                <a:ea typeface="Lora"/>
                <a:cs typeface="Lora"/>
                <a:sym typeface="Lora"/>
              </a:rPr>
              <a:t>Synchronisation avec LocalStorage pour la persistance et la continuité des sessions</a:t>
            </a:r>
          </a:p>
          <a:p>
            <a:pPr marL="0" lvl="0" indent="0" algn="just">
              <a:lnSpc>
                <a:spcPts val="2830"/>
              </a:lnSpc>
              <a:spcBef>
                <a:spcPct val="0"/>
              </a:spcBef>
            </a:pPr>
            <a:endParaRPr lang="en-US" sz="2021">
              <a:solidFill>
                <a:srgbClr val="000000"/>
              </a:solidFill>
              <a:latin typeface="Lora"/>
              <a:ea typeface="Lora"/>
              <a:cs typeface="Lora"/>
              <a:sym typeface="Lora"/>
            </a:endParaRPr>
          </a:p>
        </p:txBody>
      </p:sp>
      <p:grpSp>
        <p:nvGrpSpPr>
          <p:cNvPr id="14" name="Group 14"/>
          <p:cNvGrpSpPr/>
          <p:nvPr/>
        </p:nvGrpSpPr>
        <p:grpSpPr>
          <a:xfrm>
            <a:off x="9744604" y="4486090"/>
            <a:ext cx="4780510" cy="2899540"/>
            <a:chOff x="0" y="0"/>
            <a:chExt cx="1259064" cy="763665"/>
          </a:xfrm>
        </p:grpSpPr>
        <p:sp>
          <p:nvSpPr>
            <p:cNvPr id="15" name="Freeform 15"/>
            <p:cNvSpPr/>
            <p:nvPr/>
          </p:nvSpPr>
          <p:spPr>
            <a:xfrm>
              <a:off x="0" y="0"/>
              <a:ext cx="1259064" cy="763665"/>
            </a:xfrm>
            <a:custGeom>
              <a:avLst/>
              <a:gdLst/>
              <a:ahLst/>
              <a:cxnLst/>
              <a:rect l="l" t="t" r="r" b="b"/>
              <a:pathLst>
                <a:path w="1259064" h="763665">
                  <a:moveTo>
                    <a:pt x="0" y="0"/>
                  </a:moveTo>
                  <a:lnTo>
                    <a:pt x="1259064" y="0"/>
                  </a:lnTo>
                  <a:lnTo>
                    <a:pt x="1259064" y="763665"/>
                  </a:lnTo>
                  <a:lnTo>
                    <a:pt x="0" y="763665"/>
                  </a:lnTo>
                  <a:close/>
                </a:path>
              </a:pathLst>
            </a:custGeom>
            <a:solidFill>
              <a:srgbClr val="343131"/>
            </a:solidFill>
            <a:ln w="9525" cap="sq">
              <a:solidFill>
                <a:srgbClr val="E4E2DE"/>
              </a:solidFill>
              <a:prstDash val="solid"/>
              <a:miter/>
            </a:ln>
          </p:spPr>
          <p:txBody>
            <a:bodyPr/>
            <a:lstStyle/>
            <a:p>
              <a:endParaRPr lang="fr-MA"/>
            </a:p>
          </p:txBody>
        </p:sp>
        <p:sp>
          <p:nvSpPr>
            <p:cNvPr id="16" name="TextBox 16"/>
            <p:cNvSpPr txBox="1"/>
            <p:nvPr/>
          </p:nvSpPr>
          <p:spPr>
            <a:xfrm>
              <a:off x="0" y="-38100"/>
              <a:ext cx="1259064" cy="801765"/>
            </a:xfrm>
            <a:prstGeom prst="rect">
              <a:avLst/>
            </a:prstGeom>
          </p:spPr>
          <p:txBody>
            <a:bodyPr lIns="50800" tIns="50800" rIns="50800" bIns="50800" rtlCol="0" anchor="ctr"/>
            <a:lstStyle/>
            <a:p>
              <a:pPr marL="0" lvl="0" indent="0" algn="ctr">
                <a:lnSpc>
                  <a:spcPts val="3220"/>
                </a:lnSpc>
              </a:pPr>
              <a:endParaRPr/>
            </a:p>
          </p:txBody>
        </p:sp>
      </p:grpSp>
      <p:grpSp>
        <p:nvGrpSpPr>
          <p:cNvPr id="17" name="Group 17"/>
          <p:cNvGrpSpPr/>
          <p:nvPr/>
        </p:nvGrpSpPr>
        <p:grpSpPr>
          <a:xfrm>
            <a:off x="9744604" y="7385630"/>
            <a:ext cx="4780510" cy="2899540"/>
            <a:chOff x="0" y="0"/>
            <a:chExt cx="1259064" cy="763665"/>
          </a:xfrm>
        </p:grpSpPr>
        <p:sp>
          <p:nvSpPr>
            <p:cNvPr id="18" name="Freeform 18"/>
            <p:cNvSpPr/>
            <p:nvPr/>
          </p:nvSpPr>
          <p:spPr>
            <a:xfrm>
              <a:off x="0" y="0"/>
              <a:ext cx="1259064" cy="763665"/>
            </a:xfrm>
            <a:custGeom>
              <a:avLst/>
              <a:gdLst/>
              <a:ahLst/>
              <a:cxnLst/>
              <a:rect l="l" t="t" r="r" b="b"/>
              <a:pathLst>
                <a:path w="1259064" h="763665">
                  <a:moveTo>
                    <a:pt x="0" y="0"/>
                  </a:moveTo>
                  <a:lnTo>
                    <a:pt x="1259064" y="0"/>
                  </a:lnTo>
                  <a:lnTo>
                    <a:pt x="1259064" y="763665"/>
                  </a:lnTo>
                  <a:lnTo>
                    <a:pt x="0" y="763665"/>
                  </a:lnTo>
                  <a:close/>
                </a:path>
              </a:pathLst>
            </a:custGeom>
            <a:solidFill>
              <a:srgbClr val="343131"/>
            </a:solidFill>
            <a:ln w="9525" cap="sq">
              <a:solidFill>
                <a:srgbClr val="E4E2DE"/>
              </a:solidFill>
              <a:prstDash val="solid"/>
              <a:miter/>
            </a:ln>
          </p:spPr>
          <p:txBody>
            <a:bodyPr/>
            <a:lstStyle/>
            <a:p>
              <a:endParaRPr lang="fr-MA"/>
            </a:p>
          </p:txBody>
        </p:sp>
        <p:sp>
          <p:nvSpPr>
            <p:cNvPr id="19" name="TextBox 19"/>
            <p:cNvSpPr txBox="1"/>
            <p:nvPr/>
          </p:nvSpPr>
          <p:spPr>
            <a:xfrm>
              <a:off x="0" y="-38100"/>
              <a:ext cx="1259064" cy="801765"/>
            </a:xfrm>
            <a:prstGeom prst="rect">
              <a:avLst/>
            </a:prstGeom>
          </p:spPr>
          <p:txBody>
            <a:bodyPr lIns="50800" tIns="50800" rIns="50800" bIns="50800" rtlCol="0" anchor="ctr"/>
            <a:lstStyle/>
            <a:p>
              <a:pPr marL="0" lvl="0" indent="0" algn="ctr">
                <a:lnSpc>
                  <a:spcPts val="3220"/>
                </a:lnSpc>
              </a:pPr>
              <a:endParaRPr/>
            </a:p>
          </p:txBody>
        </p:sp>
      </p:grpSp>
      <p:grpSp>
        <p:nvGrpSpPr>
          <p:cNvPr id="20" name="Group 20"/>
          <p:cNvGrpSpPr/>
          <p:nvPr/>
        </p:nvGrpSpPr>
        <p:grpSpPr>
          <a:xfrm>
            <a:off x="14365764" y="1586551"/>
            <a:ext cx="3922236" cy="8700449"/>
            <a:chOff x="0" y="0"/>
            <a:chExt cx="5229648" cy="11600599"/>
          </a:xfrm>
        </p:grpSpPr>
        <p:pic>
          <p:nvPicPr>
            <p:cNvPr id="21" name="Picture 21"/>
            <p:cNvPicPr>
              <a:picLocks noChangeAspect="1"/>
            </p:cNvPicPr>
            <p:nvPr/>
          </p:nvPicPr>
          <p:blipFill>
            <a:blip r:embed="rId3"/>
            <a:srcRect l="10455" r="10455"/>
            <a:stretch>
              <a:fillRect/>
            </a:stretch>
          </p:blipFill>
          <p:spPr>
            <a:xfrm>
              <a:off x="0" y="0"/>
              <a:ext cx="5229648" cy="11600599"/>
            </a:xfrm>
            <a:prstGeom prst="rect">
              <a:avLst/>
            </a:prstGeom>
          </p:spPr>
        </p:pic>
      </p:grpSp>
      <p:sp>
        <p:nvSpPr>
          <p:cNvPr id="22" name="TextBox 22"/>
          <p:cNvSpPr txBox="1"/>
          <p:nvPr/>
        </p:nvSpPr>
        <p:spPr>
          <a:xfrm>
            <a:off x="10310202" y="1901464"/>
            <a:ext cx="3323918" cy="663011"/>
          </a:xfrm>
          <a:prstGeom prst="rect">
            <a:avLst/>
          </a:prstGeom>
        </p:spPr>
        <p:txBody>
          <a:bodyPr lIns="0" tIns="0" rIns="0" bIns="0" rtlCol="0" anchor="t">
            <a:spAutoFit/>
          </a:bodyPr>
          <a:lstStyle/>
          <a:p>
            <a:pPr marL="0" lvl="0" indent="0" algn="l">
              <a:lnSpc>
                <a:spcPts val="5456"/>
              </a:lnSpc>
            </a:pPr>
            <a:r>
              <a:rPr lang="en-US" sz="3897" b="1">
                <a:solidFill>
                  <a:srgbClr val="E4E2DE"/>
                </a:solidFill>
                <a:latin typeface="Glacial Indifference Bold"/>
                <a:ea typeface="Glacial Indifference Bold"/>
                <a:cs typeface="Glacial Indifference Bold"/>
                <a:sym typeface="Glacial Indifference Bold"/>
              </a:rPr>
              <a:t>Action</a:t>
            </a:r>
          </a:p>
        </p:txBody>
      </p:sp>
      <p:sp>
        <p:nvSpPr>
          <p:cNvPr id="23" name="TextBox 23"/>
          <p:cNvSpPr txBox="1"/>
          <p:nvPr/>
        </p:nvSpPr>
        <p:spPr>
          <a:xfrm>
            <a:off x="10310202" y="2716392"/>
            <a:ext cx="3323918" cy="1065778"/>
          </a:xfrm>
          <a:prstGeom prst="rect">
            <a:avLst/>
          </a:prstGeom>
        </p:spPr>
        <p:txBody>
          <a:bodyPr lIns="0" tIns="0" rIns="0" bIns="0" rtlCol="0" anchor="t">
            <a:spAutoFit/>
          </a:bodyPr>
          <a:lstStyle/>
          <a:p>
            <a:pPr marL="0" lvl="0" indent="0" algn="just">
              <a:lnSpc>
                <a:spcPts val="2156"/>
              </a:lnSpc>
            </a:pPr>
            <a:r>
              <a:rPr lang="en-US" sz="1540">
                <a:solidFill>
                  <a:srgbClr val="E4E2DE"/>
                </a:solidFill>
                <a:latin typeface="Glacial Indifference"/>
                <a:ea typeface="Glacial Indifference"/>
                <a:cs typeface="Glacial Indifference"/>
                <a:sym typeface="Glacial Indifference"/>
              </a:rPr>
              <a:t>L'utilisateur déclenche une action (scan, modification de paramètre, navigation). L'action est typée et validée avant dispatch.</a:t>
            </a:r>
          </a:p>
        </p:txBody>
      </p:sp>
      <p:sp>
        <p:nvSpPr>
          <p:cNvPr id="24" name="TextBox 24"/>
          <p:cNvSpPr txBox="1"/>
          <p:nvPr/>
        </p:nvSpPr>
        <p:spPr>
          <a:xfrm>
            <a:off x="10310202" y="4800415"/>
            <a:ext cx="3323918" cy="663011"/>
          </a:xfrm>
          <a:prstGeom prst="rect">
            <a:avLst/>
          </a:prstGeom>
        </p:spPr>
        <p:txBody>
          <a:bodyPr lIns="0" tIns="0" rIns="0" bIns="0" rtlCol="0" anchor="t">
            <a:spAutoFit/>
          </a:bodyPr>
          <a:lstStyle/>
          <a:p>
            <a:pPr marL="0" lvl="0" indent="0" algn="l">
              <a:lnSpc>
                <a:spcPts val="5456"/>
              </a:lnSpc>
            </a:pPr>
            <a:r>
              <a:rPr lang="en-US" sz="3897" b="1">
                <a:solidFill>
                  <a:srgbClr val="E4E2DE"/>
                </a:solidFill>
                <a:latin typeface="Glacial Indifference Bold"/>
                <a:ea typeface="Glacial Indifference Bold"/>
                <a:cs typeface="Glacial Indifference Bold"/>
                <a:sym typeface="Glacial Indifference Bold"/>
              </a:rPr>
              <a:t>Dispatch</a:t>
            </a:r>
          </a:p>
        </p:txBody>
      </p:sp>
      <p:sp>
        <p:nvSpPr>
          <p:cNvPr id="25" name="TextBox 25"/>
          <p:cNvSpPr txBox="1"/>
          <p:nvPr/>
        </p:nvSpPr>
        <p:spPr>
          <a:xfrm>
            <a:off x="10310202" y="5615343"/>
            <a:ext cx="3323918" cy="799078"/>
          </a:xfrm>
          <a:prstGeom prst="rect">
            <a:avLst/>
          </a:prstGeom>
        </p:spPr>
        <p:txBody>
          <a:bodyPr lIns="0" tIns="0" rIns="0" bIns="0" rtlCol="0" anchor="t">
            <a:spAutoFit/>
          </a:bodyPr>
          <a:lstStyle/>
          <a:p>
            <a:pPr marL="0" lvl="0" indent="0" algn="just">
              <a:lnSpc>
                <a:spcPts val="2156"/>
              </a:lnSpc>
            </a:pPr>
            <a:r>
              <a:rPr lang="en-US" sz="1540">
                <a:solidFill>
                  <a:srgbClr val="E4E2DE"/>
                </a:solidFill>
                <a:latin typeface="Glacial Indifference"/>
                <a:ea typeface="Glacial Indifference"/>
                <a:cs typeface="Glacial Indifference"/>
                <a:sym typeface="Glacial Indifference"/>
              </a:rPr>
              <a:t>Le dispatcher central route l'action vers le reducer approprié. Middleware intercepte pour logging et validation.</a:t>
            </a:r>
          </a:p>
        </p:txBody>
      </p:sp>
      <p:sp>
        <p:nvSpPr>
          <p:cNvPr id="26" name="TextBox 26"/>
          <p:cNvSpPr txBox="1"/>
          <p:nvPr/>
        </p:nvSpPr>
        <p:spPr>
          <a:xfrm>
            <a:off x="10310202" y="7499930"/>
            <a:ext cx="3323918" cy="663011"/>
          </a:xfrm>
          <a:prstGeom prst="rect">
            <a:avLst/>
          </a:prstGeom>
        </p:spPr>
        <p:txBody>
          <a:bodyPr lIns="0" tIns="0" rIns="0" bIns="0" rtlCol="0" anchor="t">
            <a:spAutoFit/>
          </a:bodyPr>
          <a:lstStyle/>
          <a:p>
            <a:pPr marL="0" lvl="0" indent="0" algn="l">
              <a:lnSpc>
                <a:spcPts val="5456"/>
              </a:lnSpc>
            </a:pPr>
            <a:r>
              <a:rPr lang="en-US" sz="3897" b="1">
                <a:solidFill>
                  <a:srgbClr val="E4E2DE"/>
                </a:solidFill>
                <a:latin typeface="Glacial Indifference Bold"/>
                <a:ea typeface="Glacial Indifference Bold"/>
                <a:cs typeface="Glacial Indifference Bold"/>
                <a:sym typeface="Glacial Indifference Bold"/>
              </a:rPr>
              <a:t>Reducer</a:t>
            </a:r>
          </a:p>
        </p:txBody>
      </p:sp>
      <p:sp>
        <p:nvSpPr>
          <p:cNvPr id="27" name="TextBox 27"/>
          <p:cNvSpPr txBox="1"/>
          <p:nvPr/>
        </p:nvSpPr>
        <p:spPr>
          <a:xfrm>
            <a:off x="10310202" y="8314857"/>
            <a:ext cx="3323918" cy="799078"/>
          </a:xfrm>
          <a:prstGeom prst="rect">
            <a:avLst/>
          </a:prstGeom>
        </p:spPr>
        <p:txBody>
          <a:bodyPr lIns="0" tIns="0" rIns="0" bIns="0" rtlCol="0" anchor="t">
            <a:spAutoFit/>
          </a:bodyPr>
          <a:lstStyle/>
          <a:p>
            <a:pPr marL="0" lvl="0" indent="0" algn="just">
              <a:lnSpc>
                <a:spcPts val="2156"/>
              </a:lnSpc>
            </a:pPr>
            <a:r>
              <a:rPr lang="en-US" sz="1540">
                <a:solidFill>
                  <a:srgbClr val="E4E2DE"/>
                </a:solidFill>
                <a:latin typeface="Glacial Indifference"/>
                <a:ea typeface="Glacial Indifference"/>
                <a:cs typeface="Glacial Indifference"/>
                <a:sym typeface="Glacial Indifference"/>
              </a:rPr>
              <a:t>Fonction pure calculant le nouvel état. Immutabilité garantie par spread operators et Immer.js.</a:t>
            </a:r>
          </a:p>
        </p:txBody>
      </p:sp>
      <p:sp>
        <p:nvSpPr>
          <p:cNvPr id="28" name="Freeform 28"/>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4"/>
            <a:stretch>
              <a:fillRect/>
            </a:stretch>
          </a:blipFill>
        </p:spPr>
        <p:txBody>
          <a:bodyPr/>
          <a:lstStyle/>
          <a:p>
            <a:endParaRPr lang="fr-MA"/>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9</a:t>
              </a:r>
            </a:p>
          </p:txBody>
        </p:sp>
      </p:grpSp>
      <p:sp>
        <p:nvSpPr>
          <p:cNvPr id="7" name="TextBox 7"/>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Framework</a:t>
            </a:r>
          </a:p>
        </p:txBody>
      </p:sp>
      <p:sp>
        <p:nvSpPr>
          <p:cNvPr id="8" name="TextBox 8"/>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Ingénierie de Sécurité Mobile</a:t>
            </a:r>
          </a:p>
        </p:txBody>
      </p:sp>
      <p:sp>
        <p:nvSpPr>
          <p:cNvPr id="9" name="TextBox 9"/>
          <p:cNvSpPr txBox="1"/>
          <p:nvPr/>
        </p:nvSpPr>
        <p:spPr>
          <a:xfrm>
            <a:off x="3379976" y="2501553"/>
            <a:ext cx="5250651" cy="517721"/>
          </a:xfrm>
          <a:prstGeom prst="rect">
            <a:avLst/>
          </a:prstGeom>
        </p:spPr>
        <p:txBody>
          <a:bodyPr lIns="0" tIns="0" rIns="0" bIns="0" rtlCol="0" anchor="t">
            <a:spAutoFit/>
          </a:bodyPr>
          <a:lstStyle/>
          <a:p>
            <a:pPr marL="0" lvl="0" indent="0" algn="l">
              <a:lnSpc>
                <a:spcPts val="4060"/>
              </a:lnSpc>
            </a:pPr>
            <a:r>
              <a:rPr lang="en-US" sz="3530">
                <a:solidFill>
                  <a:srgbClr val="000000"/>
                </a:solidFill>
                <a:latin typeface="Libre Baskerville"/>
                <a:ea typeface="Libre Baskerville"/>
                <a:cs typeface="Libre Baskerville"/>
                <a:sym typeface="Libre Baskerville"/>
              </a:rPr>
              <a:t>Algorithme de Scoring</a:t>
            </a:r>
          </a:p>
        </p:txBody>
      </p:sp>
      <p:sp>
        <p:nvSpPr>
          <p:cNvPr id="10" name="TextBox 10"/>
          <p:cNvSpPr txBox="1"/>
          <p:nvPr/>
        </p:nvSpPr>
        <p:spPr>
          <a:xfrm>
            <a:off x="1676379" y="3944174"/>
            <a:ext cx="14935243" cy="1470697"/>
          </a:xfrm>
          <a:prstGeom prst="rect">
            <a:avLst/>
          </a:prstGeom>
        </p:spPr>
        <p:txBody>
          <a:bodyPr lIns="0" tIns="0" rIns="0" bIns="0" rtlCol="0" anchor="t">
            <a:spAutoFit/>
          </a:bodyPr>
          <a:lstStyle/>
          <a:p>
            <a:pPr marL="0" lvl="0" indent="0" algn="just">
              <a:lnSpc>
                <a:spcPts val="2937"/>
              </a:lnSpc>
              <a:spcBef>
                <a:spcPct val="0"/>
              </a:spcBef>
            </a:pPr>
            <a:r>
              <a:rPr lang="en-US" sz="2098">
                <a:solidFill>
                  <a:srgbClr val="000000"/>
                </a:solidFill>
                <a:latin typeface="Lora"/>
                <a:ea typeface="Lora"/>
                <a:cs typeface="Lora"/>
                <a:sym typeface="Lora"/>
              </a:rPr>
              <a:t>SCORE = Σ(wᵢ × sᵢ) × Π(1 - pⱼ)</a:t>
            </a:r>
          </a:p>
          <a:p>
            <a:pPr marL="0" lvl="0" indent="0" algn="just">
              <a:lnSpc>
                <a:spcPts val="2937"/>
              </a:lnSpc>
              <a:spcBef>
                <a:spcPct val="0"/>
              </a:spcBef>
            </a:pPr>
            <a:r>
              <a:rPr lang="en-US" sz="2098">
                <a:solidFill>
                  <a:srgbClr val="000000"/>
                </a:solidFill>
                <a:latin typeface="Lora"/>
                <a:ea typeface="Lora"/>
                <a:cs typeface="Lora"/>
                <a:sym typeface="Lora"/>
              </a:rPr>
              <a:t>Cette formule combine la somme pondérée des signaux de risque (wᵢ × sᵢ) avec le produit des facteurs de pénalité (1 - pⱼ). Chaque vecteur d'intégrité contribue proportionnellement à son poids, tandis que les findings critiques appliquent des multiplicateurs de réduction au score final.</a:t>
            </a:r>
          </a:p>
        </p:txBody>
      </p:sp>
      <p:grpSp>
        <p:nvGrpSpPr>
          <p:cNvPr id="11" name="Group 11"/>
          <p:cNvGrpSpPr/>
          <p:nvPr/>
        </p:nvGrpSpPr>
        <p:grpSpPr>
          <a:xfrm>
            <a:off x="1676379" y="7043608"/>
            <a:ext cx="3202999" cy="815141"/>
            <a:chOff x="0" y="0"/>
            <a:chExt cx="843588" cy="214687"/>
          </a:xfrm>
        </p:grpSpPr>
        <p:sp>
          <p:nvSpPr>
            <p:cNvPr id="12" name="Freeform 12"/>
            <p:cNvSpPr/>
            <p:nvPr/>
          </p:nvSpPr>
          <p:spPr>
            <a:xfrm>
              <a:off x="0" y="0"/>
              <a:ext cx="843588" cy="214687"/>
            </a:xfrm>
            <a:custGeom>
              <a:avLst/>
              <a:gdLst/>
              <a:ahLst/>
              <a:cxnLst/>
              <a:rect l="l" t="t" r="r" b="b"/>
              <a:pathLst>
                <a:path w="843588" h="214687">
                  <a:moveTo>
                    <a:pt x="107344" y="0"/>
                  </a:moveTo>
                  <a:lnTo>
                    <a:pt x="736245" y="0"/>
                  </a:lnTo>
                  <a:cubicBezTo>
                    <a:pt x="764714" y="0"/>
                    <a:pt x="792017" y="11309"/>
                    <a:pt x="812148" y="31440"/>
                  </a:cubicBezTo>
                  <a:cubicBezTo>
                    <a:pt x="832279" y="51571"/>
                    <a:pt x="843588" y="78874"/>
                    <a:pt x="843588" y="107344"/>
                  </a:cubicBezTo>
                  <a:lnTo>
                    <a:pt x="843588" y="107344"/>
                  </a:lnTo>
                  <a:cubicBezTo>
                    <a:pt x="843588" y="166628"/>
                    <a:pt x="795529" y="214687"/>
                    <a:pt x="736245"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13" name="TextBox 13"/>
            <p:cNvSpPr txBox="1"/>
            <p:nvPr/>
          </p:nvSpPr>
          <p:spPr>
            <a:xfrm>
              <a:off x="0" y="-47625"/>
              <a:ext cx="843588" cy="262312"/>
            </a:xfrm>
            <a:prstGeom prst="rect">
              <a:avLst/>
            </a:prstGeom>
          </p:spPr>
          <p:txBody>
            <a:bodyPr lIns="50800" tIns="50800" rIns="50800" bIns="50800" rtlCol="0" anchor="ctr"/>
            <a:lstStyle/>
            <a:p>
              <a:pPr marL="0" lvl="0" indent="0" algn="ctr">
                <a:lnSpc>
                  <a:spcPts val="3639"/>
                </a:lnSpc>
              </a:pPr>
              <a:r>
                <a:rPr lang="en-US" sz="2599">
                  <a:solidFill>
                    <a:srgbClr val="E4E2DE"/>
                  </a:solidFill>
                  <a:latin typeface="Lora"/>
                  <a:ea typeface="Lora"/>
                  <a:cs typeface="Lora"/>
                  <a:sym typeface="Lora"/>
                </a:rPr>
                <a:t>wᵢ = Poids</a:t>
              </a:r>
            </a:p>
          </p:txBody>
        </p:sp>
      </p:grpSp>
      <p:grpSp>
        <p:nvGrpSpPr>
          <p:cNvPr id="14" name="Group 14"/>
          <p:cNvGrpSpPr/>
          <p:nvPr/>
        </p:nvGrpSpPr>
        <p:grpSpPr>
          <a:xfrm>
            <a:off x="5150264" y="7043608"/>
            <a:ext cx="3682824" cy="815141"/>
            <a:chOff x="0" y="0"/>
            <a:chExt cx="969962" cy="214687"/>
          </a:xfrm>
        </p:grpSpPr>
        <p:sp>
          <p:nvSpPr>
            <p:cNvPr id="15" name="Freeform 15"/>
            <p:cNvSpPr/>
            <p:nvPr/>
          </p:nvSpPr>
          <p:spPr>
            <a:xfrm>
              <a:off x="0" y="0"/>
              <a:ext cx="969962" cy="214687"/>
            </a:xfrm>
            <a:custGeom>
              <a:avLst/>
              <a:gdLst/>
              <a:ahLst/>
              <a:cxnLst/>
              <a:rect l="l" t="t" r="r" b="b"/>
              <a:pathLst>
                <a:path w="969962" h="214687">
                  <a:moveTo>
                    <a:pt x="107211" y="0"/>
                  </a:moveTo>
                  <a:lnTo>
                    <a:pt x="862751" y="0"/>
                  </a:lnTo>
                  <a:cubicBezTo>
                    <a:pt x="921962" y="0"/>
                    <a:pt x="969962" y="48000"/>
                    <a:pt x="969962" y="107211"/>
                  </a:cubicBezTo>
                  <a:lnTo>
                    <a:pt x="969962" y="107477"/>
                  </a:lnTo>
                  <a:cubicBezTo>
                    <a:pt x="969962" y="135911"/>
                    <a:pt x="958666" y="163180"/>
                    <a:pt x="938560" y="183286"/>
                  </a:cubicBezTo>
                  <a:cubicBezTo>
                    <a:pt x="918455" y="203392"/>
                    <a:pt x="891185" y="214687"/>
                    <a:pt x="862751" y="214687"/>
                  </a:cubicBezTo>
                  <a:lnTo>
                    <a:pt x="107211" y="214687"/>
                  </a:lnTo>
                  <a:cubicBezTo>
                    <a:pt x="78777" y="214687"/>
                    <a:pt x="51507" y="203392"/>
                    <a:pt x="31401" y="183286"/>
                  </a:cubicBezTo>
                  <a:cubicBezTo>
                    <a:pt x="11295" y="163180"/>
                    <a:pt x="0" y="135911"/>
                    <a:pt x="0" y="107477"/>
                  </a:cubicBezTo>
                  <a:lnTo>
                    <a:pt x="0" y="107211"/>
                  </a:lnTo>
                  <a:cubicBezTo>
                    <a:pt x="0" y="78777"/>
                    <a:pt x="11295" y="51507"/>
                    <a:pt x="31401" y="31401"/>
                  </a:cubicBezTo>
                  <a:cubicBezTo>
                    <a:pt x="51507" y="11295"/>
                    <a:pt x="78777" y="0"/>
                    <a:pt x="107211" y="0"/>
                  </a:cubicBezTo>
                  <a:close/>
                </a:path>
              </a:pathLst>
            </a:custGeom>
            <a:ln w="9525" cap="rnd">
              <a:solidFill>
                <a:srgbClr val="000000"/>
              </a:solidFill>
              <a:prstDash val="solid"/>
              <a:round/>
            </a:ln>
          </p:spPr>
          <p:txBody>
            <a:bodyPr/>
            <a:lstStyle/>
            <a:p>
              <a:endParaRPr lang="fr-MA"/>
            </a:p>
          </p:txBody>
        </p:sp>
        <p:sp>
          <p:nvSpPr>
            <p:cNvPr id="16" name="TextBox 16"/>
            <p:cNvSpPr txBox="1"/>
            <p:nvPr/>
          </p:nvSpPr>
          <p:spPr>
            <a:xfrm>
              <a:off x="0" y="-47625"/>
              <a:ext cx="969962" cy="262312"/>
            </a:xfrm>
            <a:prstGeom prst="rect">
              <a:avLst/>
            </a:prstGeom>
          </p:spPr>
          <p:txBody>
            <a:bodyPr lIns="50800" tIns="50800" rIns="50800" bIns="50800" rtlCol="0" anchor="ctr"/>
            <a:lstStyle/>
            <a:p>
              <a:pPr marL="0" lvl="0" indent="0" algn="ctr">
                <a:lnSpc>
                  <a:spcPts val="3639"/>
                </a:lnSpc>
              </a:pPr>
              <a:r>
                <a:rPr lang="en-US" sz="2599">
                  <a:solidFill>
                    <a:srgbClr val="000000"/>
                  </a:solidFill>
                  <a:latin typeface="Lora"/>
                  <a:ea typeface="Lora"/>
                  <a:cs typeface="Lora"/>
                  <a:sym typeface="Lora"/>
                </a:rPr>
                <a:t>sᵢ = Signal</a:t>
              </a:r>
            </a:p>
          </p:txBody>
        </p:sp>
      </p:grpSp>
      <p:grpSp>
        <p:nvGrpSpPr>
          <p:cNvPr id="17" name="Group 17"/>
          <p:cNvGrpSpPr/>
          <p:nvPr/>
        </p:nvGrpSpPr>
        <p:grpSpPr>
          <a:xfrm>
            <a:off x="9144000" y="7043608"/>
            <a:ext cx="3423433" cy="815141"/>
            <a:chOff x="0" y="0"/>
            <a:chExt cx="901645" cy="214687"/>
          </a:xfrm>
        </p:grpSpPr>
        <p:sp>
          <p:nvSpPr>
            <p:cNvPr id="18" name="Freeform 18"/>
            <p:cNvSpPr/>
            <p:nvPr/>
          </p:nvSpPr>
          <p:spPr>
            <a:xfrm>
              <a:off x="0" y="0"/>
              <a:ext cx="901645" cy="214687"/>
            </a:xfrm>
            <a:custGeom>
              <a:avLst/>
              <a:gdLst/>
              <a:ahLst/>
              <a:cxnLst/>
              <a:rect l="l" t="t" r="r" b="b"/>
              <a:pathLst>
                <a:path w="901645" h="214687">
                  <a:moveTo>
                    <a:pt x="107344" y="0"/>
                  </a:moveTo>
                  <a:lnTo>
                    <a:pt x="794301" y="0"/>
                  </a:lnTo>
                  <a:cubicBezTo>
                    <a:pt x="853586" y="0"/>
                    <a:pt x="901645" y="48059"/>
                    <a:pt x="901645" y="107344"/>
                  </a:cubicBezTo>
                  <a:lnTo>
                    <a:pt x="901645" y="107344"/>
                  </a:lnTo>
                  <a:cubicBezTo>
                    <a:pt x="901645" y="135813"/>
                    <a:pt x="890336" y="163116"/>
                    <a:pt x="870205" y="183247"/>
                  </a:cubicBezTo>
                  <a:cubicBezTo>
                    <a:pt x="850074" y="203378"/>
                    <a:pt x="822771" y="214687"/>
                    <a:pt x="794301"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19" name="TextBox 19"/>
            <p:cNvSpPr txBox="1"/>
            <p:nvPr/>
          </p:nvSpPr>
          <p:spPr>
            <a:xfrm>
              <a:off x="0" y="-47625"/>
              <a:ext cx="901645" cy="262312"/>
            </a:xfrm>
            <a:prstGeom prst="rect">
              <a:avLst/>
            </a:prstGeom>
          </p:spPr>
          <p:txBody>
            <a:bodyPr lIns="50800" tIns="50800" rIns="50800" bIns="50800" rtlCol="0" anchor="ctr"/>
            <a:lstStyle/>
            <a:p>
              <a:pPr marL="0" lvl="0" indent="0" algn="ctr">
                <a:lnSpc>
                  <a:spcPts val="3639"/>
                </a:lnSpc>
              </a:pPr>
              <a:r>
                <a:rPr lang="en-US" sz="2599">
                  <a:solidFill>
                    <a:srgbClr val="E4E2DE"/>
                  </a:solidFill>
                  <a:latin typeface="Lora"/>
                  <a:ea typeface="Lora"/>
                  <a:cs typeface="Lora"/>
                  <a:sym typeface="Lora"/>
                </a:rPr>
                <a:t>pⱼ = Pénalité</a:t>
              </a:r>
            </a:p>
          </p:txBody>
        </p:sp>
      </p:grpSp>
      <p:grpSp>
        <p:nvGrpSpPr>
          <p:cNvPr id="20" name="Group 20"/>
          <p:cNvGrpSpPr/>
          <p:nvPr/>
        </p:nvGrpSpPr>
        <p:grpSpPr>
          <a:xfrm>
            <a:off x="12834133" y="7043608"/>
            <a:ext cx="3682824" cy="815141"/>
            <a:chOff x="0" y="0"/>
            <a:chExt cx="969962" cy="214687"/>
          </a:xfrm>
        </p:grpSpPr>
        <p:sp>
          <p:nvSpPr>
            <p:cNvPr id="21" name="Freeform 21"/>
            <p:cNvSpPr/>
            <p:nvPr/>
          </p:nvSpPr>
          <p:spPr>
            <a:xfrm>
              <a:off x="0" y="0"/>
              <a:ext cx="969962" cy="214687"/>
            </a:xfrm>
            <a:custGeom>
              <a:avLst/>
              <a:gdLst/>
              <a:ahLst/>
              <a:cxnLst/>
              <a:rect l="l" t="t" r="r" b="b"/>
              <a:pathLst>
                <a:path w="969962" h="214687">
                  <a:moveTo>
                    <a:pt x="107211" y="0"/>
                  </a:moveTo>
                  <a:lnTo>
                    <a:pt x="862751" y="0"/>
                  </a:lnTo>
                  <a:cubicBezTo>
                    <a:pt x="921962" y="0"/>
                    <a:pt x="969962" y="48000"/>
                    <a:pt x="969962" y="107211"/>
                  </a:cubicBezTo>
                  <a:lnTo>
                    <a:pt x="969962" y="107477"/>
                  </a:lnTo>
                  <a:cubicBezTo>
                    <a:pt x="969962" y="135911"/>
                    <a:pt x="958666" y="163180"/>
                    <a:pt x="938560" y="183286"/>
                  </a:cubicBezTo>
                  <a:cubicBezTo>
                    <a:pt x="918455" y="203392"/>
                    <a:pt x="891185" y="214687"/>
                    <a:pt x="862751" y="214687"/>
                  </a:cubicBezTo>
                  <a:lnTo>
                    <a:pt x="107211" y="214687"/>
                  </a:lnTo>
                  <a:cubicBezTo>
                    <a:pt x="78777" y="214687"/>
                    <a:pt x="51507" y="203392"/>
                    <a:pt x="31401" y="183286"/>
                  </a:cubicBezTo>
                  <a:cubicBezTo>
                    <a:pt x="11295" y="163180"/>
                    <a:pt x="0" y="135911"/>
                    <a:pt x="0" y="107477"/>
                  </a:cubicBezTo>
                  <a:lnTo>
                    <a:pt x="0" y="107211"/>
                  </a:lnTo>
                  <a:cubicBezTo>
                    <a:pt x="0" y="78777"/>
                    <a:pt x="11295" y="51507"/>
                    <a:pt x="31401" y="31401"/>
                  </a:cubicBezTo>
                  <a:cubicBezTo>
                    <a:pt x="51507" y="11295"/>
                    <a:pt x="78777" y="0"/>
                    <a:pt x="107211" y="0"/>
                  </a:cubicBezTo>
                  <a:close/>
                </a:path>
              </a:pathLst>
            </a:custGeom>
            <a:ln w="9525" cap="rnd">
              <a:solidFill>
                <a:srgbClr val="000000"/>
              </a:solidFill>
              <a:prstDash val="solid"/>
              <a:round/>
            </a:ln>
          </p:spPr>
          <p:txBody>
            <a:bodyPr/>
            <a:lstStyle/>
            <a:p>
              <a:endParaRPr lang="fr-MA"/>
            </a:p>
          </p:txBody>
        </p:sp>
        <p:sp>
          <p:nvSpPr>
            <p:cNvPr id="22" name="TextBox 22"/>
            <p:cNvSpPr txBox="1"/>
            <p:nvPr/>
          </p:nvSpPr>
          <p:spPr>
            <a:xfrm>
              <a:off x="0" y="-47625"/>
              <a:ext cx="969962" cy="262312"/>
            </a:xfrm>
            <a:prstGeom prst="rect">
              <a:avLst/>
            </a:prstGeom>
          </p:spPr>
          <p:txBody>
            <a:bodyPr lIns="50800" tIns="50800" rIns="50800" bIns="50800" rtlCol="0" anchor="ctr"/>
            <a:lstStyle/>
            <a:p>
              <a:pPr marL="0" lvl="0" indent="0" algn="ctr">
                <a:lnSpc>
                  <a:spcPts val="3639"/>
                </a:lnSpc>
              </a:pPr>
              <a:r>
                <a:rPr lang="en-US" sz="2599">
                  <a:solidFill>
                    <a:srgbClr val="000000"/>
                  </a:solidFill>
                  <a:latin typeface="Lora"/>
                  <a:ea typeface="Lora"/>
                  <a:cs typeface="Lora"/>
                  <a:sym typeface="Lora"/>
                </a:rPr>
                <a:t>Σ = Somme</a:t>
              </a:r>
            </a:p>
          </p:txBody>
        </p:sp>
      </p:grpSp>
      <p:grpSp>
        <p:nvGrpSpPr>
          <p:cNvPr id="23" name="Group 23"/>
          <p:cNvGrpSpPr/>
          <p:nvPr/>
        </p:nvGrpSpPr>
        <p:grpSpPr>
          <a:xfrm>
            <a:off x="3043479" y="8150504"/>
            <a:ext cx="3682824" cy="815141"/>
            <a:chOff x="0" y="0"/>
            <a:chExt cx="969962" cy="214687"/>
          </a:xfrm>
        </p:grpSpPr>
        <p:sp>
          <p:nvSpPr>
            <p:cNvPr id="24" name="Freeform 24"/>
            <p:cNvSpPr/>
            <p:nvPr/>
          </p:nvSpPr>
          <p:spPr>
            <a:xfrm>
              <a:off x="0" y="0"/>
              <a:ext cx="969962" cy="214687"/>
            </a:xfrm>
            <a:custGeom>
              <a:avLst/>
              <a:gdLst/>
              <a:ahLst/>
              <a:cxnLst/>
              <a:rect l="l" t="t" r="r" b="b"/>
              <a:pathLst>
                <a:path w="969962" h="214687">
                  <a:moveTo>
                    <a:pt x="107211" y="0"/>
                  </a:moveTo>
                  <a:lnTo>
                    <a:pt x="862751" y="0"/>
                  </a:lnTo>
                  <a:cubicBezTo>
                    <a:pt x="921962" y="0"/>
                    <a:pt x="969962" y="48000"/>
                    <a:pt x="969962" y="107211"/>
                  </a:cubicBezTo>
                  <a:lnTo>
                    <a:pt x="969962" y="107477"/>
                  </a:lnTo>
                  <a:cubicBezTo>
                    <a:pt x="969962" y="135911"/>
                    <a:pt x="958666" y="163180"/>
                    <a:pt x="938560" y="183286"/>
                  </a:cubicBezTo>
                  <a:cubicBezTo>
                    <a:pt x="918455" y="203392"/>
                    <a:pt x="891185" y="214687"/>
                    <a:pt x="862751" y="214687"/>
                  </a:cubicBezTo>
                  <a:lnTo>
                    <a:pt x="107211" y="214687"/>
                  </a:lnTo>
                  <a:cubicBezTo>
                    <a:pt x="78777" y="214687"/>
                    <a:pt x="51507" y="203392"/>
                    <a:pt x="31401" y="183286"/>
                  </a:cubicBezTo>
                  <a:cubicBezTo>
                    <a:pt x="11295" y="163180"/>
                    <a:pt x="0" y="135911"/>
                    <a:pt x="0" y="107477"/>
                  </a:cubicBezTo>
                  <a:lnTo>
                    <a:pt x="0" y="107211"/>
                  </a:lnTo>
                  <a:cubicBezTo>
                    <a:pt x="0" y="78777"/>
                    <a:pt x="11295" y="51507"/>
                    <a:pt x="31401" y="31401"/>
                  </a:cubicBezTo>
                  <a:cubicBezTo>
                    <a:pt x="51507" y="11295"/>
                    <a:pt x="78777" y="0"/>
                    <a:pt x="107211" y="0"/>
                  </a:cubicBezTo>
                  <a:close/>
                </a:path>
              </a:pathLst>
            </a:custGeom>
            <a:ln w="9525" cap="rnd">
              <a:solidFill>
                <a:srgbClr val="000000"/>
              </a:solidFill>
              <a:prstDash val="solid"/>
              <a:round/>
            </a:ln>
          </p:spPr>
          <p:txBody>
            <a:bodyPr/>
            <a:lstStyle/>
            <a:p>
              <a:endParaRPr lang="fr-MA"/>
            </a:p>
          </p:txBody>
        </p:sp>
        <p:sp>
          <p:nvSpPr>
            <p:cNvPr id="25" name="TextBox 25"/>
            <p:cNvSpPr txBox="1"/>
            <p:nvPr/>
          </p:nvSpPr>
          <p:spPr>
            <a:xfrm>
              <a:off x="0" y="-47625"/>
              <a:ext cx="969962" cy="262312"/>
            </a:xfrm>
            <a:prstGeom prst="rect">
              <a:avLst/>
            </a:prstGeom>
          </p:spPr>
          <p:txBody>
            <a:bodyPr lIns="50800" tIns="50800" rIns="50800" bIns="50800" rtlCol="0" anchor="ctr"/>
            <a:lstStyle/>
            <a:p>
              <a:pPr marL="0" lvl="0" indent="0" algn="ctr">
                <a:lnSpc>
                  <a:spcPts val="3639"/>
                </a:lnSpc>
              </a:pPr>
              <a:r>
                <a:rPr lang="en-US" sz="2599">
                  <a:solidFill>
                    <a:srgbClr val="000000"/>
                  </a:solidFill>
                  <a:latin typeface="Lora"/>
                  <a:ea typeface="Lora"/>
                  <a:cs typeface="Lora"/>
                  <a:sym typeface="Lora"/>
                </a:rPr>
                <a:t>CRITIQUE</a:t>
              </a:r>
            </a:p>
          </p:txBody>
        </p:sp>
      </p:grpSp>
      <p:grpSp>
        <p:nvGrpSpPr>
          <p:cNvPr id="26" name="Group 26"/>
          <p:cNvGrpSpPr/>
          <p:nvPr/>
        </p:nvGrpSpPr>
        <p:grpSpPr>
          <a:xfrm>
            <a:off x="7047244" y="8150504"/>
            <a:ext cx="3202999" cy="815141"/>
            <a:chOff x="0" y="0"/>
            <a:chExt cx="843588" cy="214687"/>
          </a:xfrm>
        </p:grpSpPr>
        <p:sp>
          <p:nvSpPr>
            <p:cNvPr id="27" name="Freeform 27"/>
            <p:cNvSpPr/>
            <p:nvPr/>
          </p:nvSpPr>
          <p:spPr>
            <a:xfrm>
              <a:off x="0" y="0"/>
              <a:ext cx="843588" cy="214687"/>
            </a:xfrm>
            <a:custGeom>
              <a:avLst/>
              <a:gdLst/>
              <a:ahLst/>
              <a:cxnLst/>
              <a:rect l="l" t="t" r="r" b="b"/>
              <a:pathLst>
                <a:path w="843588" h="214687">
                  <a:moveTo>
                    <a:pt x="107344" y="0"/>
                  </a:moveTo>
                  <a:lnTo>
                    <a:pt x="736245" y="0"/>
                  </a:lnTo>
                  <a:cubicBezTo>
                    <a:pt x="764714" y="0"/>
                    <a:pt x="792017" y="11309"/>
                    <a:pt x="812148" y="31440"/>
                  </a:cubicBezTo>
                  <a:cubicBezTo>
                    <a:pt x="832279" y="51571"/>
                    <a:pt x="843588" y="78874"/>
                    <a:pt x="843588" y="107344"/>
                  </a:cubicBezTo>
                  <a:lnTo>
                    <a:pt x="843588" y="107344"/>
                  </a:lnTo>
                  <a:cubicBezTo>
                    <a:pt x="843588" y="166628"/>
                    <a:pt x="795529" y="214687"/>
                    <a:pt x="736245"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28" name="TextBox 28"/>
            <p:cNvSpPr txBox="1"/>
            <p:nvPr/>
          </p:nvSpPr>
          <p:spPr>
            <a:xfrm>
              <a:off x="0" y="-47625"/>
              <a:ext cx="843588" cy="262312"/>
            </a:xfrm>
            <a:prstGeom prst="rect">
              <a:avLst/>
            </a:prstGeom>
          </p:spPr>
          <p:txBody>
            <a:bodyPr lIns="50800" tIns="50800" rIns="50800" bIns="50800" rtlCol="0" anchor="ctr"/>
            <a:lstStyle/>
            <a:p>
              <a:pPr marL="0" lvl="0" indent="0" algn="ctr">
                <a:lnSpc>
                  <a:spcPts val="3639"/>
                </a:lnSpc>
              </a:pPr>
              <a:r>
                <a:rPr lang="en-US" sz="2599">
                  <a:solidFill>
                    <a:srgbClr val="E4E2DE"/>
                  </a:solidFill>
                  <a:latin typeface="Lora"/>
                  <a:ea typeface="Lora"/>
                  <a:cs typeface="Lora"/>
                  <a:sym typeface="Lora"/>
                </a:rPr>
                <a:t>MODÉRÉ</a:t>
              </a:r>
            </a:p>
          </p:txBody>
        </p:sp>
      </p:grpSp>
      <p:grpSp>
        <p:nvGrpSpPr>
          <p:cNvPr id="29" name="Group 29"/>
          <p:cNvGrpSpPr/>
          <p:nvPr/>
        </p:nvGrpSpPr>
        <p:grpSpPr>
          <a:xfrm>
            <a:off x="10574093" y="8150504"/>
            <a:ext cx="3682824" cy="815141"/>
            <a:chOff x="0" y="0"/>
            <a:chExt cx="969962" cy="214687"/>
          </a:xfrm>
        </p:grpSpPr>
        <p:sp>
          <p:nvSpPr>
            <p:cNvPr id="30" name="Freeform 30"/>
            <p:cNvSpPr/>
            <p:nvPr/>
          </p:nvSpPr>
          <p:spPr>
            <a:xfrm>
              <a:off x="0" y="0"/>
              <a:ext cx="969962" cy="214687"/>
            </a:xfrm>
            <a:custGeom>
              <a:avLst/>
              <a:gdLst/>
              <a:ahLst/>
              <a:cxnLst/>
              <a:rect l="l" t="t" r="r" b="b"/>
              <a:pathLst>
                <a:path w="969962" h="214687">
                  <a:moveTo>
                    <a:pt x="107211" y="0"/>
                  </a:moveTo>
                  <a:lnTo>
                    <a:pt x="862751" y="0"/>
                  </a:lnTo>
                  <a:cubicBezTo>
                    <a:pt x="921962" y="0"/>
                    <a:pt x="969962" y="48000"/>
                    <a:pt x="969962" y="107211"/>
                  </a:cubicBezTo>
                  <a:lnTo>
                    <a:pt x="969962" y="107477"/>
                  </a:lnTo>
                  <a:cubicBezTo>
                    <a:pt x="969962" y="135911"/>
                    <a:pt x="958666" y="163180"/>
                    <a:pt x="938560" y="183286"/>
                  </a:cubicBezTo>
                  <a:cubicBezTo>
                    <a:pt x="918455" y="203392"/>
                    <a:pt x="891185" y="214687"/>
                    <a:pt x="862751" y="214687"/>
                  </a:cubicBezTo>
                  <a:lnTo>
                    <a:pt x="107211" y="214687"/>
                  </a:lnTo>
                  <a:cubicBezTo>
                    <a:pt x="78777" y="214687"/>
                    <a:pt x="51507" y="203392"/>
                    <a:pt x="31401" y="183286"/>
                  </a:cubicBezTo>
                  <a:cubicBezTo>
                    <a:pt x="11295" y="163180"/>
                    <a:pt x="0" y="135911"/>
                    <a:pt x="0" y="107477"/>
                  </a:cubicBezTo>
                  <a:lnTo>
                    <a:pt x="0" y="107211"/>
                  </a:lnTo>
                  <a:cubicBezTo>
                    <a:pt x="0" y="78777"/>
                    <a:pt x="11295" y="51507"/>
                    <a:pt x="31401" y="31401"/>
                  </a:cubicBezTo>
                  <a:cubicBezTo>
                    <a:pt x="51507" y="11295"/>
                    <a:pt x="78777" y="0"/>
                    <a:pt x="107211" y="0"/>
                  </a:cubicBezTo>
                  <a:close/>
                </a:path>
              </a:pathLst>
            </a:custGeom>
            <a:ln w="9525" cap="rnd">
              <a:solidFill>
                <a:srgbClr val="000000"/>
              </a:solidFill>
              <a:prstDash val="solid"/>
              <a:round/>
            </a:ln>
          </p:spPr>
          <p:txBody>
            <a:bodyPr/>
            <a:lstStyle/>
            <a:p>
              <a:endParaRPr lang="fr-MA"/>
            </a:p>
          </p:txBody>
        </p:sp>
        <p:sp>
          <p:nvSpPr>
            <p:cNvPr id="31" name="TextBox 31"/>
            <p:cNvSpPr txBox="1"/>
            <p:nvPr/>
          </p:nvSpPr>
          <p:spPr>
            <a:xfrm>
              <a:off x="0" y="-47625"/>
              <a:ext cx="969962" cy="262312"/>
            </a:xfrm>
            <a:prstGeom prst="rect">
              <a:avLst/>
            </a:prstGeom>
          </p:spPr>
          <p:txBody>
            <a:bodyPr lIns="50800" tIns="50800" rIns="50800" bIns="50800" rtlCol="0" anchor="ctr"/>
            <a:lstStyle/>
            <a:p>
              <a:pPr marL="0" lvl="0" indent="0" algn="ctr">
                <a:lnSpc>
                  <a:spcPts val="3639"/>
                </a:lnSpc>
              </a:pPr>
              <a:r>
                <a:rPr lang="en-US" sz="2599">
                  <a:solidFill>
                    <a:srgbClr val="000000"/>
                  </a:solidFill>
                  <a:latin typeface="Lora"/>
                  <a:ea typeface="Lora"/>
                  <a:cs typeface="Lora"/>
                  <a:sym typeface="Lora"/>
                </a:rPr>
                <a:t>SÉCURISÉ</a:t>
              </a:r>
            </a:p>
          </p:txBody>
        </p:sp>
      </p:grpSp>
      <p:sp>
        <p:nvSpPr>
          <p:cNvPr id="32" name="Freeform 32"/>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11</a:t>
              </a:r>
            </a:p>
          </p:txBody>
        </p:sp>
      </p:grpSp>
      <p:sp>
        <p:nvSpPr>
          <p:cNvPr id="7" name="TextBox 7"/>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Framework</a:t>
            </a:r>
          </a:p>
        </p:txBody>
      </p:sp>
      <p:sp>
        <p:nvSpPr>
          <p:cNvPr id="8" name="TextBox 8"/>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Architecture &amp; Ingénierie</a:t>
            </a:r>
          </a:p>
        </p:txBody>
      </p:sp>
      <p:sp>
        <p:nvSpPr>
          <p:cNvPr id="9" name="TextBox 9"/>
          <p:cNvSpPr txBox="1"/>
          <p:nvPr/>
        </p:nvSpPr>
        <p:spPr>
          <a:xfrm>
            <a:off x="3379976" y="2501553"/>
            <a:ext cx="6332259" cy="1382449"/>
          </a:xfrm>
          <a:prstGeom prst="rect">
            <a:avLst/>
          </a:prstGeom>
        </p:spPr>
        <p:txBody>
          <a:bodyPr lIns="0" tIns="0" rIns="0" bIns="0" rtlCol="0" anchor="t">
            <a:spAutoFit/>
          </a:bodyPr>
          <a:lstStyle/>
          <a:p>
            <a:pPr marL="0" lvl="0" indent="0" algn="l">
              <a:lnSpc>
                <a:spcPts val="5414"/>
              </a:lnSpc>
            </a:pPr>
            <a:r>
              <a:rPr lang="en-US" sz="4708">
                <a:solidFill>
                  <a:srgbClr val="000000"/>
                </a:solidFill>
                <a:latin typeface="Libre Baskerville"/>
                <a:ea typeface="Libre Baskerville"/>
                <a:cs typeface="Libre Baskerville"/>
                <a:sym typeface="Libre Baskerville"/>
              </a:rPr>
              <a:t>Matrice de Pondération</a:t>
            </a:r>
          </a:p>
        </p:txBody>
      </p:sp>
      <p:grpSp>
        <p:nvGrpSpPr>
          <p:cNvPr id="10" name="Group 10"/>
          <p:cNvGrpSpPr/>
          <p:nvPr/>
        </p:nvGrpSpPr>
        <p:grpSpPr>
          <a:xfrm>
            <a:off x="1344109" y="5129784"/>
            <a:ext cx="4869727" cy="4128516"/>
            <a:chOff x="0" y="0"/>
            <a:chExt cx="1282562" cy="1087346"/>
          </a:xfrm>
        </p:grpSpPr>
        <p:sp>
          <p:nvSpPr>
            <p:cNvPr id="11" name="Freeform 11"/>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12" name="TextBox 12"/>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13" name="Group 13"/>
          <p:cNvGrpSpPr/>
          <p:nvPr/>
        </p:nvGrpSpPr>
        <p:grpSpPr>
          <a:xfrm>
            <a:off x="1344109" y="4394160"/>
            <a:ext cx="1630386" cy="745149"/>
            <a:chOff x="0" y="0"/>
            <a:chExt cx="429402" cy="196253"/>
          </a:xfrm>
        </p:grpSpPr>
        <p:sp>
          <p:nvSpPr>
            <p:cNvPr id="14" name="Freeform 1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15" name="TextBox 1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25%</a:t>
              </a:r>
            </a:p>
          </p:txBody>
        </p:sp>
      </p:grpSp>
      <p:sp>
        <p:nvSpPr>
          <p:cNvPr id="16" name="TextBox 16"/>
          <p:cNvSpPr txBox="1"/>
          <p:nvPr/>
        </p:nvSpPr>
        <p:spPr>
          <a:xfrm>
            <a:off x="1990612" y="5765927"/>
            <a:ext cx="3553098" cy="2799122"/>
          </a:xfrm>
          <a:prstGeom prst="rect">
            <a:avLst/>
          </a:prstGeom>
        </p:spPr>
        <p:txBody>
          <a:bodyPr lIns="0" tIns="0" rIns="0" bIns="0" rtlCol="0" anchor="t">
            <a:spAutoFit/>
          </a:bodyPr>
          <a:lstStyle/>
          <a:p>
            <a:pPr marL="0" lvl="0" indent="0" algn="just">
              <a:lnSpc>
                <a:spcPts val="3217"/>
              </a:lnSpc>
            </a:pPr>
            <a:r>
              <a:rPr lang="en-US" sz="2298">
                <a:solidFill>
                  <a:srgbClr val="E4E2DE"/>
                </a:solidFill>
                <a:latin typeface="Glacial Indifference"/>
                <a:ea typeface="Glacial Indifference"/>
                <a:cs typeface="Glacial Indifference"/>
                <a:sym typeface="Glacial Indifference"/>
              </a:rPr>
              <a:t>Intégrité Système (AVB)</a:t>
            </a:r>
          </a:p>
          <a:p>
            <a:pPr marL="0" lvl="0" indent="0" algn="just">
              <a:lnSpc>
                <a:spcPts val="3217"/>
              </a:lnSpc>
            </a:pPr>
            <a:r>
              <a:rPr lang="en-US" sz="2298">
                <a:solidFill>
                  <a:srgbClr val="E4E2DE"/>
                </a:solidFill>
                <a:latin typeface="Glacial Indifference"/>
                <a:ea typeface="Glacial Indifference"/>
                <a:cs typeface="Glacial Indifference"/>
                <a:sym typeface="Glacial Indifference"/>
              </a:rPr>
              <a:t>Poids critique : chaîne de confiance BootROM → Kernel. Détection des états ORANGE/RED invalide la confiance globale du device.</a:t>
            </a:r>
          </a:p>
        </p:txBody>
      </p:sp>
      <p:grpSp>
        <p:nvGrpSpPr>
          <p:cNvPr id="17" name="Group 17"/>
          <p:cNvGrpSpPr/>
          <p:nvPr/>
        </p:nvGrpSpPr>
        <p:grpSpPr>
          <a:xfrm>
            <a:off x="2962631" y="4394160"/>
            <a:ext cx="1630386" cy="745149"/>
            <a:chOff x="0" y="0"/>
            <a:chExt cx="429402" cy="196253"/>
          </a:xfrm>
        </p:grpSpPr>
        <p:sp>
          <p:nvSpPr>
            <p:cNvPr id="18" name="Freeform 18"/>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19" name="TextBox 19"/>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AVB</a:t>
              </a:r>
            </a:p>
          </p:txBody>
        </p:sp>
      </p:grpSp>
      <p:grpSp>
        <p:nvGrpSpPr>
          <p:cNvPr id="20" name="Group 20"/>
          <p:cNvGrpSpPr/>
          <p:nvPr/>
        </p:nvGrpSpPr>
        <p:grpSpPr>
          <a:xfrm>
            <a:off x="4583450" y="4394160"/>
            <a:ext cx="1630386" cy="745149"/>
            <a:chOff x="0" y="0"/>
            <a:chExt cx="429402" cy="196253"/>
          </a:xfrm>
        </p:grpSpPr>
        <p:sp>
          <p:nvSpPr>
            <p:cNvPr id="21" name="Freeform 21"/>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22" name="TextBox 22"/>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Max</a:t>
              </a:r>
            </a:p>
          </p:txBody>
        </p:sp>
      </p:grpSp>
      <p:grpSp>
        <p:nvGrpSpPr>
          <p:cNvPr id="23" name="Group 23"/>
          <p:cNvGrpSpPr/>
          <p:nvPr/>
        </p:nvGrpSpPr>
        <p:grpSpPr>
          <a:xfrm>
            <a:off x="6709136" y="5129784"/>
            <a:ext cx="4869727" cy="4128516"/>
            <a:chOff x="0" y="0"/>
            <a:chExt cx="1282562" cy="1087346"/>
          </a:xfrm>
        </p:grpSpPr>
        <p:sp>
          <p:nvSpPr>
            <p:cNvPr id="24" name="Freeform 24"/>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25" name="TextBox 25"/>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26" name="Group 26"/>
          <p:cNvGrpSpPr/>
          <p:nvPr/>
        </p:nvGrpSpPr>
        <p:grpSpPr>
          <a:xfrm>
            <a:off x="6709136" y="4394160"/>
            <a:ext cx="1630386" cy="745149"/>
            <a:chOff x="0" y="0"/>
            <a:chExt cx="429402" cy="196253"/>
          </a:xfrm>
        </p:grpSpPr>
        <p:sp>
          <p:nvSpPr>
            <p:cNvPr id="27" name="Freeform 27"/>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28" name="TextBox 28"/>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20%</a:t>
              </a:r>
            </a:p>
          </p:txBody>
        </p:sp>
      </p:grpSp>
      <p:sp>
        <p:nvSpPr>
          <p:cNvPr id="29" name="TextBox 29"/>
          <p:cNvSpPr txBox="1"/>
          <p:nvPr/>
        </p:nvSpPr>
        <p:spPr>
          <a:xfrm>
            <a:off x="7355639" y="5765927"/>
            <a:ext cx="3553098" cy="2399072"/>
          </a:xfrm>
          <a:prstGeom prst="rect">
            <a:avLst/>
          </a:prstGeom>
        </p:spPr>
        <p:txBody>
          <a:bodyPr lIns="0" tIns="0" rIns="0" bIns="0" rtlCol="0" anchor="t">
            <a:spAutoFit/>
          </a:bodyPr>
          <a:lstStyle/>
          <a:p>
            <a:pPr marL="0" lvl="0" indent="0" algn="just">
              <a:lnSpc>
                <a:spcPts val="3217"/>
              </a:lnSpc>
            </a:pPr>
            <a:r>
              <a:rPr lang="en-US" sz="2298">
                <a:solidFill>
                  <a:srgbClr val="E4E2DE"/>
                </a:solidFill>
                <a:latin typeface="Glacial Indifference"/>
                <a:ea typeface="Glacial Indifference"/>
                <a:cs typeface="Glacial Indifference"/>
                <a:sym typeface="Glacial Indifference"/>
              </a:rPr>
              <a:t>Privilèges Root</a:t>
            </a:r>
          </a:p>
          <a:p>
            <a:pPr marL="0" lvl="0" indent="0" algn="just">
              <a:lnSpc>
                <a:spcPts val="3217"/>
              </a:lnSpc>
            </a:pPr>
            <a:r>
              <a:rPr lang="en-US" sz="2298">
                <a:solidFill>
                  <a:srgbClr val="E4E2DE"/>
                </a:solidFill>
                <a:latin typeface="Glacial Indifference"/>
                <a:ea typeface="Glacial Indifference"/>
                <a:cs typeface="Glacial Indifference"/>
                <a:sym typeface="Glacial Indifference"/>
              </a:rPr>
              <a:t>Détection SuBinary, Magisk, SELinux permissif. Compromission totale des contrôles applicatifs. Pénalité multiplicative.</a:t>
            </a:r>
          </a:p>
        </p:txBody>
      </p:sp>
      <p:grpSp>
        <p:nvGrpSpPr>
          <p:cNvPr id="30" name="Group 30"/>
          <p:cNvGrpSpPr/>
          <p:nvPr/>
        </p:nvGrpSpPr>
        <p:grpSpPr>
          <a:xfrm>
            <a:off x="8327658" y="4394160"/>
            <a:ext cx="1630386" cy="745149"/>
            <a:chOff x="0" y="0"/>
            <a:chExt cx="429402" cy="196253"/>
          </a:xfrm>
        </p:grpSpPr>
        <p:sp>
          <p:nvSpPr>
            <p:cNvPr id="31" name="Freeform 31"/>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32" name="TextBox 32"/>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Root</a:t>
              </a:r>
            </a:p>
          </p:txBody>
        </p:sp>
      </p:grpSp>
      <p:grpSp>
        <p:nvGrpSpPr>
          <p:cNvPr id="33" name="Group 33"/>
          <p:cNvGrpSpPr/>
          <p:nvPr/>
        </p:nvGrpSpPr>
        <p:grpSpPr>
          <a:xfrm>
            <a:off x="9948478" y="4394160"/>
            <a:ext cx="1630386" cy="745149"/>
            <a:chOff x="0" y="0"/>
            <a:chExt cx="429402" cy="196253"/>
          </a:xfrm>
        </p:grpSpPr>
        <p:sp>
          <p:nvSpPr>
            <p:cNvPr id="34" name="Freeform 3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35" name="TextBox 3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Haut</a:t>
              </a:r>
            </a:p>
          </p:txBody>
        </p:sp>
      </p:grpSp>
      <p:grpSp>
        <p:nvGrpSpPr>
          <p:cNvPr id="36" name="Group 36"/>
          <p:cNvGrpSpPr/>
          <p:nvPr/>
        </p:nvGrpSpPr>
        <p:grpSpPr>
          <a:xfrm>
            <a:off x="12071339" y="5129784"/>
            <a:ext cx="4869727" cy="4128516"/>
            <a:chOff x="0" y="0"/>
            <a:chExt cx="1282562" cy="1087346"/>
          </a:xfrm>
        </p:grpSpPr>
        <p:sp>
          <p:nvSpPr>
            <p:cNvPr id="37" name="Freeform 37"/>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38" name="TextBox 38"/>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39" name="Group 39"/>
          <p:cNvGrpSpPr/>
          <p:nvPr/>
        </p:nvGrpSpPr>
        <p:grpSpPr>
          <a:xfrm>
            <a:off x="12071339" y="4394160"/>
            <a:ext cx="1630386" cy="745149"/>
            <a:chOff x="0" y="0"/>
            <a:chExt cx="429402" cy="196253"/>
          </a:xfrm>
        </p:grpSpPr>
        <p:sp>
          <p:nvSpPr>
            <p:cNvPr id="40" name="Freeform 40"/>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41" name="TextBox 41"/>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18%</a:t>
              </a:r>
            </a:p>
          </p:txBody>
        </p:sp>
      </p:grpSp>
      <p:sp>
        <p:nvSpPr>
          <p:cNvPr id="42" name="TextBox 42"/>
          <p:cNvSpPr txBox="1"/>
          <p:nvPr/>
        </p:nvSpPr>
        <p:spPr>
          <a:xfrm>
            <a:off x="12717841" y="5765927"/>
            <a:ext cx="3553098" cy="2399072"/>
          </a:xfrm>
          <a:prstGeom prst="rect">
            <a:avLst/>
          </a:prstGeom>
        </p:spPr>
        <p:txBody>
          <a:bodyPr lIns="0" tIns="0" rIns="0" bIns="0" rtlCol="0" anchor="t">
            <a:spAutoFit/>
          </a:bodyPr>
          <a:lstStyle/>
          <a:p>
            <a:pPr marL="0" lvl="0" indent="0" algn="just">
              <a:lnSpc>
                <a:spcPts val="3217"/>
              </a:lnSpc>
            </a:pPr>
            <a:r>
              <a:rPr lang="en-US" sz="2298">
                <a:solidFill>
                  <a:srgbClr val="E4E2DE"/>
                </a:solidFill>
                <a:latin typeface="Glacial Indifference"/>
                <a:ea typeface="Glacial Indifference"/>
                <a:cs typeface="Glacial Indifference"/>
                <a:sym typeface="Glacial Indifference"/>
              </a:rPr>
              <a:t>Vecteurs Réseau</a:t>
            </a:r>
          </a:p>
          <a:p>
            <a:pPr marL="0" lvl="0" indent="0" algn="just">
              <a:lnSpc>
                <a:spcPts val="3217"/>
              </a:lnSpc>
            </a:pPr>
            <a:r>
              <a:rPr lang="en-US" sz="2298">
                <a:solidFill>
                  <a:srgbClr val="E4E2DE"/>
                </a:solidFill>
                <a:latin typeface="Glacial Indifference"/>
                <a:ea typeface="Glacial Indifference"/>
                <a:cs typeface="Glacial Indifference"/>
                <a:sym typeface="Glacial Indifference"/>
              </a:rPr>
              <a:t>WiFi non sécurisé, DNS non chiffré, absence de certificate pinning. Exposition aux attaques MITM et interception.</a:t>
            </a:r>
          </a:p>
        </p:txBody>
      </p:sp>
      <p:grpSp>
        <p:nvGrpSpPr>
          <p:cNvPr id="43" name="Group 43"/>
          <p:cNvGrpSpPr/>
          <p:nvPr/>
        </p:nvGrpSpPr>
        <p:grpSpPr>
          <a:xfrm>
            <a:off x="13689861" y="4394160"/>
            <a:ext cx="1630386" cy="745149"/>
            <a:chOff x="0" y="0"/>
            <a:chExt cx="429402" cy="196253"/>
          </a:xfrm>
        </p:grpSpPr>
        <p:sp>
          <p:nvSpPr>
            <p:cNvPr id="44" name="Freeform 4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45" name="TextBox 4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Net</a:t>
              </a:r>
            </a:p>
          </p:txBody>
        </p:sp>
      </p:grpSp>
      <p:grpSp>
        <p:nvGrpSpPr>
          <p:cNvPr id="46" name="Group 46"/>
          <p:cNvGrpSpPr/>
          <p:nvPr/>
        </p:nvGrpSpPr>
        <p:grpSpPr>
          <a:xfrm>
            <a:off x="15310680" y="4394160"/>
            <a:ext cx="1630386" cy="745149"/>
            <a:chOff x="0" y="0"/>
            <a:chExt cx="429402" cy="196253"/>
          </a:xfrm>
        </p:grpSpPr>
        <p:sp>
          <p:nvSpPr>
            <p:cNvPr id="47" name="Freeform 47"/>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48" name="TextBox 48"/>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Élevé</a:t>
              </a:r>
            </a:p>
          </p:txBody>
        </p:sp>
      </p:grpSp>
      <p:sp>
        <p:nvSpPr>
          <p:cNvPr id="49" name="Freeform 49"/>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43131"/>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E4E2DE"/>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E4E2DE"/>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E4E2DE"/>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12</a:t>
              </a:r>
            </a:p>
          </p:txBody>
        </p:sp>
      </p:grpSp>
      <p:sp>
        <p:nvSpPr>
          <p:cNvPr id="7" name="Freeform 7"/>
          <p:cNvSpPr/>
          <p:nvPr/>
        </p:nvSpPr>
        <p:spPr>
          <a:xfrm rot="-8173503">
            <a:off x="10407523" y="6921451"/>
            <a:ext cx="582761" cy="1828269"/>
          </a:xfrm>
          <a:custGeom>
            <a:avLst/>
            <a:gdLst/>
            <a:ahLst/>
            <a:cxnLst/>
            <a:rect l="l" t="t" r="r" b="b"/>
            <a:pathLst>
              <a:path w="582761" h="1828269">
                <a:moveTo>
                  <a:pt x="0" y="0"/>
                </a:moveTo>
                <a:lnTo>
                  <a:pt x="582761" y="0"/>
                </a:lnTo>
                <a:lnTo>
                  <a:pt x="582761" y="1828269"/>
                </a:lnTo>
                <a:lnTo>
                  <a:pt x="0" y="18282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MA"/>
          </a:p>
        </p:txBody>
      </p:sp>
      <p:sp>
        <p:nvSpPr>
          <p:cNvPr id="8" name="Freeform 8"/>
          <p:cNvSpPr/>
          <p:nvPr/>
        </p:nvSpPr>
        <p:spPr>
          <a:xfrm rot="7924996" flipH="1">
            <a:off x="7301005" y="6843780"/>
            <a:ext cx="582761" cy="1828269"/>
          </a:xfrm>
          <a:custGeom>
            <a:avLst/>
            <a:gdLst/>
            <a:ahLst/>
            <a:cxnLst/>
            <a:rect l="l" t="t" r="r" b="b"/>
            <a:pathLst>
              <a:path w="582761" h="1828269">
                <a:moveTo>
                  <a:pt x="582761" y="0"/>
                </a:moveTo>
                <a:lnTo>
                  <a:pt x="0" y="0"/>
                </a:lnTo>
                <a:lnTo>
                  <a:pt x="0" y="1828270"/>
                </a:lnTo>
                <a:lnTo>
                  <a:pt x="582761" y="1828270"/>
                </a:lnTo>
                <a:lnTo>
                  <a:pt x="58276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MA"/>
          </a:p>
        </p:txBody>
      </p:sp>
      <p:sp>
        <p:nvSpPr>
          <p:cNvPr id="9" name="Freeform 9"/>
          <p:cNvSpPr/>
          <p:nvPr/>
        </p:nvSpPr>
        <p:spPr>
          <a:xfrm rot="-9717398">
            <a:off x="8821165" y="6427499"/>
            <a:ext cx="681344" cy="1899217"/>
          </a:xfrm>
          <a:custGeom>
            <a:avLst/>
            <a:gdLst/>
            <a:ahLst/>
            <a:cxnLst/>
            <a:rect l="l" t="t" r="r" b="b"/>
            <a:pathLst>
              <a:path w="681344" h="1899217">
                <a:moveTo>
                  <a:pt x="0" y="0"/>
                </a:moveTo>
                <a:lnTo>
                  <a:pt x="681345" y="0"/>
                </a:lnTo>
                <a:lnTo>
                  <a:pt x="681345" y="1899217"/>
                </a:lnTo>
                <a:lnTo>
                  <a:pt x="0" y="189921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MA"/>
          </a:p>
        </p:txBody>
      </p:sp>
      <p:grpSp>
        <p:nvGrpSpPr>
          <p:cNvPr id="10" name="Group 10"/>
          <p:cNvGrpSpPr/>
          <p:nvPr/>
        </p:nvGrpSpPr>
        <p:grpSpPr>
          <a:xfrm>
            <a:off x="7817390" y="8237222"/>
            <a:ext cx="2653220" cy="909621"/>
            <a:chOff x="0" y="0"/>
            <a:chExt cx="840611" cy="288192"/>
          </a:xfrm>
        </p:grpSpPr>
        <p:sp>
          <p:nvSpPr>
            <p:cNvPr id="11" name="Freeform 11"/>
            <p:cNvSpPr/>
            <p:nvPr/>
          </p:nvSpPr>
          <p:spPr>
            <a:xfrm>
              <a:off x="0" y="0"/>
              <a:ext cx="840611" cy="288192"/>
            </a:xfrm>
            <a:custGeom>
              <a:avLst/>
              <a:gdLst/>
              <a:ahLst/>
              <a:cxnLst/>
              <a:rect l="l" t="t" r="r" b="b"/>
              <a:pathLst>
                <a:path w="840611" h="288192">
                  <a:moveTo>
                    <a:pt x="144096" y="0"/>
                  </a:moveTo>
                  <a:lnTo>
                    <a:pt x="696515" y="0"/>
                  </a:lnTo>
                  <a:cubicBezTo>
                    <a:pt x="734731" y="0"/>
                    <a:pt x="771383" y="15181"/>
                    <a:pt x="798406" y="42205"/>
                  </a:cubicBezTo>
                  <a:cubicBezTo>
                    <a:pt x="825429" y="69228"/>
                    <a:pt x="840611" y="105879"/>
                    <a:pt x="840611" y="144096"/>
                  </a:cubicBezTo>
                  <a:lnTo>
                    <a:pt x="840611" y="144096"/>
                  </a:lnTo>
                  <a:cubicBezTo>
                    <a:pt x="840611" y="182313"/>
                    <a:pt x="825429" y="218964"/>
                    <a:pt x="798406" y="245987"/>
                  </a:cubicBezTo>
                  <a:cubicBezTo>
                    <a:pt x="771383" y="273010"/>
                    <a:pt x="734731" y="288192"/>
                    <a:pt x="696515" y="288192"/>
                  </a:cubicBezTo>
                  <a:lnTo>
                    <a:pt x="144096" y="288192"/>
                  </a:lnTo>
                  <a:cubicBezTo>
                    <a:pt x="105879" y="288192"/>
                    <a:pt x="69228" y="273010"/>
                    <a:pt x="42205" y="245987"/>
                  </a:cubicBezTo>
                  <a:cubicBezTo>
                    <a:pt x="15181" y="218964"/>
                    <a:pt x="0" y="182313"/>
                    <a:pt x="0" y="144096"/>
                  </a:cubicBezTo>
                  <a:lnTo>
                    <a:pt x="0" y="144096"/>
                  </a:lnTo>
                  <a:cubicBezTo>
                    <a:pt x="0" y="105879"/>
                    <a:pt x="15181" y="69228"/>
                    <a:pt x="42205" y="42205"/>
                  </a:cubicBezTo>
                  <a:cubicBezTo>
                    <a:pt x="69228" y="15181"/>
                    <a:pt x="105879" y="0"/>
                    <a:pt x="144096" y="0"/>
                  </a:cubicBezTo>
                  <a:close/>
                </a:path>
              </a:pathLst>
            </a:custGeom>
            <a:solidFill>
              <a:srgbClr val="343131"/>
            </a:solidFill>
            <a:ln w="9525" cap="rnd">
              <a:solidFill>
                <a:srgbClr val="E4E2DE"/>
              </a:solidFill>
              <a:prstDash val="solid"/>
              <a:round/>
            </a:ln>
          </p:spPr>
          <p:txBody>
            <a:bodyPr/>
            <a:lstStyle/>
            <a:p>
              <a:endParaRPr lang="fr-MA"/>
            </a:p>
          </p:txBody>
        </p:sp>
        <p:sp>
          <p:nvSpPr>
            <p:cNvPr id="12" name="TextBox 12"/>
            <p:cNvSpPr txBox="1"/>
            <p:nvPr/>
          </p:nvSpPr>
          <p:spPr>
            <a:xfrm>
              <a:off x="0" y="-85725"/>
              <a:ext cx="840611" cy="373917"/>
            </a:xfrm>
            <a:prstGeom prst="rect">
              <a:avLst/>
            </a:prstGeom>
          </p:spPr>
          <p:txBody>
            <a:bodyPr lIns="50800" tIns="50800" rIns="50800" bIns="50800" rtlCol="0" anchor="ctr"/>
            <a:lstStyle/>
            <a:p>
              <a:pPr marL="0" lvl="0" indent="0" algn="ctr">
                <a:lnSpc>
                  <a:spcPts val="6015"/>
                </a:lnSpc>
              </a:pPr>
              <a:r>
                <a:rPr lang="en-US" sz="4296" b="1">
                  <a:solidFill>
                    <a:srgbClr val="E4E2DE"/>
                  </a:solidFill>
                  <a:latin typeface="Lora Bold"/>
                  <a:ea typeface="Lora Bold"/>
                  <a:cs typeface="Lora Bold"/>
                  <a:sym typeface="Lora Bold"/>
                </a:rPr>
                <a:t>pⱼ</a:t>
              </a:r>
            </a:p>
          </p:txBody>
        </p:sp>
      </p:grpSp>
      <p:grpSp>
        <p:nvGrpSpPr>
          <p:cNvPr id="13" name="Group 13"/>
          <p:cNvGrpSpPr/>
          <p:nvPr/>
        </p:nvGrpSpPr>
        <p:grpSpPr>
          <a:xfrm>
            <a:off x="1028700" y="6808491"/>
            <a:ext cx="759028" cy="568617"/>
            <a:chOff x="0" y="0"/>
            <a:chExt cx="199909" cy="149759"/>
          </a:xfrm>
        </p:grpSpPr>
        <p:sp>
          <p:nvSpPr>
            <p:cNvPr id="14" name="Freeform 14"/>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15" name="TextBox 15"/>
            <p:cNvSpPr txBox="1"/>
            <p:nvPr/>
          </p:nvSpPr>
          <p:spPr>
            <a:xfrm>
              <a:off x="0" y="-28575"/>
              <a:ext cx="199909" cy="178334"/>
            </a:xfrm>
            <a:prstGeom prst="rect">
              <a:avLst/>
            </a:prstGeom>
          </p:spPr>
          <p:txBody>
            <a:bodyPr lIns="50800" tIns="50800" rIns="50800" bIns="50800" rtlCol="0" anchor="ctr"/>
            <a:lstStyle/>
            <a:p>
              <a:pPr marL="0" lvl="0" indent="0" algn="ctr">
                <a:lnSpc>
                  <a:spcPts val="2798"/>
                </a:lnSpc>
              </a:pPr>
              <a:r>
                <a:rPr lang="en-US" sz="1998">
                  <a:solidFill>
                    <a:srgbClr val="343131"/>
                  </a:solidFill>
                  <a:latin typeface="Lora"/>
                  <a:ea typeface="Lora"/>
                  <a:cs typeface="Lora"/>
                  <a:sym typeface="Lora"/>
                </a:rPr>
                <a:t>1</a:t>
              </a:r>
            </a:p>
          </p:txBody>
        </p:sp>
      </p:grpSp>
      <p:grpSp>
        <p:nvGrpSpPr>
          <p:cNvPr id="16" name="Group 16"/>
          <p:cNvGrpSpPr/>
          <p:nvPr/>
        </p:nvGrpSpPr>
        <p:grpSpPr>
          <a:xfrm>
            <a:off x="1786265" y="4033216"/>
            <a:ext cx="759028" cy="568617"/>
            <a:chOff x="0" y="0"/>
            <a:chExt cx="199909" cy="149759"/>
          </a:xfrm>
        </p:grpSpPr>
        <p:sp>
          <p:nvSpPr>
            <p:cNvPr id="17" name="Freeform 17"/>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18" name="TextBox 18"/>
            <p:cNvSpPr txBox="1"/>
            <p:nvPr/>
          </p:nvSpPr>
          <p:spPr>
            <a:xfrm>
              <a:off x="0" y="-28575"/>
              <a:ext cx="199909" cy="178334"/>
            </a:xfrm>
            <a:prstGeom prst="rect">
              <a:avLst/>
            </a:prstGeom>
          </p:spPr>
          <p:txBody>
            <a:bodyPr lIns="50800" tIns="50800" rIns="50800" bIns="50800" rtlCol="0" anchor="ctr"/>
            <a:lstStyle/>
            <a:p>
              <a:pPr marL="0" lvl="0" indent="0" algn="ctr">
                <a:lnSpc>
                  <a:spcPts val="2798"/>
                </a:lnSpc>
              </a:pPr>
              <a:r>
                <a:rPr lang="en-US" sz="1998">
                  <a:solidFill>
                    <a:srgbClr val="343131"/>
                  </a:solidFill>
                  <a:latin typeface="Lora"/>
                  <a:ea typeface="Lora"/>
                  <a:cs typeface="Lora"/>
                  <a:sym typeface="Lora"/>
                </a:rPr>
                <a:t>2</a:t>
              </a:r>
            </a:p>
          </p:txBody>
        </p:sp>
      </p:grpSp>
      <p:grpSp>
        <p:nvGrpSpPr>
          <p:cNvPr id="19" name="Group 19"/>
          <p:cNvGrpSpPr/>
          <p:nvPr/>
        </p:nvGrpSpPr>
        <p:grpSpPr>
          <a:xfrm>
            <a:off x="6883259" y="4033216"/>
            <a:ext cx="759028" cy="568617"/>
            <a:chOff x="0" y="0"/>
            <a:chExt cx="199909" cy="149759"/>
          </a:xfrm>
        </p:grpSpPr>
        <p:sp>
          <p:nvSpPr>
            <p:cNvPr id="20" name="Freeform 20"/>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1" name="TextBox 21"/>
            <p:cNvSpPr txBox="1"/>
            <p:nvPr/>
          </p:nvSpPr>
          <p:spPr>
            <a:xfrm>
              <a:off x="0" y="-28575"/>
              <a:ext cx="199909" cy="178334"/>
            </a:xfrm>
            <a:prstGeom prst="rect">
              <a:avLst/>
            </a:prstGeom>
          </p:spPr>
          <p:txBody>
            <a:bodyPr lIns="50800" tIns="50800" rIns="50800" bIns="50800" rtlCol="0" anchor="ctr"/>
            <a:lstStyle/>
            <a:p>
              <a:pPr marL="0" lvl="0" indent="0" algn="ctr">
                <a:lnSpc>
                  <a:spcPts val="2798"/>
                </a:lnSpc>
              </a:pPr>
              <a:r>
                <a:rPr lang="en-US" sz="1998">
                  <a:solidFill>
                    <a:srgbClr val="343131"/>
                  </a:solidFill>
                  <a:latin typeface="Lora"/>
                  <a:ea typeface="Lora"/>
                  <a:cs typeface="Lora"/>
                  <a:sym typeface="Lora"/>
                </a:rPr>
                <a:t>3</a:t>
              </a:r>
            </a:p>
          </p:txBody>
        </p:sp>
      </p:grpSp>
      <p:grpSp>
        <p:nvGrpSpPr>
          <p:cNvPr id="22" name="Group 22"/>
          <p:cNvGrpSpPr/>
          <p:nvPr/>
        </p:nvGrpSpPr>
        <p:grpSpPr>
          <a:xfrm>
            <a:off x="11969112" y="4033216"/>
            <a:ext cx="759028" cy="568617"/>
            <a:chOff x="0" y="0"/>
            <a:chExt cx="199909" cy="149759"/>
          </a:xfrm>
        </p:grpSpPr>
        <p:sp>
          <p:nvSpPr>
            <p:cNvPr id="23" name="Freeform 23"/>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4" name="TextBox 24"/>
            <p:cNvSpPr txBox="1"/>
            <p:nvPr/>
          </p:nvSpPr>
          <p:spPr>
            <a:xfrm>
              <a:off x="0" y="-28575"/>
              <a:ext cx="199909" cy="178334"/>
            </a:xfrm>
            <a:prstGeom prst="rect">
              <a:avLst/>
            </a:prstGeom>
          </p:spPr>
          <p:txBody>
            <a:bodyPr lIns="50800" tIns="50800" rIns="50800" bIns="50800" rtlCol="0" anchor="ctr"/>
            <a:lstStyle/>
            <a:p>
              <a:pPr marL="0" lvl="0" indent="0" algn="ctr">
                <a:lnSpc>
                  <a:spcPts val="2798"/>
                </a:lnSpc>
              </a:pPr>
              <a:r>
                <a:rPr lang="en-US" sz="1998">
                  <a:solidFill>
                    <a:srgbClr val="343131"/>
                  </a:solidFill>
                  <a:latin typeface="Lora"/>
                  <a:ea typeface="Lora"/>
                  <a:cs typeface="Lora"/>
                  <a:sym typeface="Lora"/>
                </a:rPr>
                <a:t>4</a:t>
              </a:r>
            </a:p>
          </p:txBody>
        </p:sp>
      </p:grpSp>
      <p:grpSp>
        <p:nvGrpSpPr>
          <p:cNvPr id="25" name="Group 25"/>
          <p:cNvGrpSpPr/>
          <p:nvPr/>
        </p:nvGrpSpPr>
        <p:grpSpPr>
          <a:xfrm>
            <a:off x="11969112" y="6808491"/>
            <a:ext cx="759028" cy="568617"/>
            <a:chOff x="0" y="0"/>
            <a:chExt cx="199909" cy="149759"/>
          </a:xfrm>
        </p:grpSpPr>
        <p:sp>
          <p:nvSpPr>
            <p:cNvPr id="26" name="Freeform 26"/>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7" name="TextBox 27"/>
            <p:cNvSpPr txBox="1"/>
            <p:nvPr/>
          </p:nvSpPr>
          <p:spPr>
            <a:xfrm>
              <a:off x="0" y="-28575"/>
              <a:ext cx="199909" cy="178334"/>
            </a:xfrm>
            <a:prstGeom prst="rect">
              <a:avLst/>
            </a:prstGeom>
          </p:spPr>
          <p:txBody>
            <a:bodyPr lIns="50800" tIns="50800" rIns="50800" bIns="50800" rtlCol="0" anchor="ctr"/>
            <a:lstStyle/>
            <a:p>
              <a:pPr marL="0" lvl="0" indent="0" algn="ctr">
                <a:lnSpc>
                  <a:spcPts val="2798"/>
                </a:lnSpc>
              </a:pPr>
              <a:r>
                <a:rPr lang="en-US" sz="1998">
                  <a:solidFill>
                    <a:srgbClr val="343131"/>
                  </a:solidFill>
                  <a:latin typeface="Lora"/>
                  <a:ea typeface="Lora"/>
                  <a:cs typeface="Lora"/>
                  <a:sym typeface="Lora"/>
                </a:rPr>
                <a:t>5</a:t>
              </a:r>
            </a:p>
          </p:txBody>
        </p:sp>
      </p:grpSp>
      <p:sp>
        <p:nvSpPr>
          <p:cNvPr id="28" name="TextBox 28"/>
          <p:cNvSpPr txBox="1"/>
          <p:nvPr/>
        </p:nvSpPr>
        <p:spPr>
          <a:xfrm>
            <a:off x="7832906" y="3941324"/>
            <a:ext cx="3600989" cy="2323088"/>
          </a:xfrm>
          <a:prstGeom prst="rect">
            <a:avLst/>
          </a:prstGeom>
        </p:spPr>
        <p:txBody>
          <a:bodyPr lIns="0" tIns="0" rIns="0" bIns="0" rtlCol="0" anchor="t">
            <a:spAutoFit/>
          </a:bodyPr>
          <a:lstStyle/>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HIGH</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pⱼ = 0.25</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Magisk Detection</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Root masking framework détecté, contournement possible des contrôles de sécurité.</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Impact : -25% score final</a:t>
            </a:r>
          </a:p>
        </p:txBody>
      </p:sp>
      <p:sp>
        <p:nvSpPr>
          <p:cNvPr id="29" name="TextBox 29"/>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E4E2DE"/>
                </a:solidFill>
                <a:latin typeface="Lora"/>
                <a:ea typeface="Lora"/>
                <a:cs typeface="Lora"/>
                <a:sym typeface="Lora"/>
              </a:rPr>
              <a:t>DIRS Framework</a:t>
            </a:r>
          </a:p>
        </p:txBody>
      </p:sp>
      <p:sp>
        <p:nvSpPr>
          <p:cNvPr id="30" name="TextBox 30"/>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E4E2DE"/>
                </a:solidFill>
                <a:latin typeface="Lora"/>
                <a:ea typeface="Lora"/>
                <a:cs typeface="Lora"/>
                <a:sym typeface="Lora"/>
              </a:rPr>
              <a:t>Architecture &amp; Ingénierie</a:t>
            </a:r>
          </a:p>
        </p:txBody>
      </p:sp>
      <p:sp>
        <p:nvSpPr>
          <p:cNvPr id="31" name="TextBox 31"/>
          <p:cNvSpPr txBox="1"/>
          <p:nvPr/>
        </p:nvSpPr>
        <p:spPr>
          <a:xfrm>
            <a:off x="3379976" y="2511078"/>
            <a:ext cx="7888719" cy="727052"/>
          </a:xfrm>
          <a:prstGeom prst="rect">
            <a:avLst/>
          </a:prstGeom>
        </p:spPr>
        <p:txBody>
          <a:bodyPr lIns="0" tIns="0" rIns="0" bIns="0" rtlCol="0" anchor="t">
            <a:spAutoFit/>
          </a:bodyPr>
          <a:lstStyle/>
          <a:p>
            <a:pPr marL="0" lvl="0" indent="0" algn="l">
              <a:lnSpc>
                <a:spcPts val="5745"/>
              </a:lnSpc>
            </a:pPr>
            <a:r>
              <a:rPr lang="en-US" sz="4996">
                <a:solidFill>
                  <a:srgbClr val="E4E2DE"/>
                </a:solidFill>
                <a:latin typeface="Libre Baskerville"/>
                <a:ea typeface="Libre Baskerville"/>
                <a:cs typeface="Libre Baskerville"/>
                <a:sym typeface="Libre Baskerville"/>
              </a:rPr>
              <a:t>Logique de Pénalité</a:t>
            </a:r>
          </a:p>
        </p:txBody>
      </p:sp>
      <p:sp>
        <p:nvSpPr>
          <p:cNvPr id="32" name="TextBox 32"/>
          <p:cNvSpPr txBox="1"/>
          <p:nvPr/>
        </p:nvSpPr>
        <p:spPr>
          <a:xfrm>
            <a:off x="12930377" y="6770391"/>
            <a:ext cx="4328923" cy="1989713"/>
          </a:xfrm>
          <a:prstGeom prst="rect">
            <a:avLst/>
          </a:prstGeom>
        </p:spPr>
        <p:txBody>
          <a:bodyPr lIns="0" tIns="0" rIns="0" bIns="0" rtlCol="0" anchor="t">
            <a:spAutoFit/>
          </a:bodyPr>
          <a:lstStyle/>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MEDIUM</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pⱼ = 0.15</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ADB Enabled</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Mode débogage actif, surface d'attaque élargie pour exploitation locale.</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Impact : -15% score final</a:t>
            </a:r>
          </a:p>
        </p:txBody>
      </p:sp>
      <p:sp>
        <p:nvSpPr>
          <p:cNvPr id="33" name="TextBox 33"/>
          <p:cNvSpPr txBox="1"/>
          <p:nvPr/>
        </p:nvSpPr>
        <p:spPr>
          <a:xfrm>
            <a:off x="1974543" y="6770391"/>
            <a:ext cx="4328923" cy="1989713"/>
          </a:xfrm>
          <a:prstGeom prst="rect">
            <a:avLst/>
          </a:prstGeom>
        </p:spPr>
        <p:txBody>
          <a:bodyPr lIns="0" tIns="0" rIns="0" bIns="0" rtlCol="0" anchor="t">
            <a:spAutoFit/>
          </a:bodyPr>
          <a:lstStyle/>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KILL-SWITCH</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pⱼ = 1.00</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Bootloader Unlocked</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Chaîne de confiance AVB compromise, intégrité système non garantie.</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Impact : Score → 0</a:t>
            </a:r>
          </a:p>
        </p:txBody>
      </p:sp>
      <p:sp>
        <p:nvSpPr>
          <p:cNvPr id="34" name="TextBox 34"/>
          <p:cNvSpPr txBox="1"/>
          <p:nvPr/>
        </p:nvSpPr>
        <p:spPr>
          <a:xfrm>
            <a:off x="2764390" y="3995116"/>
            <a:ext cx="3600989" cy="1989713"/>
          </a:xfrm>
          <a:prstGeom prst="rect">
            <a:avLst/>
          </a:prstGeom>
        </p:spPr>
        <p:txBody>
          <a:bodyPr lIns="0" tIns="0" rIns="0" bIns="0" rtlCol="0" anchor="t">
            <a:spAutoFit/>
          </a:bodyPr>
          <a:lstStyle/>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CRITICAL</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pⱼ = 0.50</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Su Binary Detected</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Accès root confirmé via binaire su, élévation de privilèges active.</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Impact : -50% score final</a:t>
            </a:r>
          </a:p>
        </p:txBody>
      </p:sp>
      <p:sp>
        <p:nvSpPr>
          <p:cNvPr id="35" name="TextBox 35"/>
          <p:cNvSpPr txBox="1"/>
          <p:nvPr/>
        </p:nvSpPr>
        <p:spPr>
          <a:xfrm>
            <a:off x="12900745" y="3941324"/>
            <a:ext cx="3600989" cy="2323088"/>
          </a:xfrm>
          <a:prstGeom prst="rect">
            <a:avLst/>
          </a:prstGeom>
        </p:spPr>
        <p:txBody>
          <a:bodyPr lIns="0" tIns="0" rIns="0" bIns="0" rtlCol="0" anchor="t">
            <a:spAutoFit/>
          </a:bodyPr>
          <a:lstStyle/>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HIGH</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pⱼ = 0.30</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SELinux Permissive</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Politique de sécurité désactivée, isolation des processus compromise.</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Impact : -30% score final</a:t>
            </a:r>
          </a:p>
        </p:txBody>
      </p:sp>
      <p:sp>
        <p:nvSpPr>
          <p:cNvPr id="36" name="Freeform 36"/>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5"/>
            <a:stretch>
              <a:fillRect/>
            </a:stretch>
          </a:blipFill>
        </p:spPr>
        <p:txBody>
          <a:bodyPr/>
          <a:lstStyle/>
          <a:p>
            <a:endParaRPr lang="fr-MA"/>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43131"/>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E4E2DE"/>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E4E2DE"/>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E4E2DE"/>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13</a:t>
              </a:r>
            </a:p>
          </p:txBody>
        </p:sp>
      </p:grpSp>
      <p:sp>
        <p:nvSpPr>
          <p:cNvPr id="7" name="Freeform 7"/>
          <p:cNvSpPr/>
          <p:nvPr/>
        </p:nvSpPr>
        <p:spPr>
          <a:xfrm rot="-8173503">
            <a:off x="10407523" y="6921451"/>
            <a:ext cx="582761" cy="1828269"/>
          </a:xfrm>
          <a:custGeom>
            <a:avLst/>
            <a:gdLst/>
            <a:ahLst/>
            <a:cxnLst/>
            <a:rect l="l" t="t" r="r" b="b"/>
            <a:pathLst>
              <a:path w="582761" h="1828269">
                <a:moveTo>
                  <a:pt x="0" y="0"/>
                </a:moveTo>
                <a:lnTo>
                  <a:pt x="582761" y="0"/>
                </a:lnTo>
                <a:lnTo>
                  <a:pt x="582761" y="1828269"/>
                </a:lnTo>
                <a:lnTo>
                  <a:pt x="0" y="18282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MA"/>
          </a:p>
        </p:txBody>
      </p:sp>
      <p:sp>
        <p:nvSpPr>
          <p:cNvPr id="8" name="Freeform 8"/>
          <p:cNvSpPr/>
          <p:nvPr/>
        </p:nvSpPr>
        <p:spPr>
          <a:xfrm rot="7924996" flipH="1">
            <a:off x="7301005" y="6843780"/>
            <a:ext cx="582761" cy="1828269"/>
          </a:xfrm>
          <a:custGeom>
            <a:avLst/>
            <a:gdLst/>
            <a:ahLst/>
            <a:cxnLst/>
            <a:rect l="l" t="t" r="r" b="b"/>
            <a:pathLst>
              <a:path w="582761" h="1828269">
                <a:moveTo>
                  <a:pt x="582761" y="0"/>
                </a:moveTo>
                <a:lnTo>
                  <a:pt x="0" y="0"/>
                </a:lnTo>
                <a:lnTo>
                  <a:pt x="0" y="1828270"/>
                </a:lnTo>
                <a:lnTo>
                  <a:pt x="582761" y="1828270"/>
                </a:lnTo>
                <a:lnTo>
                  <a:pt x="58276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MA"/>
          </a:p>
        </p:txBody>
      </p:sp>
      <p:sp>
        <p:nvSpPr>
          <p:cNvPr id="9" name="Freeform 9"/>
          <p:cNvSpPr/>
          <p:nvPr/>
        </p:nvSpPr>
        <p:spPr>
          <a:xfrm rot="-9717398">
            <a:off x="8821165" y="6427499"/>
            <a:ext cx="681344" cy="1899217"/>
          </a:xfrm>
          <a:custGeom>
            <a:avLst/>
            <a:gdLst/>
            <a:ahLst/>
            <a:cxnLst/>
            <a:rect l="l" t="t" r="r" b="b"/>
            <a:pathLst>
              <a:path w="681344" h="1899217">
                <a:moveTo>
                  <a:pt x="0" y="0"/>
                </a:moveTo>
                <a:lnTo>
                  <a:pt x="681345" y="0"/>
                </a:lnTo>
                <a:lnTo>
                  <a:pt x="681345" y="1899217"/>
                </a:lnTo>
                <a:lnTo>
                  <a:pt x="0" y="189921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MA"/>
          </a:p>
        </p:txBody>
      </p:sp>
      <p:grpSp>
        <p:nvGrpSpPr>
          <p:cNvPr id="10" name="Group 10"/>
          <p:cNvGrpSpPr/>
          <p:nvPr/>
        </p:nvGrpSpPr>
        <p:grpSpPr>
          <a:xfrm>
            <a:off x="7817390" y="8237222"/>
            <a:ext cx="2653220" cy="909621"/>
            <a:chOff x="0" y="0"/>
            <a:chExt cx="840611" cy="288192"/>
          </a:xfrm>
        </p:grpSpPr>
        <p:sp>
          <p:nvSpPr>
            <p:cNvPr id="11" name="Freeform 11"/>
            <p:cNvSpPr/>
            <p:nvPr/>
          </p:nvSpPr>
          <p:spPr>
            <a:xfrm>
              <a:off x="0" y="0"/>
              <a:ext cx="840611" cy="288192"/>
            </a:xfrm>
            <a:custGeom>
              <a:avLst/>
              <a:gdLst/>
              <a:ahLst/>
              <a:cxnLst/>
              <a:rect l="l" t="t" r="r" b="b"/>
              <a:pathLst>
                <a:path w="840611" h="288192">
                  <a:moveTo>
                    <a:pt x="144096" y="0"/>
                  </a:moveTo>
                  <a:lnTo>
                    <a:pt x="696515" y="0"/>
                  </a:lnTo>
                  <a:cubicBezTo>
                    <a:pt x="734731" y="0"/>
                    <a:pt x="771383" y="15181"/>
                    <a:pt x="798406" y="42205"/>
                  </a:cubicBezTo>
                  <a:cubicBezTo>
                    <a:pt x="825429" y="69228"/>
                    <a:pt x="840611" y="105879"/>
                    <a:pt x="840611" y="144096"/>
                  </a:cubicBezTo>
                  <a:lnTo>
                    <a:pt x="840611" y="144096"/>
                  </a:lnTo>
                  <a:cubicBezTo>
                    <a:pt x="840611" y="182313"/>
                    <a:pt x="825429" y="218964"/>
                    <a:pt x="798406" y="245987"/>
                  </a:cubicBezTo>
                  <a:cubicBezTo>
                    <a:pt x="771383" y="273010"/>
                    <a:pt x="734731" y="288192"/>
                    <a:pt x="696515" y="288192"/>
                  </a:cubicBezTo>
                  <a:lnTo>
                    <a:pt x="144096" y="288192"/>
                  </a:lnTo>
                  <a:cubicBezTo>
                    <a:pt x="105879" y="288192"/>
                    <a:pt x="69228" y="273010"/>
                    <a:pt x="42205" y="245987"/>
                  </a:cubicBezTo>
                  <a:cubicBezTo>
                    <a:pt x="15181" y="218964"/>
                    <a:pt x="0" y="182313"/>
                    <a:pt x="0" y="144096"/>
                  </a:cubicBezTo>
                  <a:lnTo>
                    <a:pt x="0" y="144096"/>
                  </a:lnTo>
                  <a:cubicBezTo>
                    <a:pt x="0" y="105879"/>
                    <a:pt x="15181" y="69228"/>
                    <a:pt x="42205" y="42205"/>
                  </a:cubicBezTo>
                  <a:cubicBezTo>
                    <a:pt x="69228" y="15181"/>
                    <a:pt x="105879" y="0"/>
                    <a:pt x="144096" y="0"/>
                  </a:cubicBezTo>
                  <a:close/>
                </a:path>
              </a:pathLst>
            </a:custGeom>
            <a:solidFill>
              <a:srgbClr val="343131"/>
            </a:solidFill>
            <a:ln w="9525" cap="rnd">
              <a:solidFill>
                <a:srgbClr val="E4E2DE"/>
              </a:solidFill>
              <a:prstDash val="solid"/>
              <a:round/>
            </a:ln>
          </p:spPr>
          <p:txBody>
            <a:bodyPr/>
            <a:lstStyle/>
            <a:p>
              <a:endParaRPr lang="fr-MA"/>
            </a:p>
          </p:txBody>
        </p:sp>
        <p:sp>
          <p:nvSpPr>
            <p:cNvPr id="12" name="TextBox 12"/>
            <p:cNvSpPr txBox="1"/>
            <p:nvPr/>
          </p:nvSpPr>
          <p:spPr>
            <a:xfrm>
              <a:off x="0" y="-66675"/>
              <a:ext cx="840611" cy="354867"/>
            </a:xfrm>
            <a:prstGeom prst="rect">
              <a:avLst/>
            </a:prstGeom>
          </p:spPr>
          <p:txBody>
            <a:bodyPr lIns="50800" tIns="50800" rIns="50800" bIns="50800" rtlCol="0" anchor="ctr"/>
            <a:lstStyle/>
            <a:p>
              <a:pPr marL="0" lvl="0" indent="0" algn="ctr">
                <a:lnSpc>
                  <a:spcPts val="4912"/>
                </a:lnSpc>
              </a:pPr>
              <a:r>
                <a:rPr lang="en-US" sz="3509" b="1">
                  <a:solidFill>
                    <a:srgbClr val="E4E2DE"/>
                  </a:solidFill>
                  <a:latin typeface="Lora Bold"/>
                  <a:ea typeface="Lora Bold"/>
                  <a:cs typeface="Lora Bold"/>
                  <a:sym typeface="Lora Bold"/>
                </a:rPr>
                <a:t>System</a:t>
              </a:r>
            </a:p>
          </p:txBody>
        </p:sp>
      </p:grpSp>
      <p:grpSp>
        <p:nvGrpSpPr>
          <p:cNvPr id="13" name="Group 13"/>
          <p:cNvGrpSpPr/>
          <p:nvPr/>
        </p:nvGrpSpPr>
        <p:grpSpPr>
          <a:xfrm>
            <a:off x="1028700" y="6808491"/>
            <a:ext cx="759028" cy="568617"/>
            <a:chOff x="0" y="0"/>
            <a:chExt cx="199909" cy="149759"/>
          </a:xfrm>
        </p:grpSpPr>
        <p:sp>
          <p:nvSpPr>
            <p:cNvPr id="14" name="Freeform 14"/>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15" name="TextBox 15"/>
            <p:cNvSpPr txBox="1"/>
            <p:nvPr/>
          </p:nvSpPr>
          <p:spPr>
            <a:xfrm>
              <a:off x="0" y="-28575"/>
              <a:ext cx="199909" cy="178334"/>
            </a:xfrm>
            <a:prstGeom prst="rect">
              <a:avLst/>
            </a:prstGeom>
          </p:spPr>
          <p:txBody>
            <a:bodyPr lIns="50800" tIns="50800" rIns="50800" bIns="50800" rtlCol="0" anchor="ctr"/>
            <a:lstStyle/>
            <a:p>
              <a:pPr marL="0" lvl="0" indent="0" algn="ctr">
                <a:lnSpc>
                  <a:spcPts val="2285"/>
                </a:lnSpc>
              </a:pPr>
              <a:r>
                <a:rPr lang="en-US" sz="1632">
                  <a:solidFill>
                    <a:srgbClr val="343131"/>
                  </a:solidFill>
                  <a:latin typeface="Lora"/>
                  <a:ea typeface="Lora"/>
                  <a:cs typeface="Lora"/>
                  <a:sym typeface="Lora"/>
                </a:rPr>
                <a:t>1</a:t>
              </a:r>
            </a:p>
          </p:txBody>
        </p:sp>
      </p:grpSp>
      <p:grpSp>
        <p:nvGrpSpPr>
          <p:cNvPr id="16" name="Group 16"/>
          <p:cNvGrpSpPr/>
          <p:nvPr/>
        </p:nvGrpSpPr>
        <p:grpSpPr>
          <a:xfrm>
            <a:off x="1786265" y="4033216"/>
            <a:ext cx="759028" cy="568617"/>
            <a:chOff x="0" y="0"/>
            <a:chExt cx="199909" cy="149759"/>
          </a:xfrm>
        </p:grpSpPr>
        <p:sp>
          <p:nvSpPr>
            <p:cNvPr id="17" name="Freeform 17"/>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18" name="TextBox 18"/>
            <p:cNvSpPr txBox="1"/>
            <p:nvPr/>
          </p:nvSpPr>
          <p:spPr>
            <a:xfrm>
              <a:off x="0" y="-28575"/>
              <a:ext cx="199909" cy="178334"/>
            </a:xfrm>
            <a:prstGeom prst="rect">
              <a:avLst/>
            </a:prstGeom>
          </p:spPr>
          <p:txBody>
            <a:bodyPr lIns="50800" tIns="50800" rIns="50800" bIns="50800" rtlCol="0" anchor="ctr"/>
            <a:lstStyle/>
            <a:p>
              <a:pPr marL="0" lvl="0" indent="0" algn="ctr">
                <a:lnSpc>
                  <a:spcPts val="2285"/>
                </a:lnSpc>
              </a:pPr>
              <a:r>
                <a:rPr lang="en-US" sz="1632">
                  <a:solidFill>
                    <a:srgbClr val="343131"/>
                  </a:solidFill>
                  <a:latin typeface="Lora"/>
                  <a:ea typeface="Lora"/>
                  <a:cs typeface="Lora"/>
                  <a:sym typeface="Lora"/>
                </a:rPr>
                <a:t>2</a:t>
              </a:r>
            </a:p>
          </p:txBody>
        </p:sp>
      </p:grpSp>
      <p:grpSp>
        <p:nvGrpSpPr>
          <p:cNvPr id="19" name="Group 19"/>
          <p:cNvGrpSpPr/>
          <p:nvPr/>
        </p:nvGrpSpPr>
        <p:grpSpPr>
          <a:xfrm>
            <a:off x="6883259" y="4033216"/>
            <a:ext cx="759028" cy="568617"/>
            <a:chOff x="0" y="0"/>
            <a:chExt cx="199909" cy="149759"/>
          </a:xfrm>
        </p:grpSpPr>
        <p:sp>
          <p:nvSpPr>
            <p:cNvPr id="20" name="Freeform 20"/>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1" name="TextBox 21"/>
            <p:cNvSpPr txBox="1"/>
            <p:nvPr/>
          </p:nvSpPr>
          <p:spPr>
            <a:xfrm>
              <a:off x="0" y="-28575"/>
              <a:ext cx="199909" cy="178334"/>
            </a:xfrm>
            <a:prstGeom prst="rect">
              <a:avLst/>
            </a:prstGeom>
          </p:spPr>
          <p:txBody>
            <a:bodyPr lIns="50800" tIns="50800" rIns="50800" bIns="50800" rtlCol="0" anchor="ctr"/>
            <a:lstStyle/>
            <a:p>
              <a:pPr marL="0" lvl="0" indent="0" algn="ctr">
                <a:lnSpc>
                  <a:spcPts val="2285"/>
                </a:lnSpc>
              </a:pPr>
              <a:r>
                <a:rPr lang="en-US" sz="1632">
                  <a:solidFill>
                    <a:srgbClr val="343131"/>
                  </a:solidFill>
                  <a:latin typeface="Lora"/>
                  <a:ea typeface="Lora"/>
                  <a:cs typeface="Lora"/>
                  <a:sym typeface="Lora"/>
                </a:rPr>
                <a:t>3</a:t>
              </a:r>
            </a:p>
          </p:txBody>
        </p:sp>
      </p:grpSp>
      <p:grpSp>
        <p:nvGrpSpPr>
          <p:cNvPr id="22" name="Group 22"/>
          <p:cNvGrpSpPr/>
          <p:nvPr/>
        </p:nvGrpSpPr>
        <p:grpSpPr>
          <a:xfrm>
            <a:off x="11969112" y="4033216"/>
            <a:ext cx="759028" cy="568617"/>
            <a:chOff x="0" y="0"/>
            <a:chExt cx="199909" cy="149759"/>
          </a:xfrm>
        </p:grpSpPr>
        <p:sp>
          <p:nvSpPr>
            <p:cNvPr id="23" name="Freeform 23"/>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4" name="TextBox 24"/>
            <p:cNvSpPr txBox="1"/>
            <p:nvPr/>
          </p:nvSpPr>
          <p:spPr>
            <a:xfrm>
              <a:off x="0" y="-28575"/>
              <a:ext cx="199909" cy="178334"/>
            </a:xfrm>
            <a:prstGeom prst="rect">
              <a:avLst/>
            </a:prstGeom>
          </p:spPr>
          <p:txBody>
            <a:bodyPr lIns="50800" tIns="50800" rIns="50800" bIns="50800" rtlCol="0" anchor="ctr"/>
            <a:lstStyle/>
            <a:p>
              <a:pPr marL="0" lvl="0" indent="0" algn="ctr">
                <a:lnSpc>
                  <a:spcPts val="2285"/>
                </a:lnSpc>
              </a:pPr>
              <a:r>
                <a:rPr lang="en-US" sz="1632">
                  <a:solidFill>
                    <a:srgbClr val="343131"/>
                  </a:solidFill>
                  <a:latin typeface="Lora"/>
                  <a:ea typeface="Lora"/>
                  <a:cs typeface="Lora"/>
                  <a:sym typeface="Lora"/>
                </a:rPr>
                <a:t>4</a:t>
              </a:r>
            </a:p>
          </p:txBody>
        </p:sp>
      </p:grpSp>
      <p:grpSp>
        <p:nvGrpSpPr>
          <p:cNvPr id="25" name="Group 25"/>
          <p:cNvGrpSpPr/>
          <p:nvPr/>
        </p:nvGrpSpPr>
        <p:grpSpPr>
          <a:xfrm>
            <a:off x="11969112" y="6808491"/>
            <a:ext cx="759028" cy="568617"/>
            <a:chOff x="0" y="0"/>
            <a:chExt cx="199909" cy="149759"/>
          </a:xfrm>
        </p:grpSpPr>
        <p:sp>
          <p:nvSpPr>
            <p:cNvPr id="26" name="Freeform 26"/>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7" name="TextBox 27"/>
            <p:cNvSpPr txBox="1"/>
            <p:nvPr/>
          </p:nvSpPr>
          <p:spPr>
            <a:xfrm>
              <a:off x="0" y="-28575"/>
              <a:ext cx="199909" cy="178334"/>
            </a:xfrm>
            <a:prstGeom prst="rect">
              <a:avLst/>
            </a:prstGeom>
          </p:spPr>
          <p:txBody>
            <a:bodyPr lIns="50800" tIns="50800" rIns="50800" bIns="50800" rtlCol="0" anchor="ctr"/>
            <a:lstStyle/>
            <a:p>
              <a:pPr marL="0" lvl="0" indent="0" algn="ctr">
                <a:lnSpc>
                  <a:spcPts val="2285"/>
                </a:lnSpc>
              </a:pPr>
              <a:r>
                <a:rPr lang="en-US" sz="1632">
                  <a:solidFill>
                    <a:srgbClr val="343131"/>
                  </a:solidFill>
                  <a:latin typeface="Lora"/>
                  <a:ea typeface="Lora"/>
                  <a:cs typeface="Lora"/>
                  <a:sym typeface="Lora"/>
                </a:rPr>
                <a:t>5</a:t>
              </a:r>
            </a:p>
          </p:txBody>
        </p:sp>
      </p:grpSp>
      <p:sp>
        <p:nvSpPr>
          <p:cNvPr id="28" name="TextBox 28"/>
          <p:cNvSpPr txBox="1"/>
          <p:nvPr/>
        </p:nvSpPr>
        <p:spPr>
          <a:xfrm>
            <a:off x="7832906" y="3931799"/>
            <a:ext cx="3600989" cy="1406561"/>
          </a:xfrm>
          <a:prstGeom prst="rect">
            <a:avLst/>
          </a:prstGeom>
        </p:spPr>
        <p:txBody>
          <a:bodyPr lIns="0" tIns="0" rIns="0" bIns="0" rtlCol="0" anchor="t">
            <a:spAutoFit/>
          </a:bodyPr>
          <a:lstStyle/>
          <a:p>
            <a:pPr marL="0" lvl="0" indent="0" algn="just">
              <a:lnSpc>
                <a:spcPts val="2798"/>
              </a:lnSpc>
              <a:spcBef>
                <a:spcPct val="0"/>
              </a:spcBef>
            </a:pPr>
            <a:r>
              <a:rPr lang="en-US" sz="1998">
                <a:solidFill>
                  <a:srgbClr val="E4E2DE"/>
                </a:solidFill>
                <a:latin typeface="Glacial Indifference"/>
                <a:ea typeface="Glacial Indifference"/>
                <a:cs typeface="Glacial Indifference"/>
                <a:sym typeface="Glacial Indifference"/>
              </a:rPr>
              <a:t>BL2 (Secondary Bootloader)</a:t>
            </a:r>
          </a:p>
          <a:p>
            <a:pPr marL="0" lvl="0" indent="0" algn="just">
              <a:lnSpc>
                <a:spcPts val="2798"/>
              </a:lnSpc>
              <a:spcBef>
                <a:spcPct val="0"/>
              </a:spcBef>
            </a:pPr>
            <a:r>
              <a:rPr lang="en-US" sz="1998">
                <a:solidFill>
                  <a:srgbClr val="E4E2DE"/>
                </a:solidFill>
                <a:latin typeface="Glacial Indifference"/>
                <a:ea typeface="Glacial Indifference"/>
                <a:cs typeface="Glacial Indifference"/>
                <a:sym typeface="Glacial Indifference"/>
              </a:rPr>
              <a:t>Charge et authentifie le kernel Android. Gère les partitions A/B et le rollback protection.</a:t>
            </a:r>
          </a:p>
        </p:txBody>
      </p:sp>
      <p:sp>
        <p:nvSpPr>
          <p:cNvPr id="29" name="TextBox 29"/>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E4E2DE"/>
                </a:solidFill>
                <a:latin typeface="Lora"/>
                <a:ea typeface="Lora"/>
                <a:cs typeface="Lora"/>
                <a:sym typeface="Lora"/>
              </a:rPr>
              <a:t>DIRS Framework</a:t>
            </a:r>
          </a:p>
        </p:txBody>
      </p:sp>
      <p:sp>
        <p:nvSpPr>
          <p:cNvPr id="30" name="TextBox 30"/>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E4E2DE"/>
                </a:solidFill>
                <a:latin typeface="Lora"/>
                <a:ea typeface="Lora"/>
                <a:cs typeface="Lora"/>
                <a:sym typeface="Lora"/>
              </a:rPr>
              <a:t>Architecture &amp; Ingénierie</a:t>
            </a:r>
          </a:p>
        </p:txBody>
      </p:sp>
      <p:sp>
        <p:nvSpPr>
          <p:cNvPr id="31" name="TextBox 31"/>
          <p:cNvSpPr txBox="1"/>
          <p:nvPr/>
        </p:nvSpPr>
        <p:spPr>
          <a:xfrm>
            <a:off x="3379976" y="2511078"/>
            <a:ext cx="7888719" cy="587886"/>
          </a:xfrm>
          <a:prstGeom prst="rect">
            <a:avLst/>
          </a:prstGeom>
        </p:spPr>
        <p:txBody>
          <a:bodyPr lIns="0" tIns="0" rIns="0" bIns="0" rtlCol="0" anchor="t">
            <a:spAutoFit/>
          </a:bodyPr>
          <a:lstStyle/>
          <a:p>
            <a:pPr marL="0" lvl="0" indent="0" algn="l">
              <a:lnSpc>
                <a:spcPts val="4692"/>
              </a:lnSpc>
            </a:pPr>
            <a:r>
              <a:rPr lang="en-US" sz="4080">
                <a:solidFill>
                  <a:srgbClr val="E4E2DE"/>
                </a:solidFill>
                <a:latin typeface="Libre Baskerville"/>
                <a:ea typeface="Libre Baskerville"/>
                <a:cs typeface="Libre Baskerville"/>
                <a:sym typeface="Libre Baskerville"/>
              </a:rPr>
              <a:t>Focus Intégrité – Chaîne AVB</a:t>
            </a:r>
          </a:p>
        </p:txBody>
      </p:sp>
      <p:sp>
        <p:nvSpPr>
          <p:cNvPr id="32" name="TextBox 32"/>
          <p:cNvSpPr txBox="1"/>
          <p:nvPr/>
        </p:nvSpPr>
        <p:spPr>
          <a:xfrm>
            <a:off x="12930377" y="6760866"/>
            <a:ext cx="4328923" cy="1406561"/>
          </a:xfrm>
          <a:prstGeom prst="rect">
            <a:avLst/>
          </a:prstGeom>
        </p:spPr>
        <p:txBody>
          <a:bodyPr lIns="0" tIns="0" rIns="0" bIns="0" rtlCol="0" anchor="t">
            <a:spAutoFit/>
          </a:bodyPr>
          <a:lstStyle/>
          <a:p>
            <a:pPr marL="0" lvl="0" indent="0" algn="just">
              <a:lnSpc>
                <a:spcPts val="2798"/>
              </a:lnSpc>
              <a:spcBef>
                <a:spcPct val="0"/>
              </a:spcBef>
            </a:pPr>
            <a:r>
              <a:rPr lang="en-US" sz="1998">
                <a:solidFill>
                  <a:srgbClr val="E4E2DE"/>
                </a:solidFill>
                <a:latin typeface="Glacial Indifference"/>
                <a:ea typeface="Glacial Indifference"/>
                <a:cs typeface="Glacial Indifference"/>
                <a:sym typeface="Glacial Indifference"/>
              </a:rPr>
              <a:t>System Partition</a:t>
            </a:r>
          </a:p>
          <a:p>
            <a:pPr marL="0" lvl="0" indent="0" algn="just">
              <a:lnSpc>
                <a:spcPts val="2798"/>
              </a:lnSpc>
              <a:spcBef>
                <a:spcPct val="0"/>
              </a:spcBef>
            </a:pPr>
            <a:r>
              <a:rPr lang="en-US" sz="1998">
                <a:solidFill>
                  <a:srgbClr val="E4E2DE"/>
                </a:solidFill>
                <a:latin typeface="Glacial Indifference"/>
                <a:ea typeface="Glacial Indifference"/>
                <a:cs typeface="Glacial Indifference"/>
                <a:sym typeface="Glacial Indifference"/>
              </a:rPr>
              <a:t>Partition système protégée par dm-verity. États AVB : VERIFIED ✓ | SELF-SIGNED ! | ORANGE ⚠ | RED ✗</a:t>
            </a:r>
          </a:p>
        </p:txBody>
      </p:sp>
      <p:sp>
        <p:nvSpPr>
          <p:cNvPr id="33" name="TextBox 33"/>
          <p:cNvSpPr txBox="1"/>
          <p:nvPr/>
        </p:nvSpPr>
        <p:spPr>
          <a:xfrm>
            <a:off x="1974543" y="6760866"/>
            <a:ext cx="4328923" cy="1758986"/>
          </a:xfrm>
          <a:prstGeom prst="rect">
            <a:avLst/>
          </a:prstGeom>
        </p:spPr>
        <p:txBody>
          <a:bodyPr lIns="0" tIns="0" rIns="0" bIns="0" rtlCol="0" anchor="t">
            <a:spAutoFit/>
          </a:bodyPr>
          <a:lstStyle/>
          <a:p>
            <a:pPr marL="0" lvl="0" indent="0" algn="just">
              <a:lnSpc>
                <a:spcPts val="2798"/>
              </a:lnSpc>
              <a:spcBef>
                <a:spcPct val="0"/>
              </a:spcBef>
            </a:pPr>
            <a:r>
              <a:rPr lang="en-US" sz="1998">
                <a:solidFill>
                  <a:srgbClr val="E4E2DE"/>
                </a:solidFill>
                <a:latin typeface="Glacial Indifference"/>
                <a:ea typeface="Glacial Indifference"/>
                <a:cs typeface="Glacial Indifference"/>
                <a:sym typeface="Glacial Indifference"/>
              </a:rPr>
              <a:t>BootROM</a:t>
            </a:r>
          </a:p>
          <a:p>
            <a:pPr marL="0" lvl="0" indent="0" algn="just">
              <a:lnSpc>
                <a:spcPts val="2798"/>
              </a:lnSpc>
              <a:spcBef>
                <a:spcPct val="0"/>
              </a:spcBef>
            </a:pPr>
            <a:r>
              <a:rPr lang="en-US" sz="1998">
                <a:solidFill>
                  <a:srgbClr val="E4E2DE"/>
                </a:solidFill>
                <a:latin typeface="Glacial Indifference"/>
                <a:ea typeface="Glacial Indifference"/>
                <a:cs typeface="Glacial Indifference"/>
                <a:sym typeface="Glacial Indifference"/>
              </a:rPr>
              <a:t>Racine de confiance immuable gravée dans le silicium. Point d'ancrage cryptographique de toute la chaîne de démarrage.</a:t>
            </a:r>
          </a:p>
        </p:txBody>
      </p:sp>
      <p:sp>
        <p:nvSpPr>
          <p:cNvPr id="34" name="TextBox 34"/>
          <p:cNvSpPr txBox="1"/>
          <p:nvPr/>
        </p:nvSpPr>
        <p:spPr>
          <a:xfrm>
            <a:off x="2764390" y="3985591"/>
            <a:ext cx="3600989" cy="1406561"/>
          </a:xfrm>
          <a:prstGeom prst="rect">
            <a:avLst/>
          </a:prstGeom>
        </p:spPr>
        <p:txBody>
          <a:bodyPr lIns="0" tIns="0" rIns="0" bIns="0" rtlCol="0" anchor="t">
            <a:spAutoFit/>
          </a:bodyPr>
          <a:lstStyle/>
          <a:p>
            <a:pPr marL="0" lvl="0" indent="0" algn="just">
              <a:lnSpc>
                <a:spcPts val="2798"/>
              </a:lnSpc>
              <a:spcBef>
                <a:spcPct val="0"/>
              </a:spcBef>
            </a:pPr>
            <a:r>
              <a:rPr lang="en-US" sz="1998">
                <a:solidFill>
                  <a:srgbClr val="E4E2DE"/>
                </a:solidFill>
                <a:latin typeface="Glacial Indifference"/>
                <a:ea typeface="Glacial Indifference"/>
                <a:cs typeface="Glacial Indifference"/>
                <a:sym typeface="Glacial Indifference"/>
              </a:rPr>
              <a:t>BL1 (Primary Bootloader)</a:t>
            </a:r>
          </a:p>
          <a:p>
            <a:pPr marL="0" lvl="0" indent="0" algn="just">
              <a:lnSpc>
                <a:spcPts val="2798"/>
              </a:lnSpc>
              <a:spcBef>
                <a:spcPct val="0"/>
              </a:spcBef>
            </a:pPr>
            <a:r>
              <a:rPr lang="en-US" sz="1998">
                <a:solidFill>
                  <a:srgbClr val="E4E2DE"/>
                </a:solidFill>
                <a:latin typeface="Glacial Indifference"/>
                <a:ea typeface="Glacial Indifference"/>
                <a:cs typeface="Glacial Indifference"/>
                <a:sym typeface="Glacial Indifference"/>
              </a:rPr>
              <a:t>Premier code exécuté après BootROM. Vérifie la signature du BL2 avant transfert de contrôle.</a:t>
            </a:r>
          </a:p>
        </p:txBody>
      </p:sp>
      <p:sp>
        <p:nvSpPr>
          <p:cNvPr id="35" name="TextBox 35"/>
          <p:cNvSpPr txBox="1"/>
          <p:nvPr/>
        </p:nvSpPr>
        <p:spPr>
          <a:xfrm>
            <a:off x="12900745" y="3931799"/>
            <a:ext cx="3600989" cy="1406561"/>
          </a:xfrm>
          <a:prstGeom prst="rect">
            <a:avLst/>
          </a:prstGeom>
        </p:spPr>
        <p:txBody>
          <a:bodyPr lIns="0" tIns="0" rIns="0" bIns="0" rtlCol="0" anchor="t">
            <a:spAutoFit/>
          </a:bodyPr>
          <a:lstStyle/>
          <a:p>
            <a:pPr marL="0" lvl="0" indent="0" algn="just">
              <a:lnSpc>
                <a:spcPts val="2798"/>
              </a:lnSpc>
              <a:spcBef>
                <a:spcPct val="0"/>
              </a:spcBef>
            </a:pPr>
            <a:r>
              <a:rPr lang="en-US" sz="1998">
                <a:solidFill>
                  <a:srgbClr val="E4E2DE"/>
                </a:solidFill>
                <a:latin typeface="Glacial Indifference"/>
                <a:ea typeface="Glacial Indifference"/>
                <a:cs typeface="Glacial Indifference"/>
                <a:sym typeface="Glacial Indifference"/>
              </a:rPr>
              <a:t>Kernel Linux</a:t>
            </a:r>
          </a:p>
          <a:p>
            <a:pPr marL="0" lvl="0" indent="0" algn="just">
              <a:lnSpc>
                <a:spcPts val="2798"/>
              </a:lnSpc>
              <a:spcBef>
                <a:spcPct val="0"/>
              </a:spcBef>
            </a:pPr>
            <a:r>
              <a:rPr lang="en-US" sz="1998">
                <a:solidFill>
                  <a:srgbClr val="E4E2DE"/>
                </a:solidFill>
                <a:latin typeface="Glacial Indifference"/>
                <a:ea typeface="Glacial Indifference"/>
                <a:cs typeface="Glacial Indifference"/>
                <a:sym typeface="Glacial Indifference"/>
              </a:rPr>
              <a:t>Noyau Android signé. Initialise SELinux, dm-verity et les politiques de sécurité système.</a:t>
            </a:r>
          </a:p>
        </p:txBody>
      </p:sp>
      <p:sp>
        <p:nvSpPr>
          <p:cNvPr id="36" name="Freeform 36"/>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5"/>
            <a:stretch>
              <a:fillRect/>
            </a:stretch>
          </a:blipFill>
        </p:spPr>
        <p:txBody>
          <a:bodyPr/>
          <a:lstStyle/>
          <a:p>
            <a:endParaRPr lang="fr-MA"/>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14</a:t>
              </a:r>
            </a:p>
          </p:txBody>
        </p:sp>
      </p:grpSp>
      <p:grpSp>
        <p:nvGrpSpPr>
          <p:cNvPr id="7" name="Group 7"/>
          <p:cNvGrpSpPr/>
          <p:nvPr/>
        </p:nvGrpSpPr>
        <p:grpSpPr>
          <a:xfrm>
            <a:off x="2876353" y="4210874"/>
            <a:ext cx="2653220" cy="523875"/>
            <a:chOff x="0" y="0"/>
            <a:chExt cx="840611" cy="165978"/>
          </a:xfrm>
        </p:grpSpPr>
        <p:sp>
          <p:nvSpPr>
            <p:cNvPr id="8" name="Freeform 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9" name="TextBox 9"/>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SuBinary Detection</a:t>
              </a:r>
            </a:p>
          </p:txBody>
        </p:sp>
      </p:grpSp>
      <p:grpSp>
        <p:nvGrpSpPr>
          <p:cNvPr id="10" name="Group 10"/>
          <p:cNvGrpSpPr/>
          <p:nvPr/>
        </p:nvGrpSpPr>
        <p:grpSpPr>
          <a:xfrm>
            <a:off x="1469091" y="4579156"/>
            <a:ext cx="1636842" cy="163684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a:stretch>
            </a:blipFill>
          </p:spPr>
          <p:txBody>
            <a:bodyPr/>
            <a:lstStyle/>
            <a:p>
              <a:endParaRPr lang="fr-MA"/>
            </a:p>
          </p:txBody>
        </p:sp>
      </p:grpSp>
      <p:grpSp>
        <p:nvGrpSpPr>
          <p:cNvPr id="12" name="Group 12"/>
          <p:cNvGrpSpPr/>
          <p:nvPr/>
        </p:nvGrpSpPr>
        <p:grpSpPr>
          <a:xfrm>
            <a:off x="2876353" y="6930374"/>
            <a:ext cx="2653220" cy="523875"/>
            <a:chOff x="0" y="0"/>
            <a:chExt cx="840611" cy="165978"/>
          </a:xfrm>
        </p:grpSpPr>
        <p:sp>
          <p:nvSpPr>
            <p:cNvPr id="13" name="Freeform 1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4" name="TextBox 14"/>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Magisk Fingerprint</a:t>
              </a:r>
            </a:p>
          </p:txBody>
        </p:sp>
      </p:grpSp>
      <p:grpSp>
        <p:nvGrpSpPr>
          <p:cNvPr id="15" name="Group 15"/>
          <p:cNvGrpSpPr/>
          <p:nvPr/>
        </p:nvGrpSpPr>
        <p:grpSpPr>
          <a:xfrm>
            <a:off x="1469091" y="7298656"/>
            <a:ext cx="1636842" cy="163684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fr-MA"/>
            </a:p>
          </p:txBody>
        </p:sp>
      </p:grpSp>
      <p:grpSp>
        <p:nvGrpSpPr>
          <p:cNvPr id="17" name="Group 17"/>
          <p:cNvGrpSpPr/>
          <p:nvPr/>
        </p:nvGrpSpPr>
        <p:grpSpPr>
          <a:xfrm>
            <a:off x="11063370" y="4210874"/>
            <a:ext cx="2653220" cy="523875"/>
            <a:chOff x="0" y="0"/>
            <a:chExt cx="840611" cy="165978"/>
          </a:xfrm>
        </p:grpSpPr>
        <p:sp>
          <p:nvSpPr>
            <p:cNvPr id="18" name="Freeform 1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9" name="TextBox 19"/>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Magisk Hide Bypass</a:t>
              </a:r>
            </a:p>
          </p:txBody>
        </p:sp>
      </p:grpSp>
      <p:grpSp>
        <p:nvGrpSpPr>
          <p:cNvPr id="20" name="Group 20"/>
          <p:cNvGrpSpPr/>
          <p:nvPr/>
        </p:nvGrpSpPr>
        <p:grpSpPr>
          <a:xfrm>
            <a:off x="9656109" y="4579156"/>
            <a:ext cx="1636842" cy="163684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fr-MA"/>
            </a:p>
          </p:txBody>
        </p:sp>
      </p:grpSp>
      <p:grpSp>
        <p:nvGrpSpPr>
          <p:cNvPr id="22" name="Group 22"/>
          <p:cNvGrpSpPr/>
          <p:nvPr/>
        </p:nvGrpSpPr>
        <p:grpSpPr>
          <a:xfrm>
            <a:off x="11063370" y="6930374"/>
            <a:ext cx="2653220" cy="523875"/>
            <a:chOff x="0" y="0"/>
            <a:chExt cx="840611" cy="165978"/>
          </a:xfrm>
        </p:grpSpPr>
        <p:sp>
          <p:nvSpPr>
            <p:cNvPr id="23" name="Freeform 2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24" name="TextBox 24"/>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SELinux Audit</a:t>
              </a:r>
            </a:p>
          </p:txBody>
        </p:sp>
      </p:grpSp>
      <p:grpSp>
        <p:nvGrpSpPr>
          <p:cNvPr id="25" name="Group 25"/>
          <p:cNvGrpSpPr/>
          <p:nvPr/>
        </p:nvGrpSpPr>
        <p:grpSpPr>
          <a:xfrm>
            <a:off x="9656109" y="7298656"/>
            <a:ext cx="1636842" cy="163684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a:stretch>
            </a:blipFill>
          </p:spPr>
          <p:txBody>
            <a:bodyPr/>
            <a:lstStyle/>
            <a:p>
              <a:endParaRPr lang="fr-MA"/>
            </a:p>
          </p:txBody>
        </p:sp>
      </p:grpSp>
      <p:sp>
        <p:nvSpPr>
          <p:cNvPr id="27" name="TextBox 27"/>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Framework</a:t>
            </a:r>
          </a:p>
        </p:txBody>
      </p:sp>
      <p:sp>
        <p:nvSpPr>
          <p:cNvPr id="28" name="TextBox 28"/>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Device Integrity &amp; Risk Scorer</a:t>
            </a:r>
          </a:p>
        </p:txBody>
      </p:sp>
      <p:sp>
        <p:nvSpPr>
          <p:cNvPr id="29" name="TextBox 29"/>
          <p:cNvSpPr txBox="1"/>
          <p:nvPr/>
        </p:nvSpPr>
        <p:spPr>
          <a:xfrm>
            <a:off x="3379976" y="2511078"/>
            <a:ext cx="5250651" cy="727052"/>
          </a:xfrm>
          <a:prstGeom prst="rect">
            <a:avLst/>
          </a:prstGeom>
        </p:spPr>
        <p:txBody>
          <a:bodyPr lIns="0" tIns="0" rIns="0" bIns="0" rtlCol="0" anchor="t">
            <a:spAutoFit/>
          </a:bodyPr>
          <a:lstStyle/>
          <a:p>
            <a:pPr marL="0" lvl="0" indent="0" algn="l">
              <a:lnSpc>
                <a:spcPts val="5745"/>
              </a:lnSpc>
            </a:pPr>
            <a:r>
              <a:rPr lang="en-US" sz="4996">
                <a:solidFill>
                  <a:srgbClr val="000000"/>
                </a:solidFill>
                <a:latin typeface="Libre Baskerville"/>
                <a:ea typeface="Libre Baskerville"/>
                <a:cs typeface="Libre Baskerville"/>
                <a:sym typeface="Libre Baskerville"/>
              </a:rPr>
              <a:t>Focus Privilèges</a:t>
            </a:r>
          </a:p>
        </p:txBody>
      </p:sp>
      <p:sp>
        <p:nvSpPr>
          <p:cNvPr id="30" name="TextBox 30"/>
          <p:cNvSpPr txBox="1"/>
          <p:nvPr/>
        </p:nvSpPr>
        <p:spPr>
          <a:xfrm>
            <a:off x="3289625" y="4809473"/>
            <a:ext cx="5342267" cy="1406561"/>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Sévérité : CRITICAL</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Détection binaires su/sudo dans PATH système. Scan /system/bin, /system/xbin, /sbin. Vérification permissions SUID.</a:t>
            </a:r>
          </a:p>
        </p:txBody>
      </p:sp>
      <p:sp>
        <p:nvSpPr>
          <p:cNvPr id="31" name="TextBox 31"/>
          <p:cNvSpPr txBox="1"/>
          <p:nvPr/>
        </p:nvSpPr>
        <p:spPr>
          <a:xfrm>
            <a:off x="3289625" y="7528973"/>
            <a:ext cx="5342267" cy="1406561"/>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Sévérité : HIGH</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Identification signatures Magisk : MagiskSU, magisk.db, modules actifs. Détection mount points suspects et props modifiées.</a:t>
            </a:r>
          </a:p>
        </p:txBody>
      </p:sp>
      <p:sp>
        <p:nvSpPr>
          <p:cNvPr id="32" name="TextBox 32"/>
          <p:cNvSpPr txBox="1"/>
          <p:nvPr/>
        </p:nvSpPr>
        <p:spPr>
          <a:xfrm>
            <a:off x="11476642" y="4809473"/>
            <a:ext cx="5342267" cy="1406561"/>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Sévérité : CRITICAL</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Contournement détection Zygisk/Riru. Analyse namespace isolation, DenyList bypass, SafetyNet attestation hooks.</a:t>
            </a:r>
          </a:p>
        </p:txBody>
      </p:sp>
      <p:sp>
        <p:nvSpPr>
          <p:cNvPr id="33" name="TextBox 33"/>
          <p:cNvSpPr txBox="1"/>
          <p:nvPr/>
        </p:nvSpPr>
        <p:spPr>
          <a:xfrm>
            <a:off x="11476642" y="7528973"/>
            <a:ext cx="5342267" cy="1406561"/>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Sévérité : HIGH</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Vérification mode SELinux (Enforcing/Permissive). Audit policies, detection domain transitions non autorisées.</a:t>
            </a:r>
          </a:p>
        </p:txBody>
      </p:sp>
      <p:sp>
        <p:nvSpPr>
          <p:cNvPr id="34" name="Freeform 34"/>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7"/>
            <a:stretch>
              <a:fillRect/>
            </a:stretch>
          </a:blipFill>
        </p:spPr>
        <p:txBody>
          <a:bodyPr/>
          <a:lstStyle/>
          <a:p>
            <a:endParaRPr lang="fr-MA"/>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43131"/>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E4E2DE"/>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E4E2DE"/>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E4E2DE"/>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15</a:t>
              </a:r>
            </a:p>
          </p:txBody>
        </p:sp>
      </p:grpSp>
      <p:sp>
        <p:nvSpPr>
          <p:cNvPr id="7" name="TextBox 7"/>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E4E2DE"/>
                </a:solidFill>
                <a:latin typeface="Lora"/>
                <a:ea typeface="Lora"/>
                <a:cs typeface="Lora"/>
                <a:sym typeface="Lora"/>
              </a:rPr>
              <a:t>DIRS Framework</a:t>
            </a:r>
          </a:p>
        </p:txBody>
      </p:sp>
      <p:sp>
        <p:nvSpPr>
          <p:cNvPr id="8" name="TextBox 8"/>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E4E2DE"/>
                </a:solidFill>
                <a:latin typeface="Lora"/>
                <a:ea typeface="Lora"/>
                <a:cs typeface="Lora"/>
                <a:sym typeface="Lora"/>
              </a:rPr>
              <a:t>Device Integrity &amp; Risk Scorer</a:t>
            </a:r>
          </a:p>
        </p:txBody>
      </p:sp>
      <p:sp>
        <p:nvSpPr>
          <p:cNvPr id="9" name="TextBox 9"/>
          <p:cNvSpPr txBox="1"/>
          <p:nvPr/>
        </p:nvSpPr>
        <p:spPr>
          <a:xfrm>
            <a:off x="3379976" y="2511078"/>
            <a:ext cx="5250651" cy="727052"/>
          </a:xfrm>
          <a:prstGeom prst="rect">
            <a:avLst/>
          </a:prstGeom>
        </p:spPr>
        <p:txBody>
          <a:bodyPr lIns="0" tIns="0" rIns="0" bIns="0" rtlCol="0" anchor="t">
            <a:spAutoFit/>
          </a:bodyPr>
          <a:lstStyle/>
          <a:p>
            <a:pPr marL="0" lvl="0" indent="0" algn="l">
              <a:lnSpc>
                <a:spcPts val="5745"/>
              </a:lnSpc>
            </a:pPr>
            <a:r>
              <a:rPr lang="en-US" sz="4996">
                <a:solidFill>
                  <a:srgbClr val="E4E2DE"/>
                </a:solidFill>
                <a:latin typeface="Libre Baskerville"/>
                <a:ea typeface="Libre Baskerville"/>
                <a:cs typeface="Libre Baskerville"/>
                <a:sym typeface="Libre Baskerville"/>
              </a:rPr>
              <a:t>Focus Réseau</a:t>
            </a:r>
          </a:p>
        </p:txBody>
      </p:sp>
      <p:grpSp>
        <p:nvGrpSpPr>
          <p:cNvPr id="10" name="Group 10"/>
          <p:cNvGrpSpPr/>
          <p:nvPr/>
        </p:nvGrpSpPr>
        <p:grpSpPr>
          <a:xfrm>
            <a:off x="1352539" y="3982274"/>
            <a:ext cx="5188685" cy="5052338"/>
            <a:chOff x="0" y="0"/>
            <a:chExt cx="1366567" cy="1330657"/>
          </a:xfrm>
        </p:grpSpPr>
        <p:sp>
          <p:nvSpPr>
            <p:cNvPr id="11" name="Freeform 11"/>
            <p:cNvSpPr/>
            <p:nvPr/>
          </p:nvSpPr>
          <p:spPr>
            <a:xfrm>
              <a:off x="0" y="0"/>
              <a:ext cx="1366567" cy="1330657"/>
            </a:xfrm>
            <a:custGeom>
              <a:avLst/>
              <a:gdLst/>
              <a:ahLst/>
              <a:cxnLst/>
              <a:rect l="l" t="t" r="r" b="b"/>
              <a:pathLst>
                <a:path w="1366567" h="1330657">
                  <a:moveTo>
                    <a:pt x="0" y="0"/>
                  </a:moveTo>
                  <a:lnTo>
                    <a:pt x="1366567" y="0"/>
                  </a:lnTo>
                  <a:lnTo>
                    <a:pt x="1366567" y="1330657"/>
                  </a:lnTo>
                  <a:lnTo>
                    <a:pt x="0" y="1330657"/>
                  </a:lnTo>
                  <a:close/>
                </a:path>
              </a:pathLst>
            </a:custGeom>
            <a:ln w="9525" cap="sq">
              <a:solidFill>
                <a:srgbClr val="E4E2DE"/>
              </a:solidFill>
              <a:prstDash val="solid"/>
              <a:miter/>
            </a:ln>
          </p:spPr>
          <p:txBody>
            <a:bodyPr/>
            <a:lstStyle/>
            <a:p>
              <a:endParaRPr lang="fr-MA"/>
            </a:p>
          </p:txBody>
        </p:sp>
        <p:sp>
          <p:nvSpPr>
            <p:cNvPr id="12" name="TextBox 12"/>
            <p:cNvSpPr txBox="1"/>
            <p:nvPr/>
          </p:nvSpPr>
          <p:spPr>
            <a:xfrm>
              <a:off x="0" y="-38100"/>
              <a:ext cx="1366567" cy="1368757"/>
            </a:xfrm>
            <a:prstGeom prst="rect">
              <a:avLst/>
            </a:prstGeom>
          </p:spPr>
          <p:txBody>
            <a:bodyPr lIns="50800" tIns="50800" rIns="50800" bIns="50800" rtlCol="0" anchor="ctr"/>
            <a:lstStyle/>
            <a:p>
              <a:pPr marL="0" lvl="0" indent="0" algn="ctr">
                <a:lnSpc>
                  <a:spcPts val="3499"/>
                </a:lnSpc>
              </a:pPr>
              <a:endParaRPr/>
            </a:p>
          </p:txBody>
        </p:sp>
      </p:grpSp>
      <p:grpSp>
        <p:nvGrpSpPr>
          <p:cNvPr id="13" name="Group 13"/>
          <p:cNvGrpSpPr/>
          <p:nvPr/>
        </p:nvGrpSpPr>
        <p:grpSpPr>
          <a:xfrm>
            <a:off x="1352539" y="3982274"/>
            <a:ext cx="5188685" cy="986818"/>
            <a:chOff x="0" y="0"/>
            <a:chExt cx="1366567" cy="259903"/>
          </a:xfrm>
        </p:grpSpPr>
        <p:sp>
          <p:nvSpPr>
            <p:cNvPr id="14" name="Freeform 14"/>
            <p:cNvSpPr/>
            <p:nvPr/>
          </p:nvSpPr>
          <p:spPr>
            <a:xfrm>
              <a:off x="0" y="0"/>
              <a:ext cx="1366567" cy="259903"/>
            </a:xfrm>
            <a:custGeom>
              <a:avLst/>
              <a:gdLst/>
              <a:ahLst/>
              <a:cxnLst/>
              <a:rect l="l" t="t" r="r" b="b"/>
              <a:pathLst>
                <a:path w="1366567" h="259903">
                  <a:moveTo>
                    <a:pt x="0" y="0"/>
                  </a:moveTo>
                  <a:lnTo>
                    <a:pt x="1366567" y="0"/>
                  </a:lnTo>
                  <a:lnTo>
                    <a:pt x="1366567" y="259903"/>
                  </a:lnTo>
                  <a:lnTo>
                    <a:pt x="0" y="259903"/>
                  </a:lnTo>
                  <a:close/>
                </a:path>
              </a:pathLst>
            </a:custGeom>
            <a:solidFill>
              <a:srgbClr val="E4E2DE"/>
            </a:solidFill>
            <a:ln w="9525" cap="sq">
              <a:solidFill>
                <a:srgbClr val="343131"/>
              </a:solidFill>
              <a:prstDash val="solid"/>
              <a:miter/>
            </a:ln>
          </p:spPr>
          <p:txBody>
            <a:bodyPr/>
            <a:lstStyle/>
            <a:p>
              <a:endParaRPr lang="fr-MA"/>
            </a:p>
          </p:txBody>
        </p:sp>
        <p:sp>
          <p:nvSpPr>
            <p:cNvPr id="15" name="TextBox 15"/>
            <p:cNvSpPr txBox="1"/>
            <p:nvPr/>
          </p:nvSpPr>
          <p:spPr>
            <a:xfrm>
              <a:off x="0" y="-38100"/>
              <a:ext cx="1366567" cy="298003"/>
            </a:xfrm>
            <a:prstGeom prst="rect">
              <a:avLst/>
            </a:prstGeom>
          </p:spPr>
          <p:txBody>
            <a:bodyPr lIns="50800" tIns="50800" rIns="50800" bIns="50800" rtlCol="0" anchor="ctr"/>
            <a:lstStyle/>
            <a:p>
              <a:pPr marL="0" lvl="0" indent="0" algn="ctr">
                <a:lnSpc>
                  <a:spcPts val="3220"/>
                </a:lnSpc>
              </a:pPr>
              <a:endParaRPr/>
            </a:p>
          </p:txBody>
        </p:sp>
      </p:grpSp>
      <p:sp>
        <p:nvSpPr>
          <p:cNvPr id="16" name="TextBox 16"/>
          <p:cNvSpPr txBox="1"/>
          <p:nvPr/>
        </p:nvSpPr>
        <p:spPr>
          <a:xfrm>
            <a:off x="1600066" y="4206442"/>
            <a:ext cx="4693632" cy="481381"/>
          </a:xfrm>
          <a:prstGeom prst="rect">
            <a:avLst/>
          </a:prstGeom>
        </p:spPr>
        <p:txBody>
          <a:bodyPr lIns="0" tIns="0" rIns="0" bIns="0" rtlCol="0" anchor="t">
            <a:spAutoFit/>
          </a:bodyPr>
          <a:lstStyle/>
          <a:p>
            <a:pPr marL="0" lvl="0" indent="0" algn="ctr">
              <a:lnSpc>
                <a:spcPts val="3917"/>
              </a:lnSpc>
            </a:pPr>
            <a:r>
              <a:rPr lang="en-US" sz="2797">
                <a:solidFill>
                  <a:srgbClr val="343131"/>
                </a:solidFill>
                <a:latin typeface="Lora"/>
                <a:ea typeface="Lora"/>
                <a:cs typeface="Lora"/>
                <a:sym typeface="Lora"/>
              </a:rPr>
              <a:t>WiFi &amp; DNS</a:t>
            </a:r>
          </a:p>
        </p:txBody>
      </p:sp>
      <p:grpSp>
        <p:nvGrpSpPr>
          <p:cNvPr id="17" name="Group 17"/>
          <p:cNvGrpSpPr/>
          <p:nvPr/>
        </p:nvGrpSpPr>
        <p:grpSpPr>
          <a:xfrm>
            <a:off x="6541224" y="3982274"/>
            <a:ext cx="5188685" cy="5052338"/>
            <a:chOff x="0" y="0"/>
            <a:chExt cx="1366567" cy="1330657"/>
          </a:xfrm>
        </p:grpSpPr>
        <p:sp>
          <p:nvSpPr>
            <p:cNvPr id="18" name="Freeform 18"/>
            <p:cNvSpPr/>
            <p:nvPr/>
          </p:nvSpPr>
          <p:spPr>
            <a:xfrm>
              <a:off x="0" y="0"/>
              <a:ext cx="1366567" cy="1330657"/>
            </a:xfrm>
            <a:custGeom>
              <a:avLst/>
              <a:gdLst/>
              <a:ahLst/>
              <a:cxnLst/>
              <a:rect l="l" t="t" r="r" b="b"/>
              <a:pathLst>
                <a:path w="1366567" h="1330657">
                  <a:moveTo>
                    <a:pt x="0" y="0"/>
                  </a:moveTo>
                  <a:lnTo>
                    <a:pt x="1366567" y="0"/>
                  </a:lnTo>
                  <a:lnTo>
                    <a:pt x="1366567" y="1330657"/>
                  </a:lnTo>
                  <a:lnTo>
                    <a:pt x="0" y="1330657"/>
                  </a:lnTo>
                  <a:close/>
                </a:path>
              </a:pathLst>
            </a:custGeom>
            <a:ln w="9525" cap="sq">
              <a:solidFill>
                <a:srgbClr val="E4E2DE"/>
              </a:solidFill>
              <a:prstDash val="solid"/>
              <a:miter/>
            </a:ln>
          </p:spPr>
          <p:txBody>
            <a:bodyPr/>
            <a:lstStyle/>
            <a:p>
              <a:endParaRPr lang="fr-MA"/>
            </a:p>
          </p:txBody>
        </p:sp>
        <p:sp>
          <p:nvSpPr>
            <p:cNvPr id="19" name="TextBox 19"/>
            <p:cNvSpPr txBox="1"/>
            <p:nvPr/>
          </p:nvSpPr>
          <p:spPr>
            <a:xfrm>
              <a:off x="0" y="-38100"/>
              <a:ext cx="1366567" cy="1368757"/>
            </a:xfrm>
            <a:prstGeom prst="rect">
              <a:avLst/>
            </a:prstGeom>
          </p:spPr>
          <p:txBody>
            <a:bodyPr lIns="50800" tIns="50800" rIns="50800" bIns="50800" rtlCol="0" anchor="ctr"/>
            <a:lstStyle/>
            <a:p>
              <a:pPr marL="0" lvl="0" indent="0" algn="ctr">
                <a:lnSpc>
                  <a:spcPts val="3499"/>
                </a:lnSpc>
              </a:pPr>
              <a:endParaRPr/>
            </a:p>
          </p:txBody>
        </p:sp>
      </p:grpSp>
      <p:grpSp>
        <p:nvGrpSpPr>
          <p:cNvPr id="20" name="Group 20"/>
          <p:cNvGrpSpPr/>
          <p:nvPr/>
        </p:nvGrpSpPr>
        <p:grpSpPr>
          <a:xfrm>
            <a:off x="11729909" y="3982274"/>
            <a:ext cx="5188685" cy="5052338"/>
            <a:chOff x="0" y="0"/>
            <a:chExt cx="1366567" cy="1330657"/>
          </a:xfrm>
        </p:grpSpPr>
        <p:sp>
          <p:nvSpPr>
            <p:cNvPr id="21" name="Freeform 21"/>
            <p:cNvSpPr/>
            <p:nvPr/>
          </p:nvSpPr>
          <p:spPr>
            <a:xfrm>
              <a:off x="0" y="0"/>
              <a:ext cx="1366567" cy="1330657"/>
            </a:xfrm>
            <a:custGeom>
              <a:avLst/>
              <a:gdLst/>
              <a:ahLst/>
              <a:cxnLst/>
              <a:rect l="l" t="t" r="r" b="b"/>
              <a:pathLst>
                <a:path w="1366567" h="1330657">
                  <a:moveTo>
                    <a:pt x="0" y="0"/>
                  </a:moveTo>
                  <a:lnTo>
                    <a:pt x="1366567" y="0"/>
                  </a:lnTo>
                  <a:lnTo>
                    <a:pt x="1366567" y="1330657"/>
                  </a:lnTo>
                  <a:lnTo>
                    <a:pt x="0" y="1330657"/>
                  </a:lnTo>
                  <a:close/>
                </a:path>
              </a:pathLst>
            </a:custGeom>
            <a:ln w="9525" cap="sq">
              <a:solidFill>
                <a:srgbClr val="E4E2DE"/>
              </a:solidFill>
              <a:prstDash val="solid"/>
              <a:miter/>
            </a:ln>
          </p:spPr>
          <p:txBody>
            <a:bodyPr/>
            <a:lstStyle/>
            <a:p>
              <a:endParaRPr lang="fr-MA"/>
            </a:p>
          </p:txBody>
        </p:sp>
        <p:sp>
          <p:nvSpPr>
            <p:cNvPr id="22" name="TextBox 22"/>
            <p:cNvSpPr txBox="1"/>
            <p:nvPr/>
          </p:nvSpPr>
          <p:spPr>
            <a:xfrm>
              <a:off x="0" y="-38100"/>
              <a:ext cx="1366567" cy="1368757"/>
            </a:xfrm>
            <a:prstGeom prst="rect">
              <a:avLst/>
            </a:prstGeom>
          </p:spPr>
          <p:txBody>
            <a:bodyPr lIns="50800" tIns="50800" rIns="50800" bIns="50800" rtlCol="0" anchor="ctr"/>
            <a:lstStyle/>
            <a:p>
              <a:pPr marL="0" lvl="0" indent="0" algn="ctr">
                <a:lnSpc>
                  <a:spcPts val="3499"/>
                </a:lnSpc>
              </a:pPr>
              <a:endParaRPr/>
            </a:p>
          </p:txBody>
        </p:sp>
      </p:grpSp>
      <p:grpSp>
        <p:nvGrpSpPr>
          <p:cNvPr id="23" name="Group 23"/>
          <p:cNvGrpSpPr/>
          <p:nvPr/>
        </p:nvGrpSpPr>
        <p:grpSpPr>
          <a:xfrm>
            <a:off x="6541224" y="3982274"/>
            <a:ext cx="5188685" cy="986818"/>
            <a:chOff x="0" y="0"/>
            <a:chExt cx="1366567" cy="259903"/>
          </a:xfrm>
        </p:grpSpPr>
        <p:sp>
          <p:nvSpPr>
            <p:cNvPr id="24" name="Freeform 24"/>
            <p:cNvSpPr/>
            <p:nvPr/>
          </p:nvSpPr>
          <p:spPr>
            <a:xfrm>
              <a:off x="0" y="0"/>
              <a:ext cx="1366567" cy="259903"/>
            </a:xfrm>
            <a:custGeom>
              <a:avLst/>
              <a:gdLst/>
              <a:ahLst/>
              <a:cxnLst/>
              <a:rect l="l" t="t" r="r" b="b"/>
              <a:pathLst>
                <a:path w="1366567" h="259903">
                  <a:moveTo>
                    <a:pt x="0" y="0"/>
                  </a:moveTo>
                  <a:lnTo>
                    <a:pt x="1366567" y="0"/>
                  </a:lnTo>
                  <a:lnTo>
                    <a:pt x="1366567" y="259903"/>
                  </a:lnTo>
                  <a:lnTo>
                    <a:pt x="0" y="259903"/>
                  </a:lnTo>
                  <a:close/>
                </a:path>
              </a:pathLst>
            </a:custGeom>
            <a:solidFill>
              <a:srgbClr val="E4E2DE"/>
            </a:solidFill>
            <a:ln w="9525" cap="sq">
              <a:solidFill>
                <a:srgbClr val="343131"/>
              </a:solidFill>
              <a:prstDash val="solid"/>
              <a:miter/>
            </a:ln>
          </p:spPr>
          <p:txBody>
            <a:bodyPr/>
            <a:lstStyle/>
            <a:p>
              <a:endParaRPr lang="fr-MA"/>
            </a:p>
          </p:txBody>
        </p:sp>
        <p:sp>
          <p:nvSpPr>
            <p:cNvPr id="25" name="TextBox 25"/>
            <p:cNvSpPr txBox="1"/>
            <p:nvPr/>
          </p:nvSpPr>
          <p:spPr>
            <a:xfrm>
              <a:off x="0" y="-38100"/>
              <a:ext cx="1366567" cy="298003"/>
            </a:xfrm>
            <a:prstGeom prst="rect">
              <a:avLst/>
            </a:prstGeom>
          </p:spPr>
          <p:txBody>
            <a:bodyPr lIns="50800" tIns="50800" rIns="50800" bIns="50800" rtlCol="0" anchor="ctr"/>
            <a:lstStyle/>
            <a:p>
              <a:pPr marL="0" lvl="0" indent="0" algn="ctr">
                <a:lnSpc>
                  <a:spcPts val="3220"/>
                </a:lnSpc>
              </a:pPr>
              <a:endParaRPr/>
            </a:p>
          </p:txBody>
        </p:sp>
      </p:grpSp>
      <p:sp>
        <p:nvSpPr>
          <p:cNvPr id="26" name="TextBox 26"/>
          <p:cNvSpPr txBox="1"/>
          <p:nvPr/>
        </p:nvSpPr>
        <p:spPr>
          <a:xfrm>
            <a:off x="6788751" y="4206442"/>
            <a:ext cx="4693632" cy="481381"/>
          </a:xfrm>
          <a:prstGeom prst="rect">
            <a:avLst/>
          </a:prstGeom>
        </p:spPr>
        <p:txBody>
          <a:bodyPr lIns="0" tIns="0" rIns="0" bIns="0" rtlCol="0" anchor="t">
            <a:spAutoFit/>
          </a:bodyPr>
          <a:lstStyle/>
          <a:p>
            <a:pPr marL="0" lvl="0" indent="0" algn="ctr">
              <a:lnSpc>
                <a:spcPts val="3917"/>
              </a:lnSpc>
            </a:pPr>
            <a:r>
              <a:rPr lang="en-US" sz="2797">
                <a:solidFill>
                  <a:srgbClr val="343131"/>
                </a:solidFill>
                <a:latin typeface="Lora"/>
                <a:ea typeface="Lora"/>
                <a:cs typeface="Lora"/>
                <a:sym typeface="Lora"/>
              </a:rPr>
              <a:t>TLS &amp; Pinning</a:t>
            </a:r>
          </a:p>
        </p:txBody>
      </p:sp>
      <p:grpSp>
        <p:nvGrpSpPr>
          <p:cNvPr id="27" name="Group 27"/>
          <p:cNvGrpSpPr/>
          <p:nvPr/>
        </p:nvGrpSpPr>
        <p:grpSpPr>
          <a:xfrm>
            <a:off x="11746776" y="3982274"/>
            <a:ext cx="5188685" cy="986818"/>
            <a:chOff x="0" y="0"/>
            <a:chExt cx="1366567" cy="259903"/>
          </a:xfrm>
        </p:grpSpPr>
        <p:sp>
          <p:nvSpPr>
            <p:cNvPr id="28" name="Freeform 28"/>
            <p:cNvSpPr/>
            <p:nvPr/>
          </p:nvSpPr>
          <p:spPr>
            <a:xfrm>
              <a:off x="0" y="0"/>
              <a:ext cx="1366567" cy="259903"/>
            </a:xfrm>
            <a:custGeom>
              <a:avLst/>
              <a:gdLst/>
              <a:ahLst/>
              <a:cxnLst/>
              <a:rect l="l" t="t" r="r" b="b"/>
              <a:pathLst>
                <a:path w="1366567" h="259903">
                  <a:moveTo>
                    <a:pt x="0" y="0"/>
                  </a:moveTo>
                  <a:lnTo>
                    <a:pt x="1366567" y="0"/>
                  </a:lnTo>
                  <a:lnTo>
                    <a:pt x="1366567" y="259903"/>
                  </a:lnTo>
                  <a:lnTo>
                    <a:pt x="0" y="259903"/>
                  </a:lnTo>
                  <a:close/>
                </a:path>
              </a:pathLst>
            </a:custGeom>
            <a:solidFill>
              <a:srgbClr val="E4E2DE"/>
            </a:solidFill>
            <a:ln w="9525" cap="sq">
              <a:solidFill>
                <a:srgbClr val="343131"/>
              </a:solidFill>
              <a:prstDash val="solid"/>
              <a:miter/>
            </a:ln>
          </p:spPr>
          <p:txBody>
            <a:bodyPr/>
            <a:lstStyle/>
            <a:p>
              <a:endParaRPr lang="fr-MA"/>
            </a:p>
          </p:txBody>
        </p:sp>
        <p:sp>
          <p:nvSpPr>
            <p:cNvPr id="29" name="TextBox 29"/>
            <p:cNvSpPr txBox="1"/>
            <p:nvPr/>
          </p:nvSpPr>
          <p:spPr>
            <a:xfrm>
              <a:off x="0" y="-38100"/>
              <a:ext cx="1366567" cy="298003"/>
            </a:xfrm>
            <a:prstGeom prst="rect">
              <a:avLst/>
            </a:prstGeom>
          </p:spPr>
          <p:txBody>
            <a:bodyPr lIns="50800" tIns="50800" rIns="50800" bIns="50800" rtlCol="0" anchor="ctr"/>
            <a:lstStyle/>
            <a:p>
              <a:pPr marL="0" lvl="0" indent="0" algn="ctr">
                <a:lnSpc>
                  <a:spcPts val="3220"/>
                </a:lnSpc>
              </a:pPr>
              <a:endParaRPr/>
            </a:p>
          </p:txBody>
        </p:sp>
      </p:grpSp>
      <p:sp>
        <p:nvSpPr>
          <p:cNvPr id="30" name="TextBox 30"/>
          <p:cNvSpPr txBox="1"/>
          <p:nvPr/>
        </p:nvSpPr>
        <p:spPr>
          <a:xfrm>
            <a:off x="11994302" y="4206442"/>
            <a:ext cx="4693632" cy="481381"/>
          </a:xfrm>
          <a:prstGeom prst="rect">
            <a:avLst/>
          </a:prstGeom>
        </p:spPr>
        <p:txBody>
          <a:bodyPr lIns="0" tIns="0" rIns="0" bIns="0" rtlCol="0" anchor="t">
            <a:spAutoFit/>
          </a:bodyPr>
          <a:lstStyle/>
          <a:p>
            <a:pPr marL="0" lvl="0" indent="0" algn="ctr">
              <a:lnSpc>
                <a:spcPts val="3917"/>
              </a:lnSpc>
            </a:pPr>
            <a:r>
              <a:rPr lang="en-US" sz="2797">
                <a:solidFill>
                  <a:srgbClr val="343131"/>
                </a:solidFill>
                <a:latin typeface="Lora"/>
                <a:ea typeface="Lora"/>
                <a:cs typeface="Lora"/>
                <a:sym typeface="Lora"/>
              </a:rPr>
              <a:t>Network Config</a:t>
            </a:r>
          </a:p>
        </p:txBody>
      </p:sp>
      <p:sp>
        <p:nvSpPr>
          <p:cNvPr id="31" name="TextBox 31"/>
          <p:cNvSpPr txBox="1"/>
          <p:nvPr/>
        </p:nvSpPr>
        <p:spPr>
          <a:xfrm>
            <a:off x="1782420" y="5434023"/>
            <a:ext cx="4328923" cy="2966122"/>
          </a:xfrm>
          <a:prstGeom prst="rect">
            <a:avLst/>
          </a:prstGeom>
        </p:spPr>
        <p:txBody>
          <a:bodyPr lIns="0" tIns="0" rIns="0" bIns="0" rtlCol="0" anchor="t">
            <a:spAutoFit/>
          </a:bodyPr>
          <a:lstStyle/>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WiFi Security</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WPA3 Enterprise</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Open Networks</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Poids : 15%</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DNS Security</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DoH/DoT activé</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DNS non chiffré</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Poids : 12%</a:t>
            </a:r>
          </a:p>
        </p:txBody>
      </p:sp>
      <p:sp>
        <p:nvSpPr>
          <p:cNvPr id="32" name="TextBox 32"/>
          <p:cNvSpPr txBox="1"/>
          <p:nvPr/>
        </p:nvSpPr>
        <p:spPr>
          <a:xfrm>
            <a:off x="6971105" y="5434023"/>
            <a:ext cx="4328923" cy="2966122"/>
          </a:xfrm>
          <a:prstGeom prst="rect">
            <a:avLst/>
          </a:prstGeom>
        </p:spPr>
        <p:txBody>
          <a:bodyPr lIns="0" tIns="0" rIns="0" bIns="0" rtlCol="0" anchor="t">
            <a:spAutoFit/>
          </a:bodyPr>
          <a:lstStyle/>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TLS Validation</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TLS 1.3 enforced</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TLS 1.0/1.1 actif</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Poids : 18%</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Certificate Pinning</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Pins valides</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Pins absents</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Poids : 20%</a:t>
            </a:r>
          </a:p>
        </p:txBody>
      </p:sp>
      <p:sp>
        <p:nvSpPr>
          <p:cNvPr id="33" name="TextBox 33"/>
          <p:cNvSpPr txBox="1"/>
          <p:nvPr/>
        </p:nvSpPr>
        <p:spPr>
          <a:xfrm>
            <a:off x="12158534" y="5434023"/>
            <a:ext cx="4328923" cy="2594647"/>
          </a:xfrm>
          <a:prstGeom prst="rect">
            <a:avLst/>
          </a:prstGeom>
        </p:spPr>
        <p:txBody>
          <a:bodyPr lIns="0" tIns="0" rIns="0" bIns="0" rtlCol="0" anchor="t">
            <a:spAutoFit/>
          </a:bodyPr>
          <a:lstStyle/>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Network Security Config</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CleartextTraffic=false</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Cleartext autorisé</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Poids : 15%</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DÉTECTION MITM ACTIVE</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Surveillance temps réel des interceptions réseau</a:t>
            </a:r>
          </a:p>
        </p:txBody>
      </p:sp>
      <p:sp>
        <p:nvSpPr>
          <p:cNvPr id="34" name="Freeform 34"/>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16</a:t>
              </a:r>
            </a:p>
          </p:txBody>
        </p:sp>
      </p:grpSp>
      <p:grpSp>
        <p:nvGrpSpPr>
          <p:cNvPr id="7" name="Group 7"/>
          <p:cNvGrpSpPr/>
          <p:nvPr/>
        </p:nvGrpSpPr>
        <p:grpSpPr>
          <a:xfrm>
            <a:off x="12149452" y="1588381"/>
            <a:ext cx="5400059" cy="2899540"/>
            <a:chOff x="0" y="0"/>
            <a:chExt cx="1422238" cy="763665"/>
          </a:xfrm>
        </p:grpSpPr>
        <p:sp>
          <p:nvSpPr>
            <p:cNvPr id="8" name="Freeform 8"/>
            <p:cNvSpPr/>
            <p:nvPr/>
          </p:nvSpPr>
          <p:spPr>
            <a:xfrm>
              <a:off x="0" y="0"/>
              <a:ext cx="1422238" cy="763665"/>
            </a:xfrm>
            <a:custGeom>
              <a:avLst/>
              <a:gdLst/>
              <a:ahLst/>
              <a:cxnLst/>
              <a:rect l="l" t="t" r="r" b="b"/>
              <a:pathLst>
                <a:path w="1422238" h="763665">
                  <a:moveTo>
                    <a:pt x="0" y="0"/>
                  </a:moveTo>
                  <a:lnTo>
                    <a:pt x="1422238" y="0"/>
                  </a:lnTo>
                  <a:lnTo>
                    <a:pt x="1422238" y="763665"/>
                  </a:lnTo>
                  <a:lnTo>
                    <a:pt x="0" y="763665"/>
                  </a:lnTo>
                  <a:close/>
                </a:path>
              </a:pathLst>
            </a:custGeom>
            <a:solidFill>
              <a:srgbClr val="343131"/>
            </a:solidFill>
            <a:ln w="9525" cap="sq">
              <a:solidFill>
                <a:srgbClr val="E4E2DE"/>
              </a:solidFill>
              <a:prstDash val="solid"/>
              <a:miter/>
            </a:ln>
          </p:spPr>
          <p:txBody>
            <a:bodyPr/>
            <a:lstStyle/>
            <a:p>
              <a:endParaRPr lang="fr-MA"/>
            </a:p>
          </p:txBody>
        </p:sp>
        <p:sp>
          <p:nvSpPr>
            <p:cNvPr id="9" name="TextBox 9"/>
            <p:cNvSpPr txBox="1"/>
            <p:nvPr/>
          </p:nvSpPr>
          <p:spPr>
            <a:xfrm>
              <a:off x="0" y="-38100"/>
              <a:ext cx="1422238" cy="801765"/>
            </a:xfrm>
            <a:prstGeom prst="rect">
              <a:avLst/>
            </a:prstGeom>
          </p:spPr>
          <p:txBody>
            <a:bodyPr lIns="50800" tIns="50800" rIns="50800" bIns="50800" rtlCol="0" anchor="ctr"/>
            <a:lstStyle/>
            <a:p>
              <a:pPr marL="0" lvl="0" indent="0" algn="ctr">
                <a:lnSpc>
                  <a:spcPts val="3220"/>
                </a:lnSpc>
              </a:pPr>
              <a:endParaRPr/>
            </a:p>
          </p:txBody>
        </p:sp>
      </p:grpSp>
      <p:sp>
        <p:nvSpPr>
          <p:cNvPr id="10" name="TextBox 10"/>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2024</a:t>
            </a:r>
          </a:p>
        </p:txBody>
      </p:sp>
      <p:sp>
        <p:nvSpPr>
          <p:cNvPr id="11" name="TextBox 11"/>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Focus Hardware</a:t>
            </a:r>
          </a:p>
        </p:txBody>
      </p:sp>
      <p:sp>
        <p:nvSpPr>
          <p:cNvPr id="12" name="TextBox 12"/>
          <p:cNvSpPr txBox="1"/>
          <p:nvPr/>
        </p:nvSpPr>
        <p:spPr>
          <a:xfrm>
            <a:off x="3379976" y="2501553"/>
            <a:ext cx="5250651" cy="547791"/>
          </a:xfrm>
          <a:prstGeom prst="rect">
            <a:avLst/>
          </a:prstGeom>
        </p:spPr>
        <p:txBody>
          <a:bodyPr lIns="0" tIns="0" rIns="0" bIns="0" rtlCol="0" anchor="t">
            <a:spAutoFit/>
          </a:bodyPr>
          <a:lstStyle/>
          <a:p>
            <a:pPr marL="0" lvl="0" indent="0" algn="l">
              <a:lnSpc>
                <a:spcPts val="4331"/>
              </a:lnSpc>
            </a:pPr>
            <a:r>
              <a:rPr lang="en-US" sz="3766">
                <a:solidFill>
                  <a:srgbClr val="000000"/>
                </a:solidFill>
                <a:latin typeface="Libre Baskerville"/>
                <a:ea typeface="Libre Baskerville"/>
                <a:cs typeface="Libre Baskerville"/>
                <a:sym typeface="Libre Baskerville"/>
              </a:rPr>
              <a:t>Architecture Sécurité</a:t>
            </a:r>
          </a:p>
        </p:txBody>
      </p:sp>
      <p:sp>
        <p:nvSpPr>
          <p:cNvPr id="13" name="TextBox 13"/>
          <p:cNvSpPr txBox="1"/>
          <p:nvPr/>
        </p:nvSpPr>
        <p:spPr>
          <a:xfrm>
            <a:off x="192956" y="3925124"/>
            <a:ext cx="10973264" cy="3636924"/>
          </a:xfrm>
          <a:prstGeom prst="rect">
            <a:avLst/>
          </a:prstGeom>
        </p:spPr>
        <p:txBody>
          <a:bodyPr lIns="0" tIns="0" rIns="0" bIns="0" rtlCol="0" anchor="t">
            <a:spAutoFit/>
          </a:bodyPr>
          <a:lstStyle/>
          <a:p>
            <a:pPr marL="555730" lvl="1" indent="-277865" algn="just">
              <a:lnSpc>
                <a:spcPts val="3603"/>
              </a:lnSpc>
              <a:spcBef>
                <a:spcPct val="0"/>
              </a:spcBef>
              <a:buFont typeface="Arial"/>
              <a:buChar char="•"/>
            </a:pPr>
            <a:r>
              <a:rPr lang="en-US" sz="2574">
                <a:solidFill>
                  <a:srgbClr val="000000"/>
                </a:solidFill>
                <a:latin typeface="Lora"/>
                <a:ea typeface="Lora"/>
                <a:cs typeface="Lora"/>
                <a:sym typeface="Lora"/>
              </a:rPr>
              <a:t>Architecture en couches offrant des niveaux de sécurité croissants</a:t>
            </a:r>
          </a:p>
          <a:p>
            <a:pPr marL="555730" lvl="1" indent="-277865" algn="just">
              <a:lnSpc>
                <a:spcPts val="3603"/>
              </a:lnSpc>
              <a:spcBef>
                <a:spcPct val="0"/>
              </a:spcBef>
              <a:buFont typeface="Arial"/>
              <a:buChar char="•"/>
            </a:pPr>
            <a:r>
              <a:rPr lang="en-US" sz="2574">
                <a:solidFill>
                  <a:srgbClr val="000000"/>
                </a:solidFill>
                <a:latin typeface="Lora"/>
                <a:ea typeface="Lora"/>
                <a:cs typeface="Lora"/>
                <a:sym typeface="Lora"/>
              </a:rPr>
              <a:t>StrongBox (isolé physiquement) jusqu’à l’API Keystore pour protéger les clés</a:t>
            </a:r>
          </a:p>
          <a:p>
            <a:pPr marL="555730" lvl="1" indent="-277865" algn="just">
              <a:lnSpc>
                <a:spcPts val="3603"/>
              </a:lnSpc>
              <a:spcBef>
                <a:spcPct val="0"/>
              </a:spcBef>
              <a:buFont typeface="Arial"/>
              <a:buChar char="•"/>
            </a:pPr>
            <a:r>
              <a:rPr lang="en-US" sz="2574">
                <a:solidFill>
                  <a:srgbClr val="000000"/>
                </a:solidFill>
                <a:latin typeface="Lora"/>
                <a:ea typeface="Lora"/>
                <a:cs typeface="Lora"/>
                <a:sym typeface="Lora"/>
              </a:rPr>
              <a:t>Garantie de l’intégrité des clés cryptographiques</a:t>
            </a:r>
          </a:p>
          <a:p>
            <a:pPr marL="555730" lvl="1" indent="-277865" algn="just">
              <a:lnSpc>
                <a:spcPts val="3603"/>
              </a:lnSpc>
              <a:spcBef>
                <a:spcPct val="0"/>
              </a:spcBef>
              <a:buFont typeface="Arial"/>
              <a:buChar char="•"/>
            </a:pPr>
            <a:r>
              <a:rPr lang="en-US" sz="2574">
                <a:solidFill>
                  <a:srgbClr val="000000"/>
                </a:solidFill>
                <a:latin typeface="Lora"/>
                <a:ea typeface="Lora"/>
                <a:cs typeface="Lora"/>
                <a:sym typeface="Lora"/>
              </a:rPr>
              <a:t>Héritage des protections entre couches formant une chaîne de confiance robuste</a:t>
            </a:r>
          </a:p>
          <a:p>
            <a:pPr marL="555730" lvl="1" indent="-277865" algn="just">
              <a:lnSpc>
                <a:spcPts val="3603"/>
              </a:lnSpc>
              <a:spcBef>
                <a:spcPct val="0"/>
              </a:spcBef>
              <a:buFont typeface="Arial"/>
              <a:buChar char="•"/>
            </a:pPr>
            <a:r>
              <a:rPr lang="en-US" sz="2574">
                <a:solidFill>
                  <a:srgbClr val="000000"/>
                </a:solidFill>
                <a:latin typeface="Lora"/>
                <a:ea typeface="Lora"/>
                <a:cs typeface="Lora"/>
                <a:sym typeface="Lora"/>
              </a:rPr>
              <a:t>Résistance aux attaques logicielles et matérielles</a:t>
            </a:r>
          </a:p>
          <a:p>
            <a:pPr marL="0" lvl="0" indent="0" algn="just">
              <a:lnSpc>
                <a:spcPts val="3603"/>
              </a:lnSpc>
              <a:spcBef>
                <a:spcPct val="0"/>
              </a:spcBef>
            </a:pPr>
            <a:endParaRPr lang="en-US" sz="2574">
              <a:solidFill>
                <a:srgbClr val="000000"/>
              </a:solidFill>
              <a:latin typeface="Lora"/>
              <a:ea typeface="Lora"/>
              <a:cs typeface="Lora"/>
              <a:sym typeface="Lora"/>
            </a:endParaRPr>
          </a:p>
        </p:txBody>
      </p:sp>
      <p:grpSp>
        <p:nvGrpSpPr>
          <p:cNvPr id="14" name="Group 14"/>
          <p:cNvGrpSpPr/>
          <p:nvPr/>
        </p:nvGrpSpPr>
        <p:grpSpPr>
          <a:xfrm>
            <a:off x="12149452" y="4487921"/>
            <a:ext cx="5400059" cy="2899540"/>
            <a:chOff x="0" y="0"/>
            <a:chExt cx="1422238" cy="763665"/>
          </a:xfrm>
        </p:grpSpPr>
        <p:sp>
          <p:nvSpPr>
            <p:cNvPr id="15" name="Freeform 15"/>
            <p:cNvSpPr/>
            <p:nvPr/>
          </p:nvSpPr>
          <p:spPr>
            <a:xfrm>
              <a:off x="0" y="0"/>
              <a:ext cx="1422238" cy="763665"/>
            </a:xfrm>
            <a:custGeom>
              <a:avLst/>
              <a:gdLst/>
              <a:ahLst/>
              <a:cxnLst/>
              <a:rect l="l" t="t" r="r" b="b"/>
              <a:pathLst>
                <a:path w="1422238" h="763665">
                  <a:moveTo>
                    <a:pt x="0" y="0"/>
                  </a:moveTo>
                  <a:lnTo>
                    <a:pt x="1422238" y="0"/>
                  </a:lnTo>
                  <a:lnTo>
                    <a:pt x="1422238" y="763665"/>
                  </a:lnTo>
                  <a:lnTo>
                    <a:pt x="0" y="763665"/>
                  </a:lnTo>
                  <a:close/>
                </a:path>
              </a:pathLst>
            </a:custGeom>
            <a:solidFill>
              <a:srgbClr val="343131"/>
            </a:solidFill>
            <a:ln w="9525" cap="sq">
              <a:solidFill>
                <a:srgbClr val="E4E2DE"/>
              </a:solidFill>
              <a:prstDash val="solid"/>
              <a:miter/>
            </a:ln>
          </p:spPr>
          <p:txBody>
            <a:bodyPr/>
            <a:lstStyle/>
            <a:p>
              <a:endParaRPr lang="fr-MA"/>
            </a:p>
          </p:txBody>
        </p:sp>
        <p:sp>
          <p:nvSpPr>
            <p:cNvPr id="16" name="TextBox 16"/>
            <p:cNvSpPr txBox="1"/>
            <p:nvPr/>
          </p:nvSpPr>
          <p:spPr>
            <a:xfrm>
              <a:off x="0" y="-38100"/>
              <a:ext cx="1422238" cy="801765"/>
            </a:xfrm>
            <a:prstGeom prst="rect">
              <a:avLst/>
            </a:prstGeom>
          </p:spPr>
          <p:txBody>
            <a:bodyPr lIns="50800" tIns="50800" rIns="50800" bIns="50800" rtlCol="0" anchor="ctr"/>
            <a:lstStyle/>
            <a:p>
              <a:pPr marL="0" lvl="0" indent="0" algn="ctr">
                <a:lnSpc>
                  <a:spcPts val="3220"/>
                </a:lnSpc>
              </a:pPr>
              <a:endParaRPr/>
            </a:p>
          </p:txBody>
        </p:sp>
      </p:grpSp>
      <p:grpSp>
        <p:nvGrpSpPr>
          <p:cNvPr id="17" name="Group 17"/>
          <p:cNvGrpSpPr/>
          <p:nvPr/>
        </p:nvGrpSpPr>
        <p:grpSpPr>
          <a:xfrm>
            <a:off x="12149452" y="7387460"/>
            <a:ext cx="5400059" cy="2899540"/>
            <a:chOff x="0" y="0"/>
            <a:chExt cx="1422238" cy="763665"/>
          </a:xfrm>
        </p:grpSpPr>
        <p:sp>
          <p:nvSpPr>
            <p:cNvPr id="18" name="Freeform 18"/>
            <p:cNvSpPr/>
            <p:nvPr/>
          </p:nvSpPr>
          <p:spPr>
            <a:xfrm>
              <a:off x="0" y="0"/>
              <a:ext cx="1422238" cy="763665"/>
            </a:xfrm>
            <a:custGeom>
              <a:avLst/>
              <a:gdLst/>
              <a:ahLst/>
              <a:cxnLst/>
              <a:rect l="l" t="t" r="r" b="b"/>
              <a:pathLst>
                <a:path w="1422238" h="763665">
                  <a:moveTo>
                    <a:pt x="0" y="0"/>
                  </a:moveTo>
                  <a:lnTo>
                    <a:pt x="1422238" y="0"/>
                  </a:lnTo>
                  <a:lnTo>
                    <a:pt x="1422238" y="763665"/>
                  </a:lnTo>
                  <a:lnTo>
                    <a:pt x="0" y="763665"/>
                  </a:lnTo>
                  <a:close/>
                </a:path>
              </a:pathLst>
            </a:custGeom>
            <a:solidFill>
              <a:srgbClr val="343131"/>
            </a:solidFill>
            <a:ln w="9525" cap="sq">
              <a:solidFill>
                <a:srgbClr val="E4E2DE"/>
              </a:solidFill>
              <a:prstDash val="solid"/>
              <a:miter/>
            </a:ln>
          </p:spPr>
          <p:txBody>
            <a:bodyPr/>
            <a:lstStyle/>
            <a:p>
              <a:endParaRPr lang="fr-MA"/>
            </a:p>
          </p:txBody>
        </p:sp>
        <p:sp>
          <p:nvSpPr>
            <p:cNvPr id="19" name="TextBox 19"/>
            <p:cNvSpPr txBox="1"/>
            <p:nvPr/>
          </p:nvSpPr>
          <p:spPr>
            <a:xfrm>
              <a:off x="0" y="-38100"/>
              <a:ext cx="1422238" cy="801765"/>
            </a:xfrm>
            <a:prstGeom prst="rect">
              <a:avLst/>
            </a:prstGeom>
          </p:spPr>
          <p:txBody>
            <a:bodyPr lIns="50800" tIns="50800" rIns="50800" bIns="50800" rtlCol="0" anchor="ctr"/>
            <a:lstStyle/>
            <a:p>
              <a:pPr marL="0" lvl="0" indent="0" algn="ctr">
                <a:lnSpc>
                  <a:spcPts val="3220"/>
                </a:lnSpc>
              </a:pPr>
              <a:endParaRPr/>
            </a:p>
          </p:txBody>
        </p:sp>
      </p:grpSp>
      <p:sp>
        <p:nvSpPr>
          <p:cNvPr id="20" name="TextBox 20"/>
          <p:cNvSpPr txBox="1"/>
          <p:nvPr/>
        </p:nvSpPr>
        <p:spPr>
          <a:xfrm>
            <a:off x="13658529" y="1910989"/>
            <a:ext cx="3754694" cy="506406"/>
          </a:xfrm>
          <a:prstGeom prst="rect">
            <a:avLst/>
          </a:prstGeom>
        </p:spPr>
        <p:txBody>
          <a:bodyPr lIns="0" tIns="0" rIns="0" bIns="0" rtlCol="0" anchor="t">
            <a:spAutoFit/>
          </a:bodyPr>
          <a:lstStyle/>
          <a:p>
            <a:pPr marL="0" lvl="0" indent="0" algn="l">
              <a:lnSpc>
                <a:spcPts val="4112"/>
              </a:lnSpc>
            </a:pPr>
            <a:r>
              <a:rPr lang="en-US" sz="2937" b="1">
                <a:solidFill>
                  <a:srgbClr val="E4E2DE"/>
                </a:solidFill>
                <a:latin typeface="Glacial Indifference Bold"/>
                <a:ea typeface="Glacial Indifference Bold"/>
                <a:cs typeface="Glacial Indifference Bold"/>
                <a:sym typeface="Glacial Indifference Bold"/>
              </a:rPr>
              <a:t>Strongbox</a:t>
            </a:r>
          </a:p>
        </p:txBody>
      </p:sp>
      <p:sp>
        <p:nvSpPr>
          <p:cNvPr id="21" name="TextBox 21"/>
          <p:cNvSpPr txBox="1"/>
          <p:nvPr/>
        </p:nvSpPr>
        <p:spPr>
          <a:xfrm>
            <a:off x="12788350" y="2718222"/>
            <a:ext cx="3754694" cy="1102389"/>
          </a:xfrm>
          <a:prstGeom prst="rect">
            <a:avLst/>
          </a:prstGeom>
        </p:spPr>
        <p:txBody>
          <a:bodyPr lIns="0" tIns="0" rIns="0" bIns="0" rtlCol="0" anchor="t">
            <a:spAutoFit/>
          </a:bodyPr>
          <a:lstStyle/>
          <a:p>
            <a:pPr marL="0" lvl="0" indent="0" algn="just">
              <a:lnSpc>
                <a:spcPts val="2238"/>
              </a:lnSpc>
            </a:pPr>
            <a:r>
              <a:rPr lang="en-US" sz="1598">
                <a:solidFill>
                  <a:srgbClr val="E4E2DE"/>
                </a:solidFill>
                <a:latin typeface="Glacial Indifference"/>
                <a:ea typeface="Glacial Indifference"/>
                <a:cs typeface="Glacial Indifference"/>
                <a:sym typeface="Glacial Indifference"/>
              </a:rPr>
              <a:t>Processeur sécurisé isolé physiquement. Résistance aux attaques par canal auxiliaire. Certification CC EAL4+. Score audit : 98%</a:t>
            </a:r>
          </a:p>
        </p:txBody>
      </p:sp>
      <p:sp>
        <p:nvSpPr>
          <p:cNvPr id="22" name="TextBox 22"/>
          <p:cNvSpPr txBox="1"/>
          <p:nvPr/>
        </p:nvSpPr>
        <p:spPr>
          <a:xfrm>
            <a:off x="12788350" y="4811771"/>
            <a:ext cx="3754694" cy="506406"/>
          </a:xfrm>
          <a:prstGeom prst="rect">
            <a:avLst/>
          </a:prstGeom>
        </p:spPr>
        <p:txBody>
          <a:bodyPr lIns="0" tIns="0" rIns="0" bIns="0" rtlCol="0" anchor="t">
            <a:spAutoFit/>
          </a:bodyPr>
          <a:lstStyle/>
          <a:p>
            <a:pPr marL="0" lvl="0" indent="0" algn="l">
              <a:lnSpc>
                <a:spcPts val="4112"/>
              </a:lnSpc>
            </a:pPr>
            <a:r>
              <a:rPr lang="en-US" sz="2937" b="1">
                <a:solidFill>
                  <a:srgbClr val="E4E2DE"/>
                </a:solidFill>
                <a:latin typeface="Glacial Indifference Bold"/>
                <a:ea typeface="Glacial Indifference Bold"/>
                <a:cs typeface="Glacial Indifference Bold"/>
                <a:sym typeface="Glacial Indifference Bold"/>
              </a:rPr>
              <a:t>TEE</a:t>
            </a:r>
          </a:p>
        </p:txBody>
      </p:sp>
      <p:sp>
        <p:nvSpPr>
          <p:cNvPr id="23" name="TextBox 23"/>
          <p:cNvSpPr txBox="1"/>
          <p:nvPr/>
        </p:nvSpPr>
        <p:spPr>
          <a:xfrm>
            <a:off x="12788350" y="5617173"/>
            <a:ext cx="3754694" cy="826164"/>
          </a:xfrm>
          <a:prstGeom prst="rect">
            <a:avLst/>
          </a:prstGeom>
        </p:spPr>
        <p:txBody>
          <a:bodyPr lIns="0" tIns="0" rIns="0" bIns="0" rtlCol="0" anchor="t">
            <a:spAutoFit/>
          </a:bodyPr>
          <a:lstStyle/>
          <a:p>
            <a:pPr marL="0" lvl="0" indent="0" algn="just">
              <a:lnSpc>
                <a:spcPts val="2238"/>
              </a:lnSpc>
            </a:pPr>
            <a:r>
              <a:rPr lang="en-US" sz="1598">
                <a:solidFill>
                  <a:srgbClr val="E4E2DE"/>
                </a:solidFill>
                <a:latin typeface="Glacial Indifference"/>
                <a:ea typeface="Glacial Indifference"/>
                <a:cs typeface="Glacial Indifference"/>
                <a:sym typeface="Glacial Indifference"/>
              </a:rPr>
              <a:t>Trusted Execution Environment. Isolation mémoire hardware. ARM TrustZone ou équivalent. Score audit : 92%</a:t>
            </a:r>
          </a:p>
        </p:txBody>
      </p:sp>
      <p:sp>
        <p:nvSpPr>
          <p:cNvPr id="24" name="TextBox 24"/>
          <p:cNvSpPr txBox="1"/>
          <p:nvPr/>
        </p:nvSpPr>
        <p:spPr>
          <a:xfrm>
            <a:off x="12788350" y="7511285"/>
            <a:ext cx="3754694" cy="506406"/>
          </a:xfrm>
          <a:prstGeom prst="rect">
            <a:avLst/>
          </a:prstGeom>
        </p:spPr>
        <p:txBody>
          <a:bodyPr lIns="0" tIns="0" rIns="0" bIns="0" rtlCol="0" anchor="t">
            <a:spAutoFit/>
          </a:bodyPr>
          <a:lstStyle/>
          <a:p>
            <a:pPr marL="0" lvl="0" indent="0" algn="l">
              <a:lnSpc>
                <a:spcPts val="4112"/>
              </a:lnSpc>
            </a:pPr>
            <a:r>
              <a:rPr lang="en-US" sz="2937" b="1">
                <a:solidFill>
                  <a:srgbClr val="E4E2DE"/>
                </a:solidFill>
                <a:latin typeface="Glacial Indifference Bold"/>
                <a:ea typeface="Glacial Indifference Bold"/>
                <a:cs typeface="Glacial Indifference Bold"/>
                <a:sym typeface="Glacial Indifference Bold"/>
              </a:rPr>
              <a:t>Keystore API</a:t>
            </a:r>
          </a:p>
        </p:txBody>
      </p:sp>
      <p:sp>
        <p:nvSpPr>
          <p:cNvPr id="25" name="TextBox 25"/>
          <p:cNvSpPr txBox="1"/>
          <p:nvPr/>
        </p:nvSpPr>
        <p:spPr>
          <a:xfrm>
            <a:off x="12788350" y="8316687"/>
            <a:ext cx="3754694" cy="1102389"/>
          </a:xfrm>
          <a:prstGeom prst="rect">
            <a:avLst/>
          </a:prstGeom>
        </p:spPr>
        <p:txBody>
          <a:bodyPr lIns="0" tIns="0" rIns="0" bIns="0" rtlCol="0" anchor="t">
            <a:spAutoFit/>
          </a:bodyPr>
          <a:lstStyle/>
          <a:p>
            <a:pPr marL="0" lvl="0" indent="0" algn="just">
              <a:lnSpc>
                <a:spcPts val="2238"/>
              </a:lnSpc>
            </a:pPr>
            <a:r>
              <a:rPr lang="en-US" sz="1598">
                <a:solidFill>
                  <a:srgbClr val="E4E2DE"/>
                </a:solidFill>
                <a:latin typeface="Glacial Indifference"/>
                <a:ea typeface="Glacial Indifference"/>
                <a:cs typeface="Glacial Indifference"/>
                <a:sym typeface="Glacial Indifference"/>
              </a:rPr>
              <a:t>Interface Android pour génération et stockage de clés. Binding matériel obligatoire. Attestation cryptographique. Score audit : 85%</a:t>
            </a:r>
          </a:p>
        </p:txBody>
      </p:sp>
      <p:sp>
        <p:nvSpPr>
          <p:cNvPr id="26" name="Freeform 26"/>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17</a:t>
              </a:r>
            </a:p>
          </p:txBody>
        </p:sp>
      </p:grpSp>
      <p:grpSp>
        <p:nvGrpSpPr>
          <p:cNvPr id="7" name="Group 7"/>
          <p:cNvGrpSpPr/>
          <p:nvPr/>
        </p:nvGrpSpPr>
        <p:grpSpPr>
          <a:xfrm>
            <a:off x="2876353" y="4210874"/>
            <a:ext cx="2653220" cy="523875"/>
            <a:chOff x="0" y="0"/>
            <a:chExt cx="840611" cy="165978"/>
          </a:xfrm>
        </p:grpSpPr>
        <p:sp>
          <p:nvSpPr>
            <p:cNvPr id="8" name="Freeform 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9" name="TextBox 9"/>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M1 - Stockage</a:t>
              </a:r>
            </a:p>
          </p:txBody>
        </p:sp>
      </p:grpSp>
      <p:grpSp>
        <p:nvGrpSpPr>
          <p:cNvPr id="10" name="Group 10"/>
          <p:cNvGrpSpPr/>
          <p:nvPr/>
        </p:nvGrpSpPr>
        <p:grpSpPr>
          <a:xfrm>
            <a:off x="1469091" y="4579156"/>
            <a:ext cx="1636842" cy="163684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a:stretch>
            </a:blipFill>
          </p:spPr>
          <p:txBody>
            <a:bodyPr/>
            <a:lstStyle/>
            <a:p>
              <a:endParaRPr lang="fr-MA"/>
            </a:p>
          </p:txBody>
        </p:sp>
      </p:grpSp>
      <p:grpSp>
        <p:nvGrpSpPr>
          <p:cNvPr id="12" name="Group 12"/>
          <p:cNvGrpSpPr/>
          <p:nvPr/>
        </p:nvGrpSpPr>
        <p:grpSpPr>
          <a:xfrm>
            <a:off x="2876353" y="6930374"/>
            <a:ext cx="2653220" cy="523875"/>
            <a:chOff x="0" y="0"/>
            <a:chExt cx="840611" cy="165978"/>
          </a:xfrm>
        </p:grpSpPr>
        <p:sp>
          <p:nvSpPr>
            <p:cNvPr id="13" name="Freeform 1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4" name="TextBox 14"/>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M2 - Données</a:t>
              </a:r>
            </a:p>
          </p:txBody>
        </p:sp>
      </p:grpSp>
      <p:grpSp>
        <p:nvGrpSpPr>
          <p:cNvPr id="15" name="Group 15"/>
          <p:cNvGrpSpPr/>
          <p:nvPr/>
        </p:nvGrpSpPr>
        <p:grpSpPr>
          <a:xfrm>
            <a:off x="1469091" y="7298656"/>
            <a:ext cx="1636842" cy="163684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fr-MA"/>
            </a:p>
          </p:txBody>
        </p:sp>
      </p:grpSp>
      <p:grpSp>
        <p:nvGrpSpPr>
          <p:cNvPr id="17" name="Group 17"/>
          <p:cNvGrpSpPr/>
          <p:nvPr/>
        </p:nvGrpSpPr>
        <p:grpSpPr>
          <a:xfrm>
            <a:off x="11063370" y="4210874"/>
            <a:ext cx="2653220" cy="523875"/>
            <a:chOff x="0" y="0"/>
            <a:chExt cx="840611" cy="165978"/>
          </a:xfrm>
        </p:grpSpPr>
        <p:sp>
          <p:nvSpPr>
            <p:cNvPr id="18" name="Freeform 1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9" name="TextBox 19"/>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M3 - Réseau</a:t>
              </a:r>
            </a:p>
          </p:txBody>
        </p:sp>
      </p:grpSp>
      <p:grpSp>
        <p:nvGrpSpPr>
          <p:cNvPr id="20" name="Group 20"/>
          <p:cNvGrpSpPr/>
          <p:nvPr/>
        </p:nvGrpSpPr>
        <p:grpSpPr>
          <a:xfrm>
            <a:off x="9656109" y="4579156"/>
            <a:ext cx="1636842" cy="163684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fr-MA"/>
            </a:p>
          </p:txBody>
        </p:sp>
      </p:grpSp>
      <p:grpSp>
        <p:nvGrpSpPr>
          <p:cNvPr id="22" name="Group 22"/>
          <p:cNvGrpSpPr/>
          <p:nvPr/>
        </p:nvGrpSpPr>
        <p:grpSpPr>
          <a:xfrm>
            <a:off x="11063370" y="6930374"/>
            <a:ext cx="2653220" cy="523875"/>
            <a:chOff x="0" y="0"/>
            <a:chExt cx="840611" cy="165978"/>
          </a:xfrm>
        </p:grpSpPr>
        <p:sp>
          <p:nvSpPr>
            <p:cNvPr id="23" name="Freeform 2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24" name="TextBox 24"/>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M4 - Auth</a:t>
              </a:r>
            </a:p>
          </p:txBody>
        </p:sp>
      </p:grpSp>
      <p:grpSp>
        <p:nvGrpSpPr>
          <p:cNvPr id="25" name="Group 25"/>
          <p:cNvGrpSpPr/>
          <p:nvPr/>
        </p:nvGrpSpPr>
        <p:grpSpPr>
          <a:xfrm>
            <a:off x="9656109" y="7298656"/>
            <a:ext cx="1636842" cy="163684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a:stretch>
            </a:blipFill>
          </p:spPr>
          <p:txBody>
            <a:bodyPr/>
            <a:lstStyle/>
            <a:p>
              <a:endParaRPr lang="fr-MA"/>
            </a:p>
          </p:txBody>
        </p:sp>
      </p:grpSp>
      <p:sp>
        <p:nvSpPr>
          <p:cNvPr id="27" name="TextBox 27"/>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Framework</a:t>
            </a:r>
          </a:p>
        </p:txBody>
      </p:sp>
      <p:sp>
        <p:nvSpPr>
          <p:cNvPr id="28" name="TextBox 28"/>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Compliance &amp; Sécurité Mobile</a:t>
            </a:r>
          </a:p>
        </p:txBody>
      </p:sp>
      <p:sp>
        <p:nvSpPr>
          <p:cNvPr id="29" name="TextBox 29"/>
          <p:cNvSpPr txBox="1"/>
          <p:nvPr/>
        </p:nvSpPr>
        <p:spPr>
          <a:xfrm>
            <a:off x="3379976" y="2511078"/>
            <a:ext cx="5250651" cy="1178436"/>
          </a:xfrm>
          <a:prstGeom prst="rect">
            <a:avLst/>
          </a:prstGeom>
        </p:spPr>
        <p:txBody>
          <a:bodyPr lIns="0" tIns="0" rIns="0" bIns="0" rtlCol="0" anchor="t">
            <a:spAutoFit/>
          </a:bodyPr>
          <a:lstStyle/>
          <a:p>
            <a:pPr marL="0" lvl="0" indent="0" algn="l">
              <a:lnSpc>
                <a:spcPts val="4692"/>
              </a:lnSpc>
            </a:pPr>
            <a:r>
              <a:rPr lang="en-US" sz="4080">
                <a:solidFill>
                  <a:srgbClr val="000000"/>
                </a:solidFill>
                <a:latin typeface="Libre Baskerville"/>
                <a:ea typeface="Libre Baskerville"/>
                <a:cs typeface="Libre Baskerville"/>
                <a:sym typeface="Libre Baskerville"/>
              </a:rPr>
              <a:t>Compliance OWASP Mobile</a:t>
            </a:r>
          </a:p>
        </p:txBody>
      </p:sp>
      <p:sp>
        <p:nvSpPr>
          <p:cNvPr id="30" name="TextBox 30"/>
          <p:cNvSpPr txBox="1"/>
          <p:nvPr/>
        </p:nvSpPr>
        <p:spPr>
          <a:xfrm>
            <a:off x="3289625" y="4809473"/>
            <a:ext cx="5342267" cy="1406561"/>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Improper Platform Usage</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Test DIRS : Audit permissions, API misuse, keystore access patterns</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Couverture : 92% ████████░░</a:t>
            </a:r>
          </a:p>
        </p:txBody>
      </p:sp>
      <p:sp>
        <p:nvSpPr>
          <p:cNvPr id="31" name="TextBox 31"/>
          <p:cNvSpPr txBox="1"/>
          <p:nvPr/>
        </p:nvSpPr>
        <p:spPr>
          <a:xfrm>
            <a:off x="3289625" y="7528973"/>
            <a:ext cx="5342267" cy="1406561"/>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Insecure Data Storage</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Test DIRS : SharedPrefs, SQLite, fichiers externes, logs sensibles</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Couverture : 88% ███████░░░</a:t>
            </a:r>
          </a:p>
        </p:txBody>
      </p:sp>
      <p:sp>
        <p:nvSpPr>
          <p:cNvPr id="32" name="TextBox 32"/>
          <p:cNvSpPr txBox="1"/>
          <p:nvPr/>
        </p:nvSpPr>
        <p:spPr>
          <a:xfrm>
            <a:off x="11476642" y="4809473"/>
            <a:ext cx="5342267" cy="1406561"/>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Insecure Communication</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Test DIRS : TLS validation, cert pinning, cleartext traffic detection</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Couverture : 95% █████████░</a:t>
            </a:r>
          </a:p>
        </p:txBody>
      </p:sp>
      <p:sp>
        <p:nvSpPr>
          <p:cNvPr id="33" name="TextBox 33"/>
          <p:cNvSpPr txBox="1"/>
          <p:nvPr/>
        </p:nvSpPr>
        <p:spPr>
          <a:xfrm>
            <a:off x="11476642" y="7528973"/>
            <a:ext cx="5342267" cy="1406561"/>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Insecure Authentication</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Test DIRS : Biométrie, tokens, session management, MFA bypass</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Couverture : 86% ████████░░</a:t>
            </a:r>
          </a:p>
        </p:txBody>
      </p:sp>
      <p:sp>
        <p:nvSpPr>
          <p:cNvPr id="34" name="Freeform 34"/>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7"/>
            <a:stretch>
              <a:fillRect/>
            </a:stretch>
          </a:blipFill>
        </p:spPr>
        <p:txBody>
          <a:bodyPr/>
          <a:lstStyle/>
          <a:p>
            <a:endParaRPr lang="fr-MA"/>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18</a:t>
              </a:r>
            </a:p>
          </p:txBody>
        </p:sp>
      </p:grpSp>
      <p:grpSp>
        <p:nvGrpSpPr>
          <p:cNvPr id="7" name="Group 7"/>
          <p:cNvGrpSpPr/>
          <p:nvPr/>
        </p:nvGrpSpPr>
        <p:grpSpPr>
          <a:xfrm>
            <a:off x="2876353" y="4210874"/>
            <a:ext cx="2653220" cy="523875"/>
            <a:chOff x="0" y="0"/>
            <a:chExt cx="840611" cy="165978"/>
          </a:xfrm>
        </p:grpSpPr>
        <p:sp>
          <p:nvSpPr>
            <p:cNvPr id="8" name="Freeform 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9" name="TextBox 9"/>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M5 – Crypto</a:t>
              </a:r>
            </a:p>
          </p:txBody>
        </p:sp>
      </p:grpSp>
      <p:grpSp>
        <p:nvGrpSpPr>
          <p:cNvPr id="10" name="Group 10"/>
          <p:cNvGrpSpPr/>
          <p:nvPr/>
        </p:nvGrpSpPr>
        <p:grpSpPr>
          <a:xfrm>
            <a:off x="1469091" y="4579156"/>
            <a:ext cx="1636842" cy="163684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a:stretch>
            </a:blipFill>
          </p:spPr>
          <p:txBody>
            <a:bodyPr/>
            <a:lstStyle/>
            <a:p>
              <a:endParaRPr lang="fr-MA"/>
            </a:p>
          </p:txBody>
        </p:sp>
      </p:grpSp>
      <p:grpSp>
        <p:nvGrpSpPr>
          <p:cNvPr id="12" name="Group 12"/>
          <p:cNvGrpSpPr/>
          <p:nvPr/>
        </p:nvGrpSpPr>
        <p:grpSpPr>
          <a:xfrm>
            <a:off x="2876353" y="6930374"/>
            <a:ext cx="2653220" cy="523875"/>
            <a:chOff x="0" y="0"/>
            <a:chExt cx="840611" cy="165978"/>
          </a:xfrm>
        </p:grpSpPr>
        <p:sp>
          <p:nvSpPr>
            <p:cNvPr id="13" name="Freeform 1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4" name="TextBox 14"/>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M6 – Auth</a:t>
              </a:r>
            </a:p>
          </p:txBody>
        </p:sp>
      </p:grpSp>
      <p:grpSp>
        <p:nvGrpSpPr>
          <p:cNvPr id="15" name="Group 15"/>
          <p:cNvGrpSpPr/>
          <p:nvPr/>
        </p:nvGrpSpPr>
        <p:grpSpPr>
          <a:xfrm>
            <a:off x="1469091" y="7298656"/>
            <a:ext cx="1636842" cy="163684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fr-MA"/>
            </a:p>
          </p:txBody>
        </p:sp>
      </p:grpSp>
      <p:grpSp>
        <p:nvGrpSpPr>
          <p:cNvPr id="17" name="Group 17"/>
          <p:cNvGrpSpPr/>
          <p:nvPr/>
        </p:nvGrpSpPr>
        <p:grpSpPr>
          <a:xfrm>
            <a:off x="11063370" y="4210874"/>
            <a:ext cx="2653220" cy="523875"/>
            <a:chOff x="0" y="0"/>
            <a:chExt cx="840611" cy="165978"/>
          </a:xfrm>
        </p:grpSpPr>
        <p:sp>
          <p:nvSpPr>
            <p:cNvPr id="18" name="Freeform 1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9" name="TextBox 19"/>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M9 – Reverse</a:t>
              </a:r>
            </a:p>
          </p:txBody>
        </p:sp>
      </p:grpSp>
      <p:grpSp>
        <p:nvGrpSpPr>
          <p:cNvPr id="20" name="Group 20"/>
          <p:cNvGrpSpPr/>
          <p:nvPr/>
        </p:nvGrpSpPr>
        <p:grpSpPr>
          <a:xfrm>
            <a:off x="9656109" y="4579156"/>
            <a:ext cx="1636842" cy="163684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fr-MA"/>
            </a:p>
          </p:txBody>
        </p:sp>
      </p:grpSp>
      <p:grpSp>
        <p:nvGrpSpPr>
          <p:cNvPr id="22" name="Group 22"/>
          <p:cNvGrpSpPr/>
          <p:nvPr/>
        </p:nvGrpSpPr>
        <p:grpSpPr>
          <a:xfrm>
            <a:off x="11063370" y="6930374"/>
            <a:ext cx="2653220" cy="523875"/>
            <a:chOff x="0" y="0"/>
            <a:chExt cx="840611" cy="165978"/>
          </a:xfrm>
        </p:grpSpPr>
        <p:sp>
          <p:nvSpPr>
            <p:cNvPr id="23" name="Freeform 2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24" name="TextBox 24"/>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M10 – Extra</a:t>
              </a:r>
            </a:p>
          </p:txBody>
        </p:sp>
      </p:grpSp>
      <p:grpSp>
        <p:nvGrpSpPr>
          <p:cNvPr id="25" name="Group 25"/>
          <p:cNvGrpSpPr/>
          <p:nvPr/>
        </p:nvGrpSpPr>
        <p:grpSpPr>
          <a:xfrm>
            <a:off x="9656109" y="7298656"/>
            <a:ext cx="1636842" cy="163684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a:stretch>
            </a:blipFill>
          </p:spPr>
          <p:txBody>
            <a:bodyPr/>
            <a:lstStyle/>
            <a:p>
              <a:endParaRPr lang="fr-MA"/>
            </a:p>
          </p:txBody>
        </p:sp>
      </p:grpSp>
      <p:sp>
        <p:nvSpPr>
          <p:cNvPr id="27" name="TextBox 27"/>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Framework</a:t>
            </a:r>
          </a:p>
        </p:txBody>
      </p:sp>
      <p:sp>
        <p:nvSpPr>
          <p:cNvPr id="28" name="TextBox 28"/>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Compliance &amp; Sécurité Mobile</a:t>
            </a:r>
          </a:p>
        </p:txBody>
      </p:sp>
      <p:sp>
        <p:nvSpPr>
          <p:cNvPr id="29" name="TextBox 29"/>
          <p:cNvSpPr txBox="1"/>
          <p:nvPr/>
        </p:nvSpPr>
        <p:spPr>
          <a:xfrm>
            <a:off x="3379976" y="2511078"/>
            <a:ext cx="5250651" cy="1178436"/>
          </a:xfrm>
          <a:prstGeom prst="rect">
            <a:avLst/>
          </a:prstGeom>
        </p:spPr>
        <p:txBody>
          <a:bodyPr lIns="0" tIns="0" rIns="0" bIns="0" rtlCol="0" anchor="t">
            <a:spAutoFit/>
          </a:bodyPr>
          <a:lstStyle/>
          <a:p>
            <a:pPr marL="0" lvl="0" indent="0" algn="l">
              <a:lnSpc>
                <a:spcPts val="4692"/>
              </a:lnSpc>
            </a:pPr>
            <a:r>
              <a:rPr lang="en-US" sz="4080">
                <a:solidFill>
                  <a:srgbClr val="000000"/>
                </a:solidFill>
                <a:latin typeface="Libre Baskerville"/>
                <a:ea typeface="Libre Baskerville"/>
                <a:cs typeface="Libre Baskerville"/>
                <a:sym typeface="Libre Baskerville"/>
              </a:rPr>
              <a:t>OWASP Mobile (suite)</a:t>
            </a:r>
          </a:p>
        </p:txBody>
      </p:sp>
      <p:sp>
        <p:nvSpPr>
          <p:cNvPr id="30" name="TextBox 30"/>
          <p:cNvSpPr txBox="1"/>
          <p:nvPr/>
        </p:nvSpPr>
        <p:spPr>
          <a:xfrm>
            <a:off x="3289625" y="4809473"/>
            <a:ext cx="5342267" cy="1054136"/>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Insecure Cryptography : Audit des algorithmes de chiffrement, détection AES-ECB, clés faibles, IV statiques. Couverture DIRS : 92%</a:t>
            </a:r>
          </a:p>
        </p:txBody>
      </p:sp>
      <p:sp>
        <p:nvSpPr>
          <p:cNvPr id="31" name="TextBox 31"/>
          <p:cNvSpPr txBox="1"/>
          <p:nvPr/>
        </p:nvSpPr>
        <p:spPr>
          <a:xfrm>
            <a:off x="3289625" y="7528973"/>
            <a:ext cx="5342267" cy="1054136"/>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Insecure Authorization : Vérification des contrôles d'accès, bypass de permissions, escalade de privilèges. Couverture DIRS : 88%</a:t>
            </a:r>
          </a:p>
        </p:txBody>
      </p:sp>
      <p:sp>
        <p:nvSpPr>
          <p:cNvPr id="32" name="TextBox 32"/>
          <p:cNvSpPr txBox="1"/>
          <p:nvPr/>
        </p:nvSpPr>
        <p:spPr>
          <a:xfrm>
            <a:off x="11476642" y="4809473"/>
            <a:ext cx="5342267" cy="1406561"/>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Reverse Engineering : Détection d'obfuscation manquante, analyse de décompilation, protection anti-tampering. Couverture DIRS : 78%</a:t>
            </a:r>
          </a:p>
        </p:txBody>
      </p:sp>
      <p:sp>
        <p:nvSpPr>
          <p:cNvPr id="33" name="TextBox 33"/>
          <p:cNvSpPr txBox="1"/>
          <p:nvPr/>
        </p:nvSpPr>
        <p:spPr>
          <a:xfrm>
            <a:off x="11476642" y="7528973"/>
            <a:ext cx="5342267" cy="1054136"/>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Extraneous Functionality : Scan des backdoors, logs debug exposés, endpoints cachés, fonctions de test en production. Couverture DIRS : 85%</a:t>
            </a:r>
          </a:p>
        </p:txBody>
      </p:sp>
      <p:sp>
        <p:nvSpPr>
          <p:cNvPr id="34" name="Freeform 34"/>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7"/>
            <a:stretch>
              <a:fillRect/>
            </a:stretch>
          </a:blipFill>
        </p:spPr>
        <p:txBody>
          <a:bodyPr/>
          <a:lstStyle/>
          <a:p>
            <a:endParaRPr lang="fr-MA"/>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4" name="TextBox 4"/>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Framework</a:t>
            </a:r>
          </a:p>
        </p:txBody>
      </p:sp>
      <p:sp>
        <p:nvSpPr>
          <p:cNvPr id="5" name="TextBox 5"/>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Scoring CVSS 3.1</a:t>
            </a:r>
          </a:p>
        </p:txBody>
      </p:sp>
      <p:sp>
        <p:nvSpPr>
          <p:cNvPr id="6" name="TextBox 6"/>
          <p:cNvSpPr txBox="1"/>
          <p:nvPr/>
        </p:nvSpPr>
        <p:spPr>
          <a:xfrm>
            <a:off x="6186912" y="2478933"/>
            <a:ext cx="5914177" cy="676998"/>
          </a:xfrm>
          <a:prstGeom prst="rect">
            <a:avLst/>
          </a:prstGeom>
        </p:spPr>
        <p:txBody>
          <a:bodyPr lIns="0" tIns="0" rIns="0" bIns="0" rtlCol="0" anchor="t">
            <a:spAutoFit/>
          </a:bodyPr>
          <a:lstStyle/>
          <a:p>
            <a:pPr marL="0" lvl="0" indent="0" algn="ctr">
              <a:lnSpc>
                <a:spcPts val="5305"/>
              </a:lnSpc>
            </a:pPr>
            <a:r>
              <a:rPr lang="en-US" sz="4613">
                <a:solidFill>
                  <a:srgbClr val="000000"/>
                </a:solidFill>
                <a:latin typeface="Libre Baskerville"/>
                <a:ea typeface="Libre Baskerville"/>
                <a:cs typeface="Libre Baskerville"/>
                <a:sym typeface="Libre Baskerville"/>
              </a:rPr>
              <a:t>Findings &amp; Sévérité</a:t>
            </a:r>
          </a:p>
        </p:txBody>
      </p:sp>
      <p:grpSp>
        <p:nvGrpSpPr>
          <p:cNvPr id="7" name="Group 7"/>
          <p:cNvGrpSpPr/>
          <p:nvPr/>
        </p:nvGrpSpPr>
        <p:grpSpPr>
          <a:xfrm>
            <a:off x="3077581" y="4231533"/>
            <a:ext cx="12132838" cy="4575145"/>
            <a:chOff x="0" y="0"/>
            <a:chExt cx="16177118" cy="6100193"/>
          </a:xfrm>
        </p:grpSpPr>
        <p:grpSp>
          <p:nvGrpSpPr>
            <p:cNvPr id="8" name="Group 8"/>
            <p:cNvGrpSpPr/>
            <p:nvPr/>
          </p:nvGrpSpPr>
          <p:grpSpPr>
            <a:xfrm>
              <a:off x="0" y="0"/>
              <a:ext cx="1202463" cy="1086855"/>
              <a:chOff x="0" y="0"/>
              <a:chExt cx="237523" cy="214687"/>
            </a:xfrm>
          </p:grpSpPr>
          <p:sp>
            <p:nvSpPr>
              <p:cNvPr id="9" name="Freeform 9"/>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10" name="TextBox 10"/>
              <p:cNvSpPr txBox="1"/>
              <p:nvPr/>
            </p:nvSpPr>
            <p:spPr>
              <a:xfrm>
                <a:off x="0" y="-38100"/>
                <a:ext cx="237523"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1</a:t>
                </a:r>
              </a:p>
            </p:txBody>
          </p:sp>
        </p:grpSp>
        <p:grpSp>
          <p:nvGrpSpPr>
            <p:cNvPr id="11" name="Group 11"/>
            <p:cNvGrpSpPr/>
            <p:nvPr/>
          </p:nvGrpSpPr>
          <p:grpSpPr>
            <a:xfrm>
              <a:off x="0" y="1671228"/>
              <a:ext cx="1202463" cy="1086855"/>
              <a:chOff x="0" y="0"/>
              <a:chExt cx="237523" cy="214687"/>
            </a:xfrm>
          </p:grpSpPr>
          <p:sp>
            <p:nvSpPr>
              <p:cNvPr id="12" name="Freeform 12"/>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13" name="TextBox 13"/>
              <p:cNvSpPr txBox="1"/>
              <p:nvPr/>
            </p:nvSpPr>
            <p:spPr>
              <a:xfrm>
                <a:off x="0" y="-38100"/>
                <a:ext cx="237523"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2</a:t>
                </a:r>
              </a:p>
            </p:txBody>
          </p:sp>
        </p:grpSp>
        <p:grpSp>
          <p:nvGrpSpPr>
            <p:cNvPr id="14" name="Group 14"/>
            <p:cNvGrpSpPr/>
            <p:nvPr/>
          </p:nvGrpSpPr>
          <p:grpSpPr>
            <a:xfrm>
              <a:off x="0" y="3342283"/>
              <a:ext cx="1202463" cy="1086855"/>
              <a:chOff x="0" y="0"/>
              <a:chExt cx="237523" cy="214687"/>
            </a:xfrm>
          </p:grpSpPr>
          <p:sp>
            <p:nvSpPr>
              <p:cNvPr id="15" name="Freeform 15"/>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16" name="TextBox 16"/>
              <p:cNvSpPr txBox="1"/>
              <p:nvPr/>
            </p:nvSpPr>
            <p:spPr>
              <a:xfrm>
                <a:off x="0" y="-38100"/>
                <a:ext cx="237523"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3</a:t>
                </a:r>
              </a:p>
            </p:txBody>
          </p:sp>
        </p:grpSp>
        <p:grpSp>
          <p:nvGrpSpPr>
            <p:cNvPr id="17" name="Group 17"/>
            <p:cNvGrpSpPr/>
            <p:nvPr/>
          </p:nvGrpSpPr>
          <p:grpSpPr>
            <a:xfrm>
              <a:off x="0" y="5013338"/>
              <a:ext cx="1202463" cy="1086855"/>
              <a:chOff x="0" y="0"/>
              <a:chExt cx="237523" cy="214687"/>
            </a:xfrm>
          </p:grpSpPr>
          <p:sp>
            <p:nvSpPr>
              <p:cNvPr id="18" name="Freeform 18"/>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19" name="TextBox 19"/>
              <p:cNvSpPr txBox="1"/>
              <p:nvPr/>
            </p:nvSpPr>
            <p:spPr>
              <a:xfrm>
                <a:off x="0" y="-38100"/>
                <a:ext cx="237523"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4</a:t>
                </a:r>
              </a:p>
            </p:txBody>
          </p:sp>
        </p:grpSp>
        <p:grpSp>
          <p:nvGrpSpPr>
            <p:cNvPr id="20" name="Group 20"/>
            <p:cNvGrpSpPr/>
            <p:nvPr/>
          </p:nvGrpSpPr>
          <p:grpSpPr>
            <a:xfrm>
              <a:off x="1542772" y="0"/>
              <a:ext cx="5659117" cy="1086855"/>
              <a:chOff x="0" y="0"/>
              <a:chExt cx="1117850" cy="214687"/>
            </a:xfrm>
          </p:grpSpPr>
          <p:sp>
            <p:nvSpPr>
              <p:cNvPr id="21" name="Freeform 21"/>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22" name="TextBox 22"/>
              <p:cNvSpPr txBox="1"/>
              <p:nvPr/>
            </p:nvSpPr>
            <p:spPr>
              <a:xfrm>
                <a:off x="0" y="-38100"/>
                <a:ext cx="1117850"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Root Detection</a:t>
                </a:r>
              </a:p>
            </p:txBody>
          </p:sp>
        </p:grpSp>
        <p:grpSp>
          <p:nvGrpSpPr>
            <p:cNvPr id="23" name="Group 23"/>
            <p:cNvGrpSpPr/>
            <p:nvPr/>
          </p:nvGrpSpPr>
          <p:grpSpPr>
            <a:xfrm>
              <a:off x="1542772" y="1671228"/>
              <a:ext cx="5659117" cy="1086855"/>
              <a:chOff x="0" y="0"/>
              <a:chExt cx="1117850" cy="214687"/>
            </a:xfrm>
          </p:grpSpPr>
          <p:sp>
            <p:nvSpPr>
              <p:cNvPr id="24" name="Freeform 24"/>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25" name="TextBox 25"/>
              <p:cNvSpPr txBox="1"/>
              <p:nvPr/>
            </p:nvSpPr>
            <p:spPr>
              <a:xfrm>
                <a:off x="0" y="-38100"/>
                <a:ext cx="1117850"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AVB Bypass</a:t>
                </a:r>
              </a:p>
            </p:txBody>
          </p:sp>
        </p:grpSp>
        <p:grpSp>
          <p:nvGrpSpPr>
            <p:cNvPr id="26" name="Group 26"/>
            <p:cNvGrpSpPr/>
            <p:nvPr/>
          </p:nvGrpSpPr>
          <p:grpSpPr>
            <a:xfrm>
              <a:off x="1542772" y="3342283"/>
              <a:ext cx="5659117" cy="1086855"/>
              <a:chOff x="0" y="0"/>
              <a:chExt cx="1117850" cy="214687"/>
            </a:xfrm>
          </p:grpSpPr>
          <p:sp>
            <p:nvSpPr>
              <p:cNvPr id="27" name="Freeform 27"/>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28" name="TextBox 28"/>
              <p:cNvSpPr txBox="1"/>
              <p:nvPr/>
            </p:nvSpPr>
            <p:spPr>
              <a:xfrm>
                <a:off x="0" y="-38100"/>
                <a:ext cx="1117850"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TLS Downgrade</a:t>
                </a:r>
              </a:p>
            </p:txBody>
          </p:sp>
        </p:grpSp>
        <p:grpSp>
          <p:nvGrpSpPr>
            <p:cNvPr id="29" name="Group 29"/>
            <p:cNvGrpSpPr/>
            <p:nvPr/>
          </p:nvGrpSpPr>
          <p:grpSpPr>
            <a:xfrm>
              <a:off x="1542772" y="5013338"/>
              <a:ext cx="5659117" cy="1086855"/>
              <a:chOff x="0" y="0"/>
              <a:chExt cx="1117850" cy="214687"/>
            </a:xfrm>
          </p:grpSpPr>
          <p:sp>
            <p:nvSpPr>
              <p:cNvPr id="30" name="Freeform 30"/>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31" name="TextBox 31"/>
              <p:cNvSpPr txBox="1"/>
              <p:nvPr/>
            </p:nvSpPr>
            <p:spPr>
              <a:xfrm>
                <a:off x="0" y="-38100"/>
                <a:ext cx="1117850"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Debug Enabled</a:t>
                </a:r>
              </a:p>
            </p:txBody>
          </p:sp>
        </p:grpSp>
        <p:grpSp>
          <p:nvGrpSpPr>
            <p:cNvPr id="32" name="Group 32"/>
            <p:cNvGrpSpPr/>
            <p:nvPr/>
          </p:nvGrpSpPr>
          <p:grpSpPr>
            <a:xfrm>
              <a:off x="8975229" y="0"/>
              <a:ext cx="1202463" cy="1086855"/>
              <a:chOff x="0" y="0"/>
              <a:chExt cx="237523" cy="214687"/>
            </a:xfrm>
          </p:grpSpPr>
          <p:sp>
            <p:nvSpPr>
              <p:cNvPr id="33" name="Freeform 33"/>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34" name="TextBox 34"/>
              <p:cNvSpPr txBox="1"/>
              <p:nvPr/>
            </p:nvSpPr>
            <p:spPr>
              <a:xfrm>
                <a:off x="0" y="-38100"/>
                <a:ext cx="237523"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5</a:t>
                </a:r>
              </a:p>
            </p:txBody>
          </p:sp>
        </p:grpSp>
        <p:grpSp>
          <p:nvGrpSpPr>
            <p:cNvPr id="35" name="Group 35"/>
            <p:cNvGrpSpPr/>
            <p:nvPr/>
          </p:nvGrpSpPr>
          <p:grpSpPr>
            <a:xfrm>
              <a:off x="8975229" y="1671228"/>
              <a:ext cx="1202463" cy="1086855"/>
              <a:chOff x="0" y="0"/>
              <a:chExt cx="237523" cy="214687"/>
            </a:xfrm>
          </p:grpSpPr>
          <p:sp>
            <p:nvSpPr>
              <p:cNvPr id="36" name="Freeform 36"/>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37" name="TextBox 37"/>
              <p:cNvSpPr txBox="1"/>
              <p:nvPr/>
            </p:nvSpPr>
            <p:spPr>
              <a:xfrm>
                <a:off x="0" y="-38100"/>
                <a:ext cx="237523"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6</a:t>
                </a:r>
              </a:p>
            </p:txBody>
          </p:sp>
        </p:grpSp>
        <p:grpSp>
          <p:nvGrpSpPr>
            <p:cNvPr id="38" name="Group 38"/>
            <p:cNvGrpSpPr/>
            <p:nvPr/>
          </p:nvGrpSpPr>
          <p:grpSpPr>
            <a:xfrm>
              <a:off x="8975229" y="3342283"/>
              <a:ext cx="1202463" cy="1086855"/>
              <a:chOff x="0" y="0"/>
              <a:chExt cx="237523" cy="214687"/>
            </a:xfrm>
          </p:grpSpPr>
          <p:sp>
            <p:nvSpPr>
              <p:cNvPr id="39" name="Freeform 39"/>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40" name="TextBox 40"/>
              <p:cNvSpPr txBox="1"/>
              <p:nvPr/>
            </p:nvSpPr>
            <p:spPr>
              <a:xfrm>
                <a:off x="0" y="-38100"/>
                <a:ext cx="237523"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7</a:t>
                </a:r>
              </a:p>
            </p:txBody>
          </p:sp>
        </p:grpSp>
        <p:grpSp>
          <p:nvGrpSpPr>
            <p:cNvPr id="41" name="Group 41"/>
            <p:cNvGrpSpPr/>
            <p:nvPr/>
          </p:nvGrpSpPr>
          <p:grpSpPr>
            <a:xfrm>
              <a:off x="8975229" y="5013338"/>
              <a:ext cx="1202463" cy="1086855"/>
              <a:chOff x="0" y="0"/>
              <a:chExt cx="237523" cy="214687"/>
            </a:xfrm>
          </p:grpSpPr>
          <p:sp>
            <p:nvSpPr>
              <p:cNvPr id="42" name="Freeform 42"/>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43" name="TextBox 43"/>
              <p:cNvSpPr txBox="1"/>
              <p:nvPr/>
            </p:nvSpPr>
            <p:spPr>
              <a:xfrm>
                <a:off x="0" y="-38100"/>
                <a:ext cx="237523"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8</a:t>
                </a:r>
              </a:p>
            </p:txBody>
          </p:sp>
        </p:grpSp>
        <p:grpSp>
          <p:nvGrpSpPr>
            <p:cNvPr id="44" name="Group 44"/>
            <p:cNvGrpSpPr/>
            <p:nvPr/>
          </p:nvGrpSpPr>
          <p:grpSpPr>
            <a:xfrm>
              <a:off x="10518001" y="0"/>
              <a:ext cx="5659117" cy="1086855"/>
              <a:chOff x="0" y="0"/>
              <a:chExt cx="1117850" cy="214687"/>
            </a:xfrm>
          </p:grpSpPr>
          <p:sp>
            <p:nvSpPr>
              <p:cNvPr id="45" name="Freeform 45"/>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46" name="TextBox 46"/>
              <p:cNvSpPr txBox="1"/>
              <p:nvPr/>
            </p:nvSpPr>
            <p:spPr>
              <a:xfrm>
                <a:off x="0" y="-38100"/>
                <a:ext cx="1117850"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Cert Pinning Fail</a:t>
                </a:r>
              </a:p>
            </p:txBody>
          </p:sp>
        </p:grpSp>
        <p:grpSp>
          <p:nvGrpSpPr>
            <p:cNvPr id="47" name="Group 47"/>
            <p:cNvGrpSpPr/>
            <p:nvPr/>
          </p:nvGrpSpPr>
          <p:grpSpPr>
            <a:xfrm>
              <a:off x="10518001" y="1671228"/>
              <a:ext cx="5659117" cy="1086855"/>
              <a:chOff x="0" y="0"/>
              <a:chExt cx="1117850" cy="214687"/>
            </a:xfrm>
          </p:grpSpPr>
          <p:sp>
            <p:nvSpPr>
              <p:cNvPr id="48" name="Freeform 48"/>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49" name="TextBox 49"/>
              <p:cNvSpPr txBox="1"/>
              <p:nvPr/>
            </p:nvSpPr>
            <p:spPr>
              <a:xfrm>
                <a:off x="0" y="-38100"/>
                <a:ext cx="1117850"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SELinux Permissive</a:t>
                </a:r>
              </a:p>
            </p:txBody>
          </p:sp>
        </p:grpSp>
        <p:grpSp>
          <p:nvGrpSpPr>
            <p:cNvPr id="50" name="Group 50"/>
            <p:cNvGrpSpPr/>
            <p:nvPr/>
          </p:nvGrpSpPr>
          <p:grpSpPr>
            <a:xfrm>
              <a:off x="10518001" y="3342283"/>
              <a:ext cx="5659117" cy="1086855"/>
              <a:chOff x="0" y="0"/>
              <a:chExt cx="1117850" cy="214687"/>
            </a:xfrm>
          </p:grpSpPr>
          <p:sp>
            <p:nvSpPr>
              <p:cNvPr id="51" name="Freeform 51"/>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52" name="TextBox 52"/>
              <p:cNvSpPr txBox="1"/>
              <p:nvPr/>
            </p:nvSpPr>
            <p:spPr>
              <a:xfrm>
                <a:off x="0" y="-38100"/>
                <a:ext cx="1117850"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Keystore Weak</a:t>
                </a:r>
              </a:p>
            </p:txBody>
          </p:sp>
        </p:grpSp>
        <p:grpSp>
          <p:nvGrpSpPr>
            <p:cNvPr id="53" name="Group 53"/>
            <p:cNvGrpSpPr/>
            <p:nvPr/>
          </p:nvGrpSpPr>
          <p:grpSpPr>
            <a:xfrm>
              <a:off x="10518001" y="5013338"/>
              <a:ext cx="5659117" cy="1086855"/>
              <a:chOff x="0" y="0"/>
              <a:chExt cx="1117850" cy="214687"/>
            </a:xfrm>
          </p:grpSpPr>
          <p:sp>
            <p:nvSpPr>
              <p:cNvPr id="54" name="Freeform 54"/>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55" name="TextBox 55"/>
              <p:cNvSpPr txBox="1"/>
              <p:nvPr/>
            </p:nvSpPr>
            <p:spPr>
              <a:xfrm>
                <a:off x="0" y="-38100"/>
                <a:ext cx="1117850"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ADB Active</a:t>
                </a:r>
              </a:p>
            </p:txBody>
          </p:sp>
        </p:grpSp>
      </p:grpSp>
      <p:sp>
        <p:nvSpPr>
          <p:cNvPr id="56" name="Freeform 56"/>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28575"/>
              <a:ext cx="360059" cy="243262"/>
            </a:xfrm>
            <a:prstGeom prst="rect">
              <a:avLst/>
            </a:prstGeom>
          </p:spPr>
          <p:txBody>
            <a:bodyPr lIns="50800" tIns="50800" rIns="50800" bIns="50800" rtlCol="0" anchor="ctr"/>
            <a:lstStyle/>
            <a:p>
              <a:pPr marL="0" lvl="0" indent="0" algn="ctr">
                <a:lnSpc>
                  <a:spcPts val="2796"/>
                </a:lnSpc>
              </a:pPr>
              <a:r>
                <a:rPr lang="en-US" sz="1997">
                  <a:solidFill>
                    <a:srgbClr val="000000"/>
                  </a:solidFill>
                  <a:latin typeface="Lora"/>
                  <a:ea typeface="Lora"/>
                  <a:cs typeface="Lora"/>
                  <a:sym typeface="Lora"/>
                </a:rPr>
                <a:t>17</a:t>
              </a:r>
            </a:p>
          </p:txBody>
        </p:sp>
      </p:grpSp>
      <p:sp>
        <p:nvSpPr>
          <p:cNvPr id="7" name="TextBox 7"/>
          <p:cNvSpPr txBox="1"/>
          <p:nvPr/>
        </p:nvSpPr>
        <p:spPr>
          <a:xfrm>
            <a:off x="1028700" y="1025846"/>
            <a:ext cx="4847279" cy="330266"/>
          </a:xfrm>
          <a:prstGeom prst="rect">
            <a:avLst/>
          </a:prstGeom>
        </p:spPr>
        <p:txBody>
          <a:bodyPr lIns="0" tIns="0" rIns="0" bIns="0" rtlCol="0" anchor="t">
            <a:spAutoFit/>
          </a:bodyPr>
          <a:lstStyle/>
          <a:p>
            <a:pPr marL="0" lvl="0" indent="0" algn="l">
              <a:lnSpc>
                <a:spcPts val="2796"/>
              </a:lnSpc>
            </a:pPr>
            <a:r>
              <a:rPr lang="en-US" sz="1997">
                <a:solidFill>
                  <a:srgbClr val="000000"/>
                </a:solidFill>
                <a:latin typeface="Lora"/>
                <a:ea typeface="Lora"/>
                <a:cs typeface="Lora"/>
                <a:sym typeface="Lora"/>
              </a:rPr>
              <a:t>DIRS Framework</a:t>
            </a:r>
          </a:p>
        </p:txBody>
      </p:sp>
      <p:sp>
        <p:nvSpPr>
          <p:cNvPr id="8" name="TextBox 8"/>
          <p:cNvSpPr txBox="1"/>
          <p:nvPr/>
        </p:nvSpPr>
        <p:spPr>
          <a:xfrm>
            <a:off x="10250243" y="1025846"/>
            <a:ext cx="7009057" cy="330266"/>
          </a:xfrm>
          <a:prstGeom prst="rect">
            <a:avLst/>
          </a:prstGeom>
        </p:spPr>
        <p:txBody>
          <a:bodyPr lIns="0" tIns="0" rIns="0" bIns="0" rtlCol="0" anchor="t">
            <a:spAutoFit/>
          </a:bodyPr>
          <a:lstStyle/>
          <a:p>
            <a:pPr marL="0" lvl="0" indent="0" algn="r">
              <a:lnSpc>
                <a:spcPts val="2796"/>
              </a:lnSpc>
            </a:pPr>
            <a:r>
              <a:rPr lang="en-US" sz="1997">
                <a:solidFill>
                  <a:srgbClr val="000000"/>
                </a:solidFill>
                <a:latin typeface="Lora"/>
                <a:ea typeface="Lora"/>
                <a:cs typeface="Lora"/>
                <a:sym typeface="Lora"/>
              </a:rPr>
              <a:t>Device Integrity &amp; Risk Scorer</a:t>
            </a:r>
          </a:p>
        </p:txBody>
      </p:sp>
      <p:sp>
        <p:nvSpPr>
          <p:cNvPr id="9" name="TextBox 9"/>
          <p:cNvSpPr txBox="1"/>
          <p:nvPr/>
        </p:nvSpPr>
        <p:spPr>
          <a:xfrm>
            <a:off x="3379976" y="2501553"/>
            <a:ext cx="6332259" cy="696649"/>
          </a:xfrm>
          <a:prstGeom prst="rect">
            <a:avLst/>
          </a:prstGeom>
        </p:spPr>
        <p:txBody>
          <a:bodyPr lIns="0" tIns="0" rIns="0" bIns="0" rtlCol="0" anchor="t">
            <a:spAutoFit/>
          </a:bodyPr>
          <a:lstStyle/>
          <a:p>
            <a:pPr marL="0" lvl="0" indent="0" algn="l">
              <a:lnSpc>
                <a:spcPts val="5414"/>
              </a:lnSpc>
            </a:pPr>
            <a:r>
              <a:rPr lang="en-US" sz="4708">
                <a:solidFill>
                  <a:srgbClr val="000000"/>
                </a:solidFill>
                <a:latin typeface="Libre Baskerville"/>
                <a:ea typeface="Libre Baskerville"/>
                <a:cs typeface="Libre Baskerville"/>
                <a:sym typeface="Libre Baskerville"/>
              </a:rPr>
              <a:t>Reporting &amp; Exports</a:t>
            </a:r>
          </a:p>
        </p:txBody>
      </p:sp>
      <p:grpSp>
        <p:nvGrpSpPr>
          <p:cNvPr id="10" name="Group 10"/>
          <p:cNvGrpSpPr/>
          <p:nvPr/>
        </p:nvGrpSpPr>
        <p:grpSpPr>
          <a:xfrm>
            <a:off x="1344109" y="5129784"/>
            <a:ext cx="4869727" cy="4128516"/>
            <a:chOff x="0" y="0"/>
            <a:chExt cx="1282562" cy="1087346"/>
          </a:xfrm>
        </p:grpSpPr>
        <p:sp>
          <p:nvSpPr>
            <p:cNvPr id="11" name="Freeform 11"/>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12" name="TextBox 12"/>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13" name="Group 13"/>
          <p:cNvGrpSpPr/>
          <p:nvPr/>
        </p:nvGrpSpPr>
        <p:grpSpPr>
          <a:xfrm>
            <a:off x="1344109" y="4394160"/>
            <a:ext cx="1630386" cy="745149"/>
            <a:chOff x="0" y="0"/>
            <a:chExt cx="429402" cy="196253"/>
          </a:xfrm>
        </p:grpSpPr>
        <p:sp>
          <p:nvSpPr>
            <p:cNvPr id="14" name="Freeform 1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15" name="TextBox 1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C-Level</a:t>
              </a:r>
            </a:p>
          </p:txBody>
        </p:sp>
      </p:grpSp>
      <p:sp>
        <p:nvSpPr>
          <p:cNvPr id="16" name="TextBox 16"/>
          <p:cNvSpPr txBox="1"/>
          <p:nvPr/>
        </p:nvSpPr>
        <p:spPr>
          <a:xfrm>
            <a:off x="1990612" y="5775452"/>
            <a:ext cx="3553098" cy="2816291"/>
          </a:xfrm>
          <a:prstGeom prst="rect">
            <a:avLst/>
          </a:prstGeom>
        </p:spPr>
        <p:txBody>
          <a:bodyPr lIns="0" tIns="0" rIns="0" bIns="0" rtlCol="0" anchor="t">
            <a:spAutoFit/>
          </a:bodyPr>
          <a:lstStyle/>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Executive Report</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Audience : Direction, RSSI, Board</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Score global et tendance</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Risques critiques prioritaires</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Recommandations stratégiques</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Comparatif sectoriel</a:t>
            </a:r>
          </a:p>
        </p:txBody>
      </p:sp>
      <p:grpSp>
        <p:nvGrpSpPr>
          <p:cNvPr id="17" name="Group 17"/>
          <p:cNvGrpSpPr/>
          <p:nvPr/>
        </p:nvGrpSpPr>
        <p:grpSpPr>
          <a:xfrm>
            <a:off x="2962631" y="4394160"/>
            <a:ext cx="1630386" cy="745149"/>
            <a:chOff x="0" y="0"/>
            <a:chExt cx="429402" cy="196253"/>
          </a:xfrm>
        </p:grpSpPr>
        <p:sp>
          <p:nvSpPr>
            <p:cNvPr id="18" name="Freeform 18"/>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19" name="TextBox 19"/>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1 page</a:t>
              </a:r>
            </a:p>
          </p:txBody>
        </p:sp>
      </p:grpSp>
      <p:grpSp>
        <p:nvGrpSpPr>
          <p:cNvPr id="20" name="Group 20"/>
          <p:cNvGrpSpPr/>
          <p:nvPr/>
        </p:nvGrpSpPr>
        <p:grpSpPr>
          <a:xfrm>
            <a:off x="4583450" y="4394160"/>
            <a:ext cx="1630386" cy="745149"/>
            <a:chOff x="0" y="0"/>
            <a:chExt cx="429402" cy="196253"/>
          </a:xfrm>
        </p:grpSpPr>
        <p:sp>
          <p:nvSpPr>
            <p:cNvPr id="21" name="Freeform 21"/>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22" name="TextBox 22"/>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PDF</a:t>
              </a:r>
            </a:p>
          </p:txBody>
        </p:sp>
      </p:grpSp>
      <p:grpSp>
        <p:nvGrpSpPr>
          <p:cNvPr id="23" name="Group 23"/>
          <p:cNvGrpSpPr/>
          <p:nvPr/>
        </p:nvGrpSpPr>
        <p:grpSpPr>
          <a:xfrm>
            <a:off x="6709136" y="5129784"/>
            <a:ext cx="4869727" cy="4128516"/>
            <a:chOff x="0" y="0"/>
            <a:chExt cx="1282562" cy="1087346"/>
          </a:xfrm>
        </p:grpSpPr>
        <p:sp>
          <p:nvSpPr>
            <p:cNvPr id="24" name="Freeform 24"/>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25" name="TextBox 25"/>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26" name="Group 26"/>
          <p:cNvGrpSpPr/>
          <p:nvPr/>
        </p:nvGrpSpPr>
        <p:grpSpPr>
          <a:xfrm>
            <a:off x="6709136" y="4394160"/>
            <a:ext cx="1630386" cy="745149"/>
            <a:chOff x="0" y="0"/>
            <a:chExt cx="429402" cy="196253"/>
          </a:xfrm>
        </p:grpSpPr>
        <p:sp>
          <p:nvSpPr>
            <p:cNvPr id="27" name="Freeform 27"/>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28" name="TextBox 28"/>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SOC</a:t>
              </a:r>
            </a:p>
          </p:txBody>
        </p:sp>
      </p:grpSp>
      <p:sp>
        <p:nvSpPr>
          <p:cNvPr id="29" name="TextBox 29"/>
          <p:cNvSpPr txBox="1"/>
          <p:nvPr/>
        </p:nvSpPr>
        <p:spPr>
          <a:xfrm>
            <a:off x="7355639" y="5775452"/>
            <a:ext cx="3553098" cy="2463866"/>
          </a:xfrm>
          <a:prstGeom prst="rect">
            <a:avLst/>
          </a:prstGeom>
        </p:spPr>
        <p:txBody>
          <a:bodyPr lIns="0" tIns="0" rIns="0" bIns="0" rtlCol="0" anchor="t">
            <a:spAutoFit/>
          </a:bodyPr>
          <a:lstStyle/>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Technical Report</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Audience : Équipe sécurité, DevSecOps</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Détail findings par vecteur</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Preuves techniques CVE</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Logs et traces d'audit</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Scores CVSS détaillés</a:t>
            </a:r>
          </a:p>
        </p:txBody>
      </p:sp>
      <p:grpSp>
        <p:nvGrpSpPr>
          <p:cNvPr id="30" name="Group 30"/>
          <p:cNvGrpSpPr/>
          <p:nvPr/>
        </p:nvGrpSpPr>
        <p:grpSpPr>
          <a:xfrm>
            <a:off x="8327658" y="4394160"/>
            <a:ext cx="1630386" cy="745149"/>
            <a:chOff x="0" y="0"/>
            <a:chExt cx="429402" cy="196253"/>
          </a:xfrm>
        </p:grpSpPr>
        <p:sp>
          <p:nvSpPr>
            <p:cNvPr id="31" name="Freeform 31"/>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32" name="TextBox 32"/>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50+ p.</a:t>
              </a:r>
            </a:p>
          </p:txBody>
        </p:sp>
      </p:grpSp>
      <p:grpSp>
        <p:nvGrpSpPr>
          <p:cNvPr id="33" name="Group 33"/>
          <p:cNvGrpSpPr/>
          <p:nvPr/>
        </p:nvGrpSpPr>
        <p:grpSpPr>
          <a:xfrm>
            <a:off x="9948478" y="4394160"/>
            <a:ext cx="1630386" cy="745149"/>
            <a:chOff x="0" y="0"/>
            <a:chExt cx="429402" cy="196253"/>
          </a:xfrm>
        </p:grpSpPr>
        <p:sp>
          <p:nvSpPr>
            <p:cNvPr id="34" name="Freeform 3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35" name="TextBox 3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JSON</a:t>
              </a:r>
            </a:p>
          </p:txBody>
        </p:sp>
      </p:grpSp>
      <p:grpSp>
        <p:nvGrpSpPr>
          <p:cNvPr id="36" name="Group 36"/>
          <p:cNvGrpSpPr/>
          <p:nvPr/>
        </p:nvGrpSpPr>
        <p:grpSpPr>
          <a:xfrm>
            <a:off x="12071339" y="5129784"/>
            <a:ext cx="4869727" cy="4128516"/>
            <a:chOff x="0" y="0"/>
            <a:chExt cx="1282562" cy="1087346"/>
          </a:xfrm>
        </p:grpSpPr>
        <p:sp>
          <p:nvSpPr>
            <p:cNvPr id="37" name="Freeform 37"/>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38" name="TextBox 38"/>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39" name="Group 39"/>
          <p:cNvGrpSpPr/>
          <p:nvPr/>
        </p:nvGrpSpPr>
        <p:grpSpPr>
          <a:xfrm>
            <a:off x="12071339" y="4394160"/>
            <a:ext cx="1630386" cy="745149"/>
            <a:chOff x="0" y="0"/>
            <a:chExt cx="429402" cy="196253"/>
          </a:xfrm>
        </p:grpSpPr>
        <p:sp>
          <p:nvSpPr>
            <p:cNvPr id="40" name="Freeform 40"/>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41" name="TextBox 41"/>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IT Ops</a:t>
              </a:r>
            </a:p>
          </p:txBody>
        </p:sp>
      </p:grpSp>
      <p:sp>
        <p:nvSpPr>
          <p:cNvPr id="42" name="TextBox 42"/>
          <p:cNvSpPr txBox="1"/>
          <p:nvPr/>
        </p:nvSpPr>
        <p:spPr>
          <a:xfrm>
            <a:off x="12717841" y="5775452"/>
            <a:ext cx="3553098" cy="2463866"/>
          </a:xfrm>
          <a:prstGeom prst="rect">
            <a:avLst/>
          </a:prstGeom>
        </p:spPr>
        <p:txBody>
          <a:bodyPr lIns="0" tIns="0" rIns="0" bIns="0" rtlCol="0" anchor="t">
            <a:spAutoFit/>
          </a:bodyPr>
          <a:lstStyle/>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Remediation Playbook</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Audience : IT, Administrateurs MDM</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Actions correctives priorisées</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Scripts de remédiation</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Intégration MDM/EMM</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Suivi progression flotte</a:t>
            </a:r>
          </a:p>
        </p:txBody>
      </p:sp>
      <p:grpSp>
        <p:nvGrpSpPr>
          <p:cNvPr id="43" name="Group 43"/>
          <p:cNvGrpSpPr/>
          <p:nvPr/>
        </p:nvGrpSpPr>
        <p:grpSpPr>
          <a:xfrm>
            <a:off x="13689861" y="4394160"/>
            <a:ext cx="1630386" cy="745149"/>
            <a:chOff x="0" y="0"/>
            <a:chExt cx="429402" cy="196253"/>
          </a:xfrm>
        </p:grpSpPr>
        <p:sp>
          <p:nvSpPr>
            <p:cNvPr id="44" name="Freeform 4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45" name="TextBox 4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Actions</a:t>
              </a:r>
            </a:p>
          </p:txBody>
        </p:sp>
      </p:grpSp>
      <p:grpSp>
        <p:nvGrpSpPr>
          <p:cNvPr id="46" name="Group 46"/>
          <p:cNvGrpSpPr/>
          <p:nvPr/>
        </p:nvGrpSpPr>
        <p:grpSpPr>
          <a:xfrm>
            <a:off x="15310680" y="4394160"/>
            <a:ext cx="1630386" cy="745149"/>
            <a:chOff x="0" y="0"/>
            <a:chExt cx="429402" cy="196253"/>
          </a:xfrm>
        </p:grpSpPr>
        <p:sp>
          <p:nvSpPr>
            <p:cNvPr id="47" name="Freeform 47"/>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48" name="TextBox 48"/>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MDM</a:t>
              </a:r>
            </a:p>
          </p:txBody>
        </p:sp>
      </p:grpSp>
      <p:sp>
        <p:nvSpPr>
          <p:cNvPr id="49" name="Freeform 49"/>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21</a:t>
              </a:r>
            </a:p>
          </p:txBody>
        </p:sp>
      </p:grpSp>
      <p:grpSp>
        <p:nvGrpSpPr>
          <p:cNvPr id="7" name="Group 7"/>
          <p:cNvGrpSpPr/>
          <p:nvPr/>
        </p:nvGrpSpPr>
        <p:grpSpPr>
          <a:xfrm>
            <a:off x="2876353" y="4210874"/>
            <a:ext cx="2653220" cy="523875"/>
            <a:chOff x="0" y="0"/>
            <a:chExt cx="840611" cy="165978"/>
          </a:xfrm>
        </p:grpSpPr>
        <p:sp>
          <p:nvSpPr>
            <p:cNvPr id="8" name="Freeform 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9" name="TextBox 9"/>
            <p:cNvSpPr txBox="1"/>
            <p:nvPr/>
          </p:nvSpPr>
          <p:spPr>
            <a:xfrm>
              <a:off x="0" y="-28575"/>
              <a:ext cx="840611" cy="194553"/>
            </a:xfrm>
            <a:prstGeom prst="rect">
              <a:avLst/>
            </a:prstGeom>
          </p:spPr>
          <p:txBody>
            <a:bodyPr lIns="50800" tIns="50800" rIns="50800" bIns="50800" rtlCol="0" anchor="ctr"/>
            <a:lstStyle/>
            <a:p>
              <a:pPr marL="0" lvl="0" indent="0" algn="ctr">
                <a:lnSpc>
                  <a:spcPts val="2373"/>
                </a:lnSpc>
              </a:pPr>
              <a:r>
                <a:rPr lang="en-US" sz="1695">
                  <a:solidFill>
                    <a:srgbClr val="000000"/>
                  </a:solidFill>
                  <a:latin typeface="Lora"/>
                  <a:ea typeface="Lora"/>
                  <a:cs typeface="Lora"/>
                  <a:sym typeface="Lora"/>
                </a:rPr>
                <a:t>F-Pattern Layout</a:t>
              </a:r>
            </a:p>
          </p:txBody>
        </p:sp>
      </p:grpSp>
      <p:grpSp>
        <p:nvGrpSpPr>
          <p:cNvPr id="10" name="Group 10"/>
          <p:cNvGrpSpPr/>
          <p:nvPr/>
        </p:nvGrpSpPr>
        <p:grpSpPr>
          <a:xfrm>
            <a:off x="1469091" y="4579156"/>
            <a:ext cx="1636842" cy="163684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a:stretch>
            </a:blipFill>
          </p:spPr>
          <p:txBody>
            <a:bodyPr/>
            <a:lstStyle/>
            <a:p>
              <a:endParaRPr lang="fr-MA"/>
            </a:p>
          </p:txBody>
        </p:sp>
      </p:grpSp>
      <p:grpSp>
        <p:nvGrpSpPr>
          <p:cNvPr id="12" name="Group 12"/>
          <p:cNvGrpSpPr/>
          <p:nvPr/>
        </p:nvGrpSpPr>
        <p:grpSpPr>
          <a:xfrm>
            <a:off x="2876353" y="6930374"/>
            <a:ext cx="2653220" cy="523875"/>
            <a:chOff x="0" y="0"/>
            <a:chExt cx="840611" cy="165978"/>
          </a:xfrm>
        </p:grpSpPr>
        <p:sp>
          <p:nvSpPr>
            <p:cNvPr id="13" name="Freeform 1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4" name="TextBox 14"/>
            <p:cNvSpPr txBox="1"/>
            <p:nvPr/>
          </p:nvSpPr>
          <p:spPr>
            <a:xfrm>
              <a:off x="0" y="-28575"/>
              <a:ext cx="840611" cy="194553"/>
            </a:xfrm>
            <a:prstGeom prst="rect">
              <a:avLst/>
            </a:prstGeom>
          </p:spPr>
          <p:txBody>
            <a:bodyPr lIns="50800" tIns="50800" rIns="50800" bIns="50800" rtlCol="0" anchor="ctr"/>
            <a:lstStyle/>
            <a:p>
              <a:pPr marL="0" lvl="0" indent="0" algn="ctr">
                <a:lnSpc>
                  <a:spcPts val="2373"/>
                </a:lnSpc>
              </a:pPr>
              <a:r>
                <a:rPr lang="en-US" sz="1695">
                  <a:solidFill>
                    <a:srgbClr val="000000"/>
                  </a:solidFill>
                  <a:latin typeface="Lora"/>
                  <a:ea typeface="Lora"/>
                  <a:cs typeface="Lora"/>
                  <a:sym typeface="Lora"/>
                </a:rPr>
                <a:t>Sémantique Chromatique</a:t>
              </a:r>
            </a:p>
          </p:txBody>
        </p:sp>
      </p:grpSp>
      <p:grpSp>
        <p:nvGrpSpPr>
          <p:cNvPr id="15" name="Group 15"/>
          <p:cNvGrpSpPr/>
          <p:nvPr/>
        </p:nvGrpSpPr>
        <p:grpSpPr>
          <a:xfrm>
            <a:off x="1469091" y="7298656"/>
            <a:ext cx="1636842" cy="163684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fr-MA"/>
            </a:p>
          </p:txBody>
        </p:sp>
      </p:grpSp>
      <p:grpSp>
        <p:nvGrpSpPr>
          <p:cNvPr id="17" name="Group 17"/>
          <p:cNvGrpSpPr/>
          <p:nvPr/>
        </p:nvGrpSpPr>
        <p:grpSpPr>
          <a:xfrm>
            <a:off x="11063370" y="4210874"/>
            <a:ext cx="2653220" cy="523875"/>
            <a:chOff x="0" y="0"/>
            <a:chExt cx="840611" cy="165978"/>
          </a:xfrm>
        </p:grpSpPr>
        <p:sp>
          <p:nvSpPr>
            <p:cNvPr id="18" name="Freeform 1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9" name="TextBox 19"/>
            <p:cNvSpPr txBox="1"/>
            <p:nvPr/>
          </p:nvSpPr>
          <p:spPr>
            <a:xfrm>
              <a:off x="0" y="-28575"/>
              <a:ext cx="840611" cy="194553"/>
            </a:xfrm>
            <a:prstGeom prst="rect">
              <a:avLst/>
            </a:prstGeom>
          </p:spPr>
          <p:txBody>
            <a:bodyPr lIns="50800" tIns="50800" rIns="50800" bIns="50800" rtlCol="0" anchor="ctr"/>
            <a:lstStyle/>
            <a:p>
              <a:pPr marL="0" lvl="0" indent="0" algn="ctr">
                <a:lnSpc>
                  <a:spcPts val="2373"/>
                </a:lnSpc>
              </a:pPr>
              <a:r>
                <a:rPr lang="en-US" sz="1695">
                  <a:solidFill>
                    <a:srgbClr val="000000"/>
                  </a:solidFill>
                  <a:latin typeface="Lora"/>
                  <a:ea typeface="Lora"/>
                  <a:cs typeface="Lora"/>
                  <a:sym typeface="Lora"/>
                </a:rPr>
                <a:t>Progressive Disclosure</a:t>
              </a:r>
            </a:p>
          </p:txBody>
        </p:sp>
      </p:grpSp>
      <p:grpSp>
        <p:nvGrpSpPr>
          <p:cNvPr id="20" name="Group 20"/>
          <p:cNvGrpSpPr/>
          <p:nvPr/>
        </p:nvGrpSpPr>
        <p:grpSpPr>
          <a:xfrm>
            <a:off x="9656109" y="4579156"/>
            <a:ext cx="1636842" cy="163684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fr-MA"/>
            </a:p>
          </p:txBody>
        </p:sp>
      </p:grpSp>
      <p:grpSp>
        <p:nvGrpSpPr>
          <p:cNvPr id="22" name="Group 22"/>
          <p:cNvGrpSpPr/>
          <p:nvPr/>
        </p:nvGrpSpPr>
        <p:grpSpPr>
          <a:xfrm>
            <a:off x="11063370" y="6930374"/>
            <a:ext cx="2653220" cy="523875"/>
            <a:chOff x="0" y="0"/>
            <a:chExt cx="840611" cy="165978"/>
          </a:xfrm>
        </p:grpSpPr>
        <p:sp>
          <p:nvSpPr>
            <p:cNvPr id="23" name="Freeform 2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24" name="TextBox 24"/>
            <p:cNvSpPr txBox="1"/>
            <p:nvPr/>
          </p:nvSpPr>
          <p:spPr>
            <a:xfrm>
              <a:off x="0" y="-28575"/>
              <a:ext cx="840611" cy="194553"/>
            </a:xfrm>
            <a:prstGeom prst="rect">
              <a:avLst/>
            </a:prstGeom>
          </p:spPr>
          <p:txBody>
            <a:bodyPr lIns="50800" tIns="50800" rIns="50800" bIns="50800" rtlCol="0" anchor="ctr"/>
            <a:lstStyle/>
            <a:p>
              <a:pPr marL="0" lvl="0" indent="0" algn="ctr">
                <a:lnSpc>
                  <a:spcPts val="2373"/>
                </a:lnSpc>
              </a:pPr>
              <a:r>
                <a:rPr lang="en-US" sz="1695">
                  <a:solidFill>
                    <a:srgbClr val="000000"/>
                  </a:solidFill>
                  <a:latin typeface="Lora"/>
                  <a:ea typeface="Lora"/>
                  <a:cs typeface="Lora"/>
                  <a:sym typeface="Lora"/>
                </a:rPr>
                <a:t>Alert Priority Stack</a:t>
              </a:r>
            </a:p>
          </p:txBody>
        </p:sp>
      </p:grpSp>
      <p:grpSp>
        <p:nvGrpSpPr>
          <p:cNvPr id="25" name="Group 25"/>
          <p:cNvGrpSpPr/>
          <p:nvPr/>
        </p:nvGrpSpPr>
        <p:grpSpPr>
          <a:xfrm>
            <a:off x="9656109" y="7298656"/>
            <a:ext cx="1636842" cy="163684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a:stretch>
            </a:blipFill>
          </p:spPr>
          <p:txBody>
            <a:bodyPr/>
            <a:lstStyle/>
            <a:p>
              <a:endParaRPr lang="fr-MA"/>
            </a:p>
          </p:txBody>
        </p:sp>
      </p:grpSp>
      <p:sp>
        <p:nvSpPr>
          <p:cNvPr id="27" name="TextBox 27"/>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Framework</a:t>
            </a:r>
          </a:p>
        </p:txBody>
      </p:sp>
      <p:sp>
        <p:nvSpPr>
          <p:cNvPr id="28" name="TextBox 28"/>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Device Integrity &amp; Risk Scorer</a:t>
            </a:r>
          </a:p>
        </p:txBody>
      </p:sp>
      <p:sp>
        <p:nvSpPr>
          <p:cNvPr id="29" name="TextBox 29"/>
          <p:cNvSpPr txBox="1"/>
          <p:nvPr/>
        </p:nvSpPr>
        <p:spPr>
          <a:xfrm>
            <a:off x="3379976" y="2511078"/>
            <a:ext cx="5250651" cy="597743"/>
          </a:xfrm>
          <a:prstGeom prst="rect">
            <a:avLst/>
          </a:prstGeom>
        </p:spPr>
        <p:txBody>
          <a:bodyPr lIns="0" tIns="0" rIns="0" bIns="0" rtlCol="0" anchor="t">
            <a:spAutoFit/>
          </a:bodyPr>
          <a:lstStyle/>
          <a:p>
            <a:pPr marL="0" lvl="0" indent="0" algn="l">
              <a:lnSpc>
                <a:spcPts val="4752"/>
              </a:lnSpc>
            </a:pPr>
            <a:r>
              <a:rPr lang="en-US" sz="4132">
                <a:solidFill>
                  <a:srgbClr val="000000"/>
                </a:solidFill>
                <a:latin typeface="Libre Baskerville"/>
                <a:ea typeface="Libre Baskerville"/>
                <a:cs typeface="Libre Baskerville"/>
                <a:sym typeface="Libre Baskerville"/>
              </a:rPr>
              <a:t>UI/UX Engineering</a:t>
            </a:r>
          </a:p>
        </p:txBody>
      </p:sp>
      <p:sp>
        <p:nvSpPr>
          <p:cNvPr id="30" name="TextBox 30"/>
          <p:cNvSpPr txBox="1"/>
          <p:nvPr/>
        </p:nvSpPr>
        <p:spPr>
          <a:xfrm>
            <a:off x="3289625" y="4828523"/>
            <a:ext cx="5342267" cy="871347"/>
          </a:xfrm>
          <a:prstGeom prst="rect">
            <a:avLst/>
          </a:prstGeom>
        </p:spPr>
        <p:txBody>
          <a:bodyPr lIns="0" tIns="0" rIns="0" bIns="0" rtlCol="0" anchor="t">
            <a:spAutoFit/>
          </a:bodyPr>
          <a:lstStyle/>
          <a:p>
            <a:pPr marL="0" lvl="0" indent="0" algn="just">
              <a:lnSpc>
                <a:spcPts val="2372"/>
              </a:lnSpc>
            </a:pPr>
            <a:r>
              <a:rPr lang="en-US" sz="1694">
                <a:solidFill>
                  <a:srgbClr val="343131"/>
                </a:solidFill>
                <a:latin typeface="Glacial Indifference"/>
                <a:ea typeface="Glacial Indifference"/>
                <a:cs typeface="Glacial Indifference"/>
                <a:sym typeface="Glacial Indifference"/>
              </a:rPr>
              <a:t>Optimisation du parcours visuel selon le pattern de lecture naturel. Hiérarchie horizontale puis verticale pour maximiser la rétention d'information critique.</a:t>
            </a:r>
          </a:p>
        </p:txBody>
      </p:sp>
      <p:sp>
        <p:nvSpPr>
          <p:cNvPr id="31" name="TextBox 31"/>
          <p:cNvSpPr txBox="1"/>
          <p:nvPr/>
        </p:nvSpPr>
        <p:spPr>
          <a:xfrm>
            <a:off x="3289625" y="7548023"/>
            <a:ext cx="5342267" cy="871347"/>
          </a:xfrm>
          <a:prstGeom prst="rect">
            <a:avLst/>
          </a:prstGeom>
        </p:spPr>
        <p:txBody>
          <a:bodyPr lIns="0" tIns="0" rIns="0" bIns="0" rtlCol="0" anchor="t">
            <a:spAutoFit/>
          </a:bodyPr>
          <a:lstStyle/>
          <a:p>
            <a:pPr marL="0" lvl="0" indent="0" algn="just">
              <a:lnSpc>
                <a:spcPts val="2372"/>
              </a:lnSpc>
            </a:pPr>
            <a:r>
              <a:rPr lang="en-US" sz="1694">
                <a:solidFill>
                  <a:srgbClr val="343131"/>
                </a:solidFill>
                <a:latin typeface="Glacial Indifference"/>
                <a:ea typeface="Glacial Indifference"/>
                <a:cs typeface="Glacial Indifference"/>
                <a:sym typeface="Glacial Indifference"/>
              </a:rPr>
              <a:t>Système chromatique cohérent : rouge critique, orange élevé, jaune modéré, vert sécurisé. Ratio contraste WCAG AAA pour accessibilité optimale.</a:t>
            </a:r>
          </a:p>
        </p:txBody>
      </p:sp>
      <p:sp>
        <p:nvSpPr>
          <p:cNvPr id="32" name="TextBox 32"/>
          <p:cNvSpPr txBox="1"/>
          <p:nvPr/>
        </p:nvSpPr>
        <p:spPr>
          <a:xfrm>
            <a:off x="11476642" y="4828523"/>
            <a:ext cx="5342267" cy="871347"/>
          </a:xfrm>
          <a:prstGeom prst="rect">
            <a:avLst/>
          </a:prstGeom>
        </p:spPr>
        <p:txBody>
          <a:bodyPr lIns="0" tIns="0" rIns="0" bIns="0" rtlCol="0" anchor="t">
            <a:spAutoFit/>
          </a:bodyPr>
          <a:lstStyle/>
          <a:p>
            <a:pPr marL="0" lvl="0" indent="0" algn="just">
              <a:lnSpc>
                <a:spcPts val="2372"/>
              </a:lnSpc>
            </a:pPr>
            <a:r>
              <a:rPr lang="en-US" sz="1694">
                <a:solidFill>
                  <a:srgbClr val="343131"/>
                </a:solidFill>
                <a:latin typeface="Glacial Indifference"/>
                <a:ea typeface="Glacial Indifference"/>
                <a:cs typeface="Glacial Indifference"/>
                <a:sym typeface="Glacial Indifference"/>
              </a:rPr>
              <a:t>Révélation progressive des détails techniques. Vue synthétique par défaut, drill-down contextuel pour analyses approfondies sans surcharge cognitive.</a:t>
            </a:r>
          </a:p>
        </p:txBody>
      </p:sp>
      <p:sp>
        <p:nvSpPr>
          <p:cNvPr id="33" name="TextBox 33"/>
          <p:cNvSpPr txBox="1"/>
          <p:nvPr/>
        </p:nvSpPr>
        <p:spPr>
          <a:xfrm>
            <a:off x="11476642" y="7548023"/>
            <a:ext cx="5342267" cy="871347"/>
          </a:xfrm>
          <a:prstGeom prst="rect">
            <a:avLst/>
          </a:prstGeom>
        </p:spPr>
        <p:txBody>
          <a:bodyPr lIns="0" tIns="0" rIns="0" bIns="0" rtlCol="0" anchor="t">
            <a:spAutoFit/>
          </a:bodyPr>
          <a:lstStyle/>
          <a:p>
            <a:pPr marL="0" lvl="0" indent="0" algn="just">
              <a:lnSpc>
                <a:spcPts val="2372"/>
              </a:lnSpc>
            </a:pPr>
            <a:r>
              <a:rPr lang="en-US" sz="1694">
                <a:solidFill>
                  <a:srgbClr val="343131"/>
                </a:solidFill>
                <a:latin typeface="Glacial Indifference"/>
                <a:ea typeface="Glacial Indifference"/>
                <a:cs typeface="Glacial Indifference"/>
                <a:sym typeface="Glacial Indifference"/>
              </a:rPr>
              <a:t>Empilement intelligent des alertes par criticité. KILL-SWITCH en tête, puis CRITICAL, HIGH, MEDIUM. Gestion automatique du z-index et timing.</a:t>
            </a:r>
          </a:p>
        </p:txBody>
      </p:sp>
      <p:sp>
        <p:nvSpPr>
          <p:cNvPr id="34" name="Freeform 34"/>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7"/>
            <a:stretch>
              <a:fillRect/>
            </a:stretch>
          </a:blipFill>
        </p:spPr>
        <p:txBody>
          <a:bodyPr/>
          <a:lstStyle/>
          <a:p>
            <a:endParaRPr lang="fr-MA"/>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343131"/>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E4E2DE"/>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E4E2DE"/>
            </a:solidFill>
            <a:prstDash val="solid"/>
            <a:headEnd type="none" w="sm" len="sm"/>
            <a:tailEnd type="none" w="sm" len="sm"/>
          </a:ln>
        </p:spPr>
        <p:txBody>
          <a:bodyPr/>
          <a:lstStyle/>
          <a:p>
            <a:endParaRPr lang="fr-MA"/>
          </a:p>
        </p:txBody>
      </p:sp>
      <p:grpSp>
        <p:nvGrpSpPr>
          <p:cNvPr id="4" name="Group 4"/>
          <p:cNvGrpSpPr/>
          <p:nvPr/>
        </p:nvGrpSpPr>
        <p:grpSpPr>
          <a:xfrm>
            <a:off x="-24785" y="2118200"/>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E4E2DE"/>
              </a:solidFill>
              <a:prstDash val="solid"/>
              <a:round/>
            </a:ln>
          </p:spPr>
          <p:txBody>
            <a:bodyPr/>
            <a:lstStyle/>
            <a:p>
              <a:endParaRPr lang="fr-MA"/>
            </a:p>
          </p:txBody>
        </p:sp>
        <p:sp>
          <p:nvSpPr>
            <p:cNvPr id="6" name="TextBox 6"/>
            <p:cNvSpPr txBox="1"/>
            <p:nvPr/>
          </p:nvSpPr>
          <p:spPr>
            <a:xfrm>
              <a:off x="0" y="-57150"/>
              <a:ext cx="360059" cy="271837"/>
            </a:xfrm>
            <a:prstGeom prst="rect">
              <a:avLst/>
            </a:prstGeom>
          </p:spPr>
          <p:txBody>
            <a:bodyPr lIns="50800" tIns="50800" rIns="50800" bIns="50800" rtlCol="0" anchor="ctr"/>
            <a:lstStyle/>
            <a:p>
              <a:pPr marL="0" lvl="0" indent="0" algn="ctr">
                <a:lnSpc>
                  <a:spcPts val="4337"/>
                </a:lnSpc>
              </a:pPr>
              <a:r>
                <a:rPr lang="en-US" sz="3098">
                  <a:solidFill>
                    <a:srgbClr val="E4E2DE"/>
                  </a:solidFill>
                  <a:latin typeface="Lora"/>
                  <a:ea typeface="Lora"/>
                  <a:cs typeface="Lora"/>
                  <a:sym typeface="Lora"/>
                </a:rPr>
                <a:t>22</a:t>
              </a:r>
            </a:p>
          </p:txBody>
        </p:sp>
      </p:grpSp>
      <p:sp>
        <p:nvSpPr>
          <p:cNvPr id="7" name="Freeform 7"/>
          <p:cNvSpPr/>
          <p:nvPr/>
        </p:nvSpPr>
        <p:spPr>
          <a:xfrm>
            <a:off x="6986741" y="3326642"/>
            <a:ext cx="11301259" cy="4845415"/>
          </a:xfrm>
          <a:custGeom>
            <a:avLst/>
            <a:gdLst/>
            <a:ahLst/>
            <a:cxnLst/>
            <a:rect l="l" t="t" r="r" b="b"/>
            <a:pathLst>
              <a:path w="11301259" h="4845415">
                <a:moveTo>
                  <a:pt x="0" y="0"/>
                </a:moveTo>
                <a:lnTo>
                  <a:pt x="11301259" y="0"/>
                </a:lnTo>
                <a:lnTo>
                  <a:pt x="11301259" y="4845415"/>
                </a:lnTo>
                <a:lnTo>
                  <a:pt x="0" y="4845415"/>
                </a:lnTo>
                <a:lnTo>
                  <a:pt x="0" y="0"/>
                </a:lnTo>
                <a:close/>
              </a:path>
            </a:pathLst>
          </a:custGeom>
          <a:blipFill>
            <a:blip r:embed="rId3"/>
            <a:stretch>
              <a:fillRect/>
            </a:stretch>
          </a:blipFill>
        </p:spPr>
        <p:txBody>
          <a:bodyPr/>
          <a:lstStyle/>
          <a:p>
            <a:endParaRPr lang="fr-MA"/>
          </a:p>
        </p:txBody>
      </p:sp>
      <p:sp>
        <p:nvSpPr>
          <p:cNvPr id="8" name="TextBox 8"/>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E4E2DE"/>
                </a:solidFill>
                <a:latin typeface="Lora"/>
                <a:ea typeface="Lora"/>
                <a:cs typeface="Lora"/>
                <a:sym typeface="Lora"/>
              </a:rPr>
              <a:t>DIRS Framework</a:t>
            </a:r>
          </a:p>
        </p:txBody>
      </p:sp>
      <p:sp>
        <p:nvSpPr>
          <p:cNvPr id="9" name="TextBox 9"/>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E4E2DE"/>
                </a:solidFill>
                <a:latin typeface="Lora"/>
                <a:ea typeface="Lora"/>
                <a:cs typeface="Lora"/>
                <a:sym typeface="Lora"/>
              </a:rPr>
              <a:t>Device Integrity &amp; Risk Scorer</a:t>
            </a:r>
          </a:p>
        </p:txBody>
      </p:sp>
      <p:sp>
        <p:nvSpPr>
          <p:cNvPr id="10" name="TextBox 10"/>
          <p:cNvSpPr txBox="1"/>
          <p:nvPr/>
        </p:nvSpPr>
        <p:spPr>
          <a:xfrm>
            <a:off x="1678813" y="2166996"/>
            <a:ext cx="9822651" cy="607196"/>
          </a:xfrm>
          <a:prstGeom prst="rect">
            <a:avLst/>
          </a:prstGeom>
        </p:spPr>
        <p:txBody>
          <a:bodyPr lIns="0" tIns="0" rIns="0" bIns="0" rtlCol="0" anchor="t">
            <a:spAutoFit/>
          </a:bodyPr>
          <a:lstStyle/>
          <a:p>
            <a:pPr marL="0" lvl="0" indent="0" algn="l">
              <a:lnSpc>
                <a:spcPts val="4739"/>
              </a:lnSpc>
            </a:pPr>
            <a:r>
              <a:rPr lang="en-US" sz="4121">
                <a:solidFill>
                  <a:srgbClr val="E4E2DE"/>
                </a:solidFill>
                <a:latin typeface="Libre Baskerville"/>
                <a:ea typeface="Libre Baskerville"/>
                <a:cs typeface="Libre Baskerville"/>
                <a:sym typeface="Libre Baskerville"/>
              </a:rPr>
              <a:t>Data Visualization Dashboard</a:t>
            </a:r>
          </a:p>
        </p:txBody>
      </p:sp>
      <p:sp>
        <p:nvSpPr>
          <p:cNvPr id="11" name="TextBox 11"/>
          <p:cNvSpPr txBox="1"/>
          <p:nvPr/>
        </p:nvSpPr>
        <p:spPr>
          <a:xfrm>
            <a:off x="-41031" y="3085742"/>
            <a:ext cx="6002118" cy="2213610"/>
          </a:xfrm>
          <a:prstGeom prst="rect">
            <a:avLst/>
          </a:prstGeom>
        </p:spPr>
        <p:txBody>
          <a:bodyPr lIns="0" tIns="0" rIns="0" bIns="0" rtlCol="0" anchor="t">
            <a:spAutoFit/>
          </a:bodyPr>
          <a:lstStyle/>
          <a:p>
            <a:pPr marL="453392" lvl="1" indent="-226696" algn="just">
              <a:lnSpc>
                <a:spcPts val="2940"/>
              </a:lnSpc>
              <a:spcBef>
                <a:spcPct val="0"/>
              </a:spcBef>
              <a:buFont typeface="Arial"/>
              <a:buChar char="•"/>
            </a:pPr>
            <a:r>
              <a:rPr lang="en-US" sz="2100">
                <a:solidFill>
                  <a:srgbClr val="E4E2DE"/>
                </a:solidFill>
                <a:latin typeface="Lora"/>
                <a:ea typeface="Lora"/>
                <a:cs typeface="Lora"/>
                <a:sym typeface="Lora"/>
              </a:rPr>
              <a:t>Tableau de bord DIRS : suivi en temps réel de la sécurité</a:t>
            </a:r>
          </a:p>
          <a:p>
            <a:pPr marL="453392" lvl="1" indent="-226696" algn="just">
              <a:lnSpc>
                <a:spcPts val="2940"/>
              </a:lnSpc>
              <a:spcBef>
                <a:spcPct val="0"/>
              </a:spcBef>
              <a:buFont typeface="Arial"/>
              <a:buChar char="•"/>
            </a:pPr>
            <a:r>
              <a:rPr lang="en-US" sz="2100">
                <a:solidFill>
                  <a:srgbClr val="E4E2DE"/>
                </a:solidFill>
                <a:latin typeface="Lora"/>
                <a:ea typeface="Lora"/>
                <a:cs typeface="Lora"/>
                <a:sym typeface="Lora"/>
              </a:rPr>
              <a:t>Interface claire avec score central, indicateurs visuels et tendances</a:t>
            </a:r>
          </a:p>
          <a:p>
            <a:pPr marL="453392" lvl="1" indent="-226696" algn="just">
              <a:lnSpc>
                <a:spcPts val="2940"/>
              </a:lnSpc>
              <a:spcBef>
                <a:spcPct val="0"/>
              </a:spcBef>
              <a:buFont typeface="Arial"/>
              <a:buChar char="•"/>
            </a:pPr>
            <a:r>
              <a:rPr lang="en-US" sz="2100">
                <a:solidFill>
                  <a:srgbClr val="E4E2DE"/>
                </a:solidFill>
                <a:latin typeface="Lora"/>
                <a:ea typeface="Lora"/>
                <a:cs typeface="Lora"/>
                <a:sym typeface="Lora"/>
              </a:rPr>
              <a:t>Alertes hiérarchisées</a:t>
            </a:r>
          </a:p>
          <a:p>
            <a:pPr marL="0" lvl="0" indent="0" algn="just">
              <a:lnSpc>
                <a:spcPts val="2940"/>
              </a:lnSpc>
              <a:spcBef>
                <a:spcPct val="0"/>
              </a:spcBef>
            </a:pPr>
            <a:endParaRPr lang="en-US" sz="2100">
              <a:solidFill>
                <a:srgbClr val="E4E2DE"/>
              </a:solidFill>
              <a:latin typeface="Lora"/>
              <a:ea typeface="Lora"/>
              <a:cs typeface="Lora"/>
              <a:sym typeface="Lora"/>
            </a:endParaRPr>
          </a:p>
        </p:txBody>
      </p:sp>
      <p:sp>
        <p:nvSpPr>
          <p:cNvPr id="12" name="TextBox 12"/>
          <p:cNvSpPr txBox="1"/>
          <p:nvPr/>
        </p:nvSpPr>
        <p:spPr>
          <a:xfrm>
            <a:off x="-41031" y="5071377"/>
            <a:ext cx="6986741" cy="4070985"/>
          </a:xfrm>
          <a:prstGeom prst="rect">
            <a:avLst/>
          </a:prstGeom>
        </p:spPr>
        <p:txBody>
          <a:bodyPr lIns="0" tIns="0" rIns="0" bIns="0" rtlCol="0" anchor="t">
            <a:spAutoFit/>
          </a:bodyPr>
          <a:lstStyle/>
          <a:p>
            <a:pPr marL="453392" lvl="1" indent="-226696" algn="just">
              <a:lnSpc>
                <a:spcPts val="2940"/>
              </a:lnSpc>
              <a:spcBef>
                <a:spcPct val="0"/>
              </a:spcBef>
              <a:buFont typeface="Arial"/>
              <a:buChar char="•"/>
            </a:pPr>
            <a:r>
              <a:rPr lang="en-US" sz="2100">
                <a:solidFill>
                  <a:srgbClr val="E4E2DE"/>
                </a:solidFill>
                <a:latin typeface="Lora"/>
                <a:ea typeface="Lora"/>
                <a:cs typeface="Lora"/>
                <a:sym typeface="Lora"/>
              </a:rPr>
              <a:t>KPIs clés : score global 72/100, 247 appareils, 94% de conformité</a:t>
            </a:r>
          </a:p>
          <a:p>
            <a:pPr marL="453392" lvl="1" indent="-226696" algn="just">
              <a:lnSpc>
                <a:spcPts val="2940"/>
              </a:lnSpc>
              <a:spcBef>
                <a:spcPct val="0"/>
              </a:spcBef>
              <a:buFont typeface="Arial"/>
              <a:buChar char="•"/>
            </a:pPr>
            <a:r>
              <a:rPr lang="en-US" sz="2100">
                <a:solidFill>
                  <a:srgbClr val="E4E2DE"/>
                </a:solidFill>
                <a:latin typeface="Lora"/>
                <a:ea typeface="Lora"/>
                <a:cs typeface="Lora"/>
                <a:sym typeface="Lora"/>
              </a:rPr>
              <a:t>3 alertes critiques actives</a:t>
            </a:r>
          </a:p>
          <a:p>
            <a:pPr marL="453392" lvl="1" indent="-226696" algn="just">
              <a:lnSpc>
                <a:spcPts val="2940"/>
              </a:lnSpc>
              <a:spcBef>
                <a:spcPct val="0"/>
              </a:spcBef>
              <a:buFont typeface="Arial"/>
              <a:buChar char="•"/>
            </a:pPr>
            <a:r>
              <a:rPr lang="en-US" sz="2100">
                <a:solidFill>
                  <a:srgbClr val="E4E2DE"/>
                </a:solidFill>
                <a:latin typeface="Lora"/>
                <a:ea typeface="Lora"/>
                <a:cs typeface="Lora"/>
                <a:sym typeface="Lora"/>
              </a:rPr>
              <a:t>Indicateurs par vecteur : intégrité 85%, privilèges 78%, réseau 65%, hardware 92%</a:t>
            </a:r>
          </a:p>
          <a:p>
            <a:pPr marL="453392" lvl="1" indent="-226696" algn="just">
              <a:lnSpc>
                <a:spcPts val="2940"/>
              </a:lnSpc>
              <a:spcBef>
                <a:spcPct val="0"/>
              </a:spcBef>
              <a:buFont typeface="Arial"/>
              <a:buChar char="•"/>
            </a:pPr>
            <a:r>
              <a:rPr lang="en-US" sz="2100">
                <a:solidFill>
                  <a:srgbClr val="E4E2DE"/>
                </a:solidFill>
                <a:latin typeface="Lora"/>
                <a:ea typeface="Lora"/>
                <a:cs typeface="Lora"/>
                <a:sym typeface="Lora"/>
              </a:rPr>
              <a:t>Tendance sur 30 jours : +12%</a:t>
            </a:r>
          </a:p>
          <a:p>
            <a:pPr marL="453392" lvl="1" indent="-226696" algn="just">
              <a:lnSpc>
                <a:spcPts val="2940"/>
              </a:lnSpc>
              <a:spcBef>
                <a:spcPct val="0"/>
              </a:spcBef>
              <a:buFont typeface="Arial"/>
              <a:buChar char="•"/>
            </a:pPr>
            <a:r>
              <a:rPr lang="en-US" sz="2100">
                <a:solidFill>
                  <a:srgbClr val="E4E2DE"/>
                </a:solidFill>
                <a:latin typeface="Lora"/>
                <a:ea typeface="Lora"/>
                <a:cs typeface="Lora"/>
                <a:sym typeface="Lora"/>
              </a:rPr>
              <a:t>Feed d’alertes en temps réel avec horodatage</a:t>
            </a:r>
          </a:p>
          <a:p>
            <a:pPr marL="453392" lvl="1" indent="-226696" algn="just">
              <a:lnSpc>
                <a:spcPts val="2940"/>
              </a:lnSpc>
              <a:spcBef>
                <a:spcPct val="0"/>
              </a:spcBef>
              <a:buFont typeface="Arial"/>
              <a:buChar char="•"/>
            </a:pPr>
            <a:r>
              <a:rPr lang="en-US" sz="2100">
                <a:solidFill>
                  <a:srgbClr val="E4E2DE"/>
                </a:solidFill>
                <a:latin typeface="Lora"/>
                <a:ea typeface="Lora"/>
                <a:cs typeface="Lora"/>
                <a:sym typeface="Lora"/>
              </a:rPr>
              <a:t>Export PDF/JSON disponible</a:t>
            </a:r>
          </a:p>
          <a:p>
            <a:pPr marL="453392" lvl="1" indent="-226696" algn="just">
              <a:lnSpc>
                <a:spcPts val="2940"/>
              </a:lnSpc>
              <a:spcBef>
                <a:spcPct val="0"/>
              </a:spcBef>
              <a:buFont typeface="Arial"/>
              <a:buChar char="•"/>
            </a:pPr>
            <a:r>
              <a:rPr lang="en-US" sz="2100">
                <a:solidFill>
                  <a:srgbClr val="E4E2DE"/>
                </a:solidFill>
                <a:latin typeface="Lora"/>
                <a:ea typeface="Lora"/>
                <a:cs typeface="Lora"/>
                <a:sym typeface="Lora"/>
              </a:rPr>
              <a:t>Rafraîchissement automatique toutes les 60 secondes</a:t>
            </a:r>
          </a:p>
          <a:p>
            <a:pPr marL="0" lvl="0" indent="0" algn="just">
              <a:lnSpc>
                <a:spcPts val="2940"/>
              </a:lnSpc>
              <a:spcBef>
                <a:spcPct val="0"/>
              </a:spcBef>
            </a:pPr>
            <a:endParaRPr lang="en-US" sz="2100">
              <a:solidFill>
                <a:srgbClr val="E4E2DE"/>
              </a:solidFill>
              <a:latin typeface="Lora"/>
              <a:ea typeface="Lora"/>
              <a:cs typeface="Lora"/>
              <a:sym typeface="Lora"/>
            </a:endParaRPr>
          </a:p>
        </p:txBody>
      </p:sp>
      <p:sp>
        <p:nvSpPr>
          <p:cNvPr id="13" name="Freeform 13"/>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4"/>
            <a:stretch>
              <a:fillRect/>
            </a:stretch>
          </a:blipFill>
        </p:spPr>
        <p:txBody>
          <a:bodyPr/>
          <a:lstStyle/>
          <a:p>
            <a:endParaRPr lang="fr-MA"/>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343131"/>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E4E2DE"/>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E4E2DE"/>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E4E2DE"/>
              </a:solidFill>
              <a:prstDash val="solid"/>
              <a:round/>
            </a:ln>
          </p:spPr>
          <p:txBody>
            <a:bodyPr/>
            <a:lstStyle/>
            <a:p>
              <a:endParaRPr lang="fr-MA"/>
            </a:p>
          </p:txBody>
        </p:sp>
        <p:sp>
          <p:nvSpPr>
            <p:cNvPr id="6" name="TextBox 6"/>
            <p:cNvSpPr txBox="1"/>
            <p:nvPr/>
          </p:nvSpPr>
          <p:spPr>
            <a:xfrm>
              <a:off x="0" y="-28575"/>
              <a:ext cx="360059" cy="243262"/>
            </a:xfrm>
            <a:prstGeom prst="rect">
              <a:avLst/>
            </a:prstGeom>
          </p:spPr>
          <p:txBody>
            <a:bodyPr lIns="50800" tIns="50800" rIns="50800" bIns="50800" rtlCol="0" anchor="ctr"/>
            <a:lstStyle/>
            <a:p>
              <a:pPr marL="0" lvl="0" indent="0" algn="ctr">
                <a:lnSpc>
                  <a:spcPts val="3099"/>
                </a:lnSpc>
              </a:pPr>
              <a:r>
                <a:rPr lang="en-US" sz="2214">
                  <a:solidFill>
                    <a:srgbClr val="E4E2DE"/>
                  </a:solidFill>
                  <a:latin typeface="Lora"/>
                  <a:ea typeface="Lora"/>
                  <a:cs typeface="Lora"/>
                  <a:sym typeface="Lora"/>
                </a:rPr>
                <a:t>23</a:t>
              </a:r>
            </a:p>
          </p:txBody>
        </p:sp>
      </p:grpSp>
      <p:sp>
        <p:nvSpPr>
          <p:cNvPr id="7" name="TextBox 7"/>
          <p:cNvSpPr txBox="1"/>
          <p:nvPr/>
        </p:nvSpPr>
        <p:spPr>
          <a:xfrm>
            <a:off x="1028700" y="1025846"/>
            <a:ext cx="4847279" cy="362862"/>
          </a:xfrm>
          <a:prstGeom prst="rect">
            <a:avLst/>
          </a:prstGeom>
        </p:spPr>
        <p:txBody>
          <a:bodyPr lIns="0" tIns="0" rIns="0" bIns="0" rtlCol="0" anchor="t">
            <a:spAutoFit/>
          </a:bodyPr>
          <a:lstStyle/>
          <a:p>
            <a:pPr marL="0" lvl="0" indent="0" algn="l">
              <a:lnSpc>
                <a:spcPts val="3099"/>
              </a:lnSpc>
            </a:pPr>
            <a:r>
              <a:rPr lang="en-US" sz="2214">
                <a:solidFill>
                  <a:srgbClr val="E4E2DE"/>
                </a:solidFill>
                <a:latin typeface="Lora"/>
                <a:ea typeface="Lora"/>
                <a:cs typeface="Lora"/>
                <a:sym typeface="Lora"/>
              </a:rPr>
              <a:t>DIRS Framework</a:t>
            </a:r>
          </a:p>
        </p:txBody>
      </p:sp>
      <p:sp>
        <p:nvSpPr>
          <p:cNvPr id="8" name="TextBox 8"/>
          <p:cNvSpPr txBox="1"/>
          <p:nvPr/>
        </p:nvSpPr>
        <p:spPr>
          <a:xfrm>
            <a:off x="10250243" y="1025846"/>
            <a:ext cx="7009057" cy="362862"/>
          </a:xfrm>
          <a:prstGeom prst="rect">
            <a:avLst/>
          </a:prstGeom>
        </p:spPr>
        <p:txBody>
          <a:bodyPr lIns="0" tIns="0" rIns="0" bIns="0" rtlCol="0" anchor="t">
            <a:spAutoFit/>
          </a:bodyPr>
          <a:lstStyle/>
          <a:p>
            <a:pPr marL="0" lvl="0" indent="0" algn="r">
              <a:lnSpc>
                <a:spcPts val="3099"/>
              </a:lnSpc>
            </a:pPr>
            <a:r>
              <a:rPr lang="en-US" sz="2214">
                <a:solidFill>
                  <a:srgbClr val="E4E2DE"/>
                </a:solidFill>
                <a:latin typeface="Lora"/>
                <a:ea typeface="Lora"/>
                <a:cs typeface="Lora"/>
                <a:sym typeface="Lora"/>
              </a:rPr>
              <a:t>Device Integrity &amp; Risk Scorer</a:t>
            </a:r>
          </a:p>
        </p:txBody>
      </p:sp>
      <p:sp>
        <p:nvSpPr>
          <p:cNvPr id="9" name="TextBox 9"/>
          <p:cNvSpPr txBox="1"/>
          <p:nvPr/>
        </p:nvSpPr>
        <p:spPr>
          <a:xfrm>
            <a:off x="3379976" y="2501553"/>
            <a:ext cx="5250651" cy="547625"/>
          </a:xfrm>
          <a:prstGeom prst="rect">
            <a:avLst/>
          </a:prstGeom>
        </p:spPr>
        <p:txBody>
          <a:bodyPr lIns="0" tIns="0" rIns="0" bIns="0" rtlCol="0" anchor="t">
            <a:spAutoFit/>
          </a:bodyPr>
          <a:lstStyle/>
          <a:p>
            <a:pPr marL="0" lvl="0" indent="0" algn="l">
              <a:lnSpc>
                <a:spcPts val="4301"/>
              </a:lnSpc>
            </a:pPr>
            <a:r>
              <a:rPr lang="en-US" sz="3740">
                <a:solidFill>
                  <a:srgbClr val="E4E2DE"/>
                </a:solidFill>
                <a:latin typeface="Libre Baskerville"/>
                <a:ea typeface="Libre Baskerville"/>
                <a:cs typeface="Libre Baskerville"/>
                <a:sym typeface="Libre Baskerville"/>
              </a:rPr>
              <a:t>Simulateur de Risque</a:t>
            </a:r>
          </a:p>
        </p:txBody>
      </p:sp>
      <p:grpSp>
        <p:nvGrpSpPr>
          <p:cNvPr id="10" name="Group 10"/>
          <p:cNvGrpSpPr/>
          <p:nvPr/>
        </p:nvGrpSpPr>
        <p:grpSpPr>
          <a:xfrm>
            <a:off x="1352539" y="3982274"/>
            <a:ext cx="5188685" cy="5052338"/>
            <a:chOff x="0" y="0"/>
            <a:chExt cx="1366567" cy="1330657"/>
          </a:xfrm>
        </p:grpSpPr>
        <p:sp>
          <p:nvSpPr>
            <p:cNvPr id="11" name="Freeform 11"/>
            <p:cNvSpPr/>
            <p:nvPr/>
          </p:nvSpPr>
          <p:spPr>
            <a:xfrm>
              <a:off x="0" y="0"/>
              <a:ext cx="1366567" cy="1330657"/>
            </a:xfrm>
            <a:custGeom>
              <a:avLst/>
              <a:gdLst/>
              <a:ahLst/>
              <a:cxnLst/>
              <a:rect l="l" t="t" r="r" b="b"/>
              <a:pathLst>
                <a:path w="1366567" h="1330657">
                  <a:moveTo>
                    <a:pt x="0" y="0"/>
                  </a:moveTo>
                  <a:lnTo>
                    <a:pt x="1366567" y="0"/>
                  </a:lnTo>
                  <a:lnTo>
                    <a:pt x="1366567" y="1330657"/>
                  </a:lnTo>
                  <a:lnTo>
                    <a:pt x="0" y="1330657"/>
                  </a:lnTo>
                  <a:close/>
                </a:path>
              </a:pathLst>
            </a:custGeom>
            <a:ln w="9525" cap="sq">
              <a:solidFill>
                <a:srgbClr val="E4E2DE"/>
              </a:solidFill>
              <a:prstDash val="solid"/>
              <a:miter/>
            </a:ln>
          </p:spPr>
          <p:txBody>
            <a:bodyPr/>
            <a:lstStyle/>
            <a:p>
              <a:endParaRPr lang="fr-MA"/>
            </a:p>
          </p:txBody>
        </p:sp>
        <p:sp>
          <p:nvSpPr>
            <p:cNvPr id="12" name="TextBox 12"/>
            <p:cNvSpPr txBox="1"/>
            <p:nvPr/>
          </p:nvSpPr>
          <p:spPr>
            <a:xfrm>
              <a:off x="0" y="-38100"/>
              <a:ext cx="1366567" cy="1368757"/>
            </a:xfrm>
            <a:prstGeom prst="rect">
              <a:avLst/>
            </a:prstGeom>
          </p:spPr>
          <p:txBody>
            <a:bodyPr lIns="50800" tIns="50800" rIns="50800" bIns="50800" rtlCol="0" anchor="ctr"/>
            <a:lstStyle/>
            <a:p>
              <a:pPr marL="0" lvl="0" indent="0" algn="ctr">
                <a:lnSpc>
                  <a:spcPts val="3499"/>
                </a:lnSpc>
              </a:pPr>
              <a:endParaRPr/>
            </a:p>
          </p:txBody>
        </p:sp>
      </p:grpSp>
      <p:grpSp>
        <p:nvGrpSpPr>
          <p:cNvPr id="13" name="Group 13"/>
          <p:cNvGrpSpPr/>
          <p:nvPr/>
        </p:nvGrpSpPr>
        <p:grpSpPr>
          <a:xfrm>
            <a:off x="1352539" y="3982274"/>
            <a:ext cx="5188685" cy="986818"/>
            <a:chOff x="0" y="0"/>
            <a:chExt cx="1366567" cy="259903"/>
          </a:xfrm>
        </p:grpSpPr>
        <p:sp>
          <p:nvSpPr>
            <p:cNvPr id="14" name="Freeform 14"/>
            <p:cNvSpPr/>
            <p:nvPr/>
          </p:nvSpPr>
          <p:spPr>
            <a:xfrm>
              <a:off x="0" y="0"/>
              <a:ext cx="1366567" cy="259903"/>
            </a:xfrm>
            <a:custGeom>
              <a:avLst/>
              <a:gdLst/>
              <a:ahLst/>
              <a:cxnLst/>
              <a:rect l="l" t="t" r="r" b="b"/>
              <a:pathLst>
                <a:path w="1366567" h="259903">
                  <a:moveTo>
                    <a:pt x="0" y="0"/>
                  </a:moveTo>
                  <a:lnTo>
                    <a:pt x="1366567" y="0"/>
                  </a:lnTo>
                  <a:lnTo>
                    <a:pt x="1366567" y="259903"/>
                  </a:lnTo>
                  <a:lnTo>
                    <a:pt x="0" y="259903"/>
                  </a:lnTo>
                  <a:close/>
                </a:path>
              </a:pathLst>
            </a:custGeom>
            <a:solidFill>
              <a:srgbClr val="E4E2DE"/>
            </a:solidFill>
            <a:ln w="9525" cap="sq">
              <a:solidFill>
                <a:srgbClr val="343131"/>
              </a:solidFill>
              <a:prstDash val="solid"/>
              <a:miter/>
            </a:ln>
          </p:spPr>
          <p:txBody>
            <a:bodyPr/>
            <a:lstStyle/>
            <a:p>
              <a:endParaRPr lang="fr-MA"/>
            </a:p>
          </p:txBody>
        </p:sp>
        <p:sp>
          <p:nvSpPr>
            <p:cNvPr id="15" name="TextBox 15"/>
            <p:cNvSpPr txBox="1"/>
            <p:nvPr/>
          </p:nvSpPr>
          <p:spPr>
            <a:xfrm>
              <a:off x="0" y="-38100"/>
              <a:ext cx="1366567" cy="298003"/>
            </a:xfrm>
            <a:prstGeom prst="rect">
              <a:avLst/>
            </a:prstGeom>
          </p:spPr>
          <p:txBody>
            <a:bodyPr lIns="50800" tIns="50800" rIns="50800" bIns="50800" rtlCol="0" anchor="ctr"/>
            <a:lstStyle/>
            <a:p>
              <a:pPr marL="0" lvl="0" indent="0" algn="ctr">
                <a:lnSpc>
                  <a:spcPts val="3220"/>
                </a:lnSpc>
              </a:pPr>
              <a:endParaRPr/>
            </a:p>
          </p:txBody>
        </p:sp>
      </p:grpSp>
      <p:sp>
        <p:nvSpPr>
          <p:cNvPr id="16" name="TextBox 16"/>
          <p:cNvSpPr txBox="1"/>
          <p:nvPr/>
        </p:nvSpPr>
        <p:spPr>
          <a:xfrm>
            <a:off x="1600066" y="4206442"/>
            <a:ext cx="4693632" cy="481381"/>
          </a:xfrm>
          <a:prstGeom prst="rect">
            <a:avLst/>
          </a:prstGeom>
        </p:spPr>
        <p:txBody>
          <a:bodyPr lIns="0" tIns="0" rIns="0" bIns="0" rtlCol="0" anchor="t">
            <a:spAutoFit/>
          </a:bodyPr>
          <a:lstStyle/>
          <a:p>
            <a:pPr marL="0" lvl="0" indent="0" algn="ctr">
              <a:lnSpc>
                <a:spcPts val="3917"/>
              </a:lnSpc>
            </a:pPr>
            <a:r>
              <a:rPr lang="en-US" sz="2797">
                <a:solidFill>
                  <a:srgbClr val="343131"/>
                </a:solidFill>
                <a:latin typeface="Lora"/>
                <a:ea typeface="Lora"/>
                <a:cs typeface="Lora"/>
                <a:sym typeface="Lora"/>
              </a:rPr>
              <a:t>Journaliste Zone de Conflit</a:t>
            </a:r>
          </a:p>
        </p:txBody>
      </p:sp>
      <p:grpSp>
        <p:nvGrpSpPr>
          <p:cNvPr id="17" name="Group 17"/>
          <p:cNvGrpSpPr/>
          <p:nvPr/>
        </p:nvGrpSpPr>
        <p:grpSpPr>
          <a:xfrm>
            <a:off x="6541224" y="3982274"/>
            <a:ext cx="5188685" cy="5052338"/>
            <a:chOff x="0" y="0"/>
            <a:chExt cx="1366567" cy="1330657"/>
          </a:xfrm>
        </p:grpSpPr>
        <p:sp>
          <p:nvSpPr>
            <p:cNvPr id="18" name="Freeform 18"/>
            <p:cNvSpPr/>
            <p:nvPr/>
          </p:nvSpPr>
          <p:spPr>
            <a:xfrm>
              <a:off x="0" y="0"/>
              <a:ext cx="1366567" cy="1330657"/>
            </a:xfrm>
            <a:custGeom>
              <a:avLst/>
              <a:gdLst/>
              <a:ahLst/>
              <a:cxnLst/>
              <a:rect l="l" t="t" r="r" b="b"/>
              <a:pathLst>
                <a:path w="1366567" h="1330657">
                  <a:moveTo>
                    <a:pt x="0" y="0"/>
                  </a:moveTo>
                  <a:lnTo>
                    <a:pt x="1366567" y="0"/>
                  </a:lnTo>
                  <a:lnTo>
                    <a:pt x="1366567" y="1330657"/>
                  </a:lnTo>
                  <a:lnTo>
                    <a:pt x="0" y="1330657"/>
                  </a:lnTo>
                  <a:close/>
                </a:path>
              </a:pathLst>
            </a:custGeom>
            <a:ln w="9525" cap="sq">
              <a:solidFill>
                <a:srgbClr val="E4E2DE"/>
              </a:solidFill>
              <a:prstDash val="solid"/>
              <a:miter/>
            </a:ln>
          </p:spPr>
          <p:txBody>
            <a:bodyPr/>
            <a:lstStyle/>
            <a:p>
              <a:endParaRPr lang="fr-MA"/>
            </a:p>
          </p:txBody>
        </p:sp>
        <p:sp>
          <p:nvSpPr>
            <p:cNvPr id="19" name="TextBox 19"/>
            <p:cNvSpPr txBox="1"/>
            <p:nvPr/>
          </p:nvSpPr>
          <p:spPr>
            <a:xfrm>
              <a:off x="0" y="-38100"/>
              <a:ext cx="1366567" cy="1368757"/>
            </a:xfrm>
            <a:prstGeom prst="rect">
              <a:avLst/>
            </a:prstGeom>
          </p:spPr>
          <p:txBody>
            <a:bodyPr lIns="50800" tIns="50800" rIns="50800" bIns="50800" rtlCol="0" anchor="ctr"/>
            <a:lstStyle/>
            <a:p>
              <a:pPr marL="0" lvl="0" indent="0" algn="ctr">
                <a:lnSpc>
                  <a:spcPts val="3499"/>
                </a:lnSpc>
              </a:pPr>
              <a:endParaRPr/>
            </a:p>
          </p:txBody>
        </p:sp>
      </p:grpSp>
      <p:grpSp>
        <p:nvGrpSpPr>
          <p:cNvPr id="20" name="Group 20"/>
          <p:cNvGrpSpPr/>
          <p:nvPr/>
        </p:nvGrpSpPr>
        <p:grpSpPr>
          <a:xfrm>
            <a:off x="11729909" y="3982274"/>
            <a:ext cx="5188685" cy="5052338"/>
            <a:chOff x="0" y="0"/>
            <a:chExt cx="1366567" cy="1330657"/>
          </a:xfrm>
        </p:grpSpPr>
        <p:sp>
          <p:nvSpPr>
            <p:cNvPr id="21" name="Freeform 21"/>
            <p:cNvSpPr/>
            <p:nvPr/>
          </p:nvSpPr>
          <p:spPr>
            <a:xfrm>
              <a:off x="0" y="0"/>
              <a:ext cx="1366567" cy="1330657"/>
            </a:xfrm>
            <a:custGeom>
              <a:avLst/>
              <a:gdLst/>
              <a:ahLst/>
              <a:cxnLst/>
              <a:rect l="l" t="t" r="r" b="b"/>
              <a:pathLst>
                <a:path w="1366567" h="1330657">
                  <a:moveTo>
                    <a:pt x="0" y="0"/>
                  </a:moveTo>
                  <a:lnTo>
                    <a:pt x="1366567" y="0"/>
                  </a:lnTo>
                  <a:lnTo>
                    <a:pt x="1366567" y="1330657"/>
                  </a:lnTo>
                  <a:lnTo>
                    <a:pt x="0" y="1330657"/>
                  </a:lnTo>
                  <a:close/>
                </a:path>
              </a:pathLst>
            </a:custGeom>
            <a:ln w="9525" cap="sq">
              <a:solidFill>
                <a:srgbClr val="E4E2DE"/>
              </a:solidFill>
              <a:prstDash val="solid"/>
              <a:miter/>
            </a:ln>
          </p:spPr>
          <p:txBody>
            <a:bodyPr/>
            <a:lstStyle/>
            <a:p>
              <a:endParaRPr lang="fr-MA"/>
            </a:p>
          </p:txBody>
        </p:sp>
        <p:sp>
          <p:nvSpPr>
            <p:cNvPr id="22" name="TextBox 22"/>
            <p:cNvSpPr txBox="1"/>
            <p:nvPr/>
          </p:nvSpPr>
          <p:spPr>
            <a:xfrm>
              <a:off x="0" y="-38100"/>
              <a:ext cx="1366567" cy="1368757"/>
            </a:xfrm>
            <a:prstGeom prst="rect">
              <a:avLst/>
            </a:prstGeom>
          </p:spPr>
          <p:txBody>
            <a:bodyPr lIns="50800" tIns="50800" rIns="50800" bIns="50800" rtlCol="0" anchor="ctr"/>
            <a:lstStyle/>
            <a:p>
              <a:pPr marL="0" lvl="0" indent="0" algn="ctr">
                <a:lnSpc>
                  <a:spcPts val="3499"/>
                </a:lnSpc>
              </a:pPr>
              <a:endParaRPr/>
            </a:p>
          </p:txBody>
        </p:sp>
      </p:grpSp>
      <p:grpSp>
        <p:nvGrpSpPr>
          <p:cNvPr id="23" name="Group 23"/>
          <p:cNvGrpSpPr/>
          <p:nvPr/>
        </p:nvGrpSpPr>
        <p:grpSpPr>
          <a:xfrm>
            <a:off x="6541224" y="3982274"/>
            <a:ext cx="5188685" cy="986818"/>
            <a:chOff x="0" y="0"/>
            <a:chExt cx="1366567" cy="259903"/>
          </a:xfrm>
        </p:grpSpPr>
        <p:sp>
          <p:nvSpPr>
            <p:cNvPr id="24" name="Freeform 24"/>
            <p:cNvSpPr/>
            <p:nvPr/>
          </p:nvSpPr>
          <p:spPr>
            <a:xfrm>
              <a:off x="0" y="0"/>
              <a:ext cx="1366567" cy="259903"/>
            </a:xfrm>
            <a:custGeom>
              <a:avLst/>
              <a:gdLst/>
              <a:ahLst/>
              <a:cxnLst/>
              <a:rect l="l" t="t" r="r" b="b"/>
              <a:pathLst>
                <a:path w="1366567" h="259903">
                  <a:moveTo>
                    <a:pt x="0" y="0"/>
                  </a:moveTo>
                  <a:lnTo>
                    <a:pt x="1366567" y="0"/>
                  </a:lnTo>
                  <a:lnTo>
                    <a:pt x="1366567" y="259903"/>
                  </a:lnTo>
                  <a:lnTo>
                    <a:pt x="0" y="259903"/>
                  </a:lnTo>
                  <a:close/>
                </a:path>
              </a:pathLst>
            </a:custGeom>
            <a:solidFill>
              <a:srgbClr val="E4E2DE"/>
            </a:solidFill>
            <a:ln w="9525" cap="sq">
              <a:solidFill>
                <a:srgbClr val="343131"/>
              </a:solidFill>
              <a:prstDash val="solid"/>
              <a:miter/>
            </a:ln>
          </p:spPr>
          <p:txBody>
            <a:bodyPr/>
            <a:lstStyle/>
            <a:p>
              <a:endParaRPr lang="fr-MA"/>
            </a:p>
          </p:txBody>
        </p:sp>
        <p:sp>
          <p:nvSpPr>
            <p:cNvPr id="25" name="TextBox 25"/>
            <p:cNvSpPr txBox="1"/>
            <p:nvPr/>
          </p:nvSpPr>
          <p:spPr>
            <a:xfrm>
              <a:off x="0" y="-38100"/>
              <a:ext cx="1366567" cy="298003"/>
            </a:xfrm>
            <a:prstGeom prst="rect">
              <a:avLst/>
            </a:prstGeom>
          </p:spPr>
          <p:txBody>
            <a:bodyPr lIns="50800" tIns="50800" rIns="50800" bIns="50800" rtlCol="0" anchor="ctr"/>
            <a:lstStyle/>
            <a:p>
              <a:pPr marL="0" lvl="0" indent="0" algn="ctr">
                <a:lnSpc>
                  <a:spcPts val="3220"/>
                </a:lnSpc>
              </a:pPr>
              <a:endParaRPr/>
            </a:p>
          </p:txBody>
        </p:sp>
      </p:grpSp>
      <p:sp>
        <p:nvSpPr>
          <p:cNvPr id="26" name="TextBox 26"/>
          <p:cNvSpPr txBox="1"/>
          <p:nvPr/>
        </p:nvSpPr>
        <p:spPr>
          <a:xfrm>
            <a:off x="6788751" y="4206442"/>
            <a:ext cx="4693632" cy="481381"/>
          </a:xfrm>
          <a:prstGeom prst="rect">
            <a:avLst/>
          </a:prstGeom>
        </p:spPr>
        <p:txBody>
          <a:bodyPr lIns="0" tIns="0" rIns="0" bIns="0" rtlCol="0" anchor="t">
            <a:spAutoFit/>
          </a:bodyPr>
          <a:lstStyle/>
          <a:p>
            <a:pPr marL="0" lvl="0" indent="0" algn="ctr">
              <a:lnSpc>
                <a:spcPts val="3917"/>
              </a:lnSpc>
            </a:pPr>
            <a:r>
              <a:rPr lang="en-US" sz="2797">
                <a:solidFill>
                  <a:srgbClr val="343131"/>
                </a:solidFill>
                <a:latin typeface="Lora"/>
                <a:ea typeface="Lora"/>
                <a:cs typeface="Lora"/>
                <a:sym typeface="Lora"/>
              </a:rPr>
              <a:t>Score Global : 78</a:t>
            </a:r>
          </a:p>
        </p:txBody>
      </p:sp>
      <p:grpSp>
        <p:nvGrpSpPr>
          <p:cNvPr id="27" name="Group 27"/>
          <p:cNvGrpSpPr/>
          <p:nvPr/>
        </p:nvGrpSpPr>
        <p:grpSpPr>
          <a:xfrm>
            <a:off x="11746776" y="3982274"/>
            <a:ext cx="5188685" cy="986818"/>
            <a:chOff x="0" y="0"/>
            <a:chExt cx="1366567" cy="259903"/>
          </a:xfrm>
        </p:grpSpPr>
        <p:sp>
          <p:nvSpPr>
            <p:cNvPr id="28" name="Freeform 28"/>
            <p:cNvSpPr/>
            <p:nvPr/>
          </p:nvSpPr>
          <p:spPr>
            <a:xfrm>
              <a:off x="0" y="0"/>
              <a:ext cx="1366567" cy="259903"/>
            </a:xfrm>
            <a:custGeom>
              <a:avLst/>
              <a:gdLst/>
              <a:ahLst/>
              <a:cxnLst/>
              <a:rect l="l" t="t" r="r" b="b"/>
              <a:pathLst>
                <a:path w="1366567" h="259903">
                  <a:moveTo>
                    <a:pt x="0" y="0"/>
                  </a:moveTo>
                  <a:lnTo>
                    <a:pt x="1366567" y="0"/>
                  </a:lnTo>
                  <a:lnTo>
                    <a:pt x="1366567" y="259903"/>
                  </a:lnTo>
                  <a:lnTo>
                    <a:pt x="0" y="259903"/>
                  </a:lnTo>
                  <a:close/>
                </a:path>
              </a:pathLst>
            </a:custGeom>
            <a:solidFill>
              <a:srgbClr val="E4E2DE"/>
            </a:solidFill>
            <a:ln w="9525" cap="sq">
              <a:solidFill>
                <a:srgbClr val="343131"/>
              </a:solidFill>
              <a:prstDash val="solid"/>
              <a:miter/>
            </a:ln>
          </p:spPr>
          <p:txBody>
            <a:bodyPr/>
            <a:lstStyle/>
            <a:p>
              <a:endParaRPr lang="fr-MA"/>
            </a:p>
          </p:txBody>
        </p:sp>
        <p:sp>
          <p:nvSpPr>
            <p:cNvPr id="29" name="TextBox 29"/>
            <p:cNvSpPr txBox="1"/>
            <p:nvPr/>
          </p:nvSpPr>
          <p:spPr>
            <a:xfrm>
              <a:off x="0" y="-38100"/>
              <a:ext cx="1366567" cy="298003"/>
            </a:xfrm>
            <a:prstGeom prst="rect">
              <a:avLst/>
            </a:prstGeom>
          </p:spPr>
          <p:txBody>
            <a:bodyPr lIns="50800" tIns="50800" rIns="50800" bIns="50800" rtlCol="0" anchor="ctr"/>
            <a:lstStyle/>
            <a:p>
              <a:pPr marL="0" lvl="0" indent="0" algn="ctr">
                <a:lnSpc>
                  <a:spcPts val="3220"/>
                </a:lnSpc>
              </a:pPr>
              <a:endParaRPr/>
            </a:p>
          </p:txBody>
        </p:sp>
      </p:grpSp>
      <p:sp>
        <p:nvSpPr>
          <p:cNvPr id="30" name="TextBox 30"/>
          <p:cNvSpPr txBox="1"/>
          <p:nvPr/>
        </p:nvSpPr>
        <p:spPr>
          <a:xfrm>
            <a:off x="11994302" y="4206442"/>
            <a:ext cx="4693632" cy="481381"/>
          </a:xfrm>
          <a:prstGeom prst="rect">
            <a:avLst/>
          </a:prstGeom>
        </p:spPr>
        <p:txBody>
          <a:bodyPr lIns="0" tIns="0" rIns="0" bIns="0" rtlCol="0" anchor="t">
            <a:spAutoFit/>
          </a:bodyPr>
          <a:lstStyle/>
          <a:p>
            <a:pPr marL="0" lvl="0" indent="0" algn="ctr">
              <a:lnSpc>
                <a:spcPts val="3917"/>
              </a:lnSpc>
            </a:pPr>
            <a:r>
              <a:rPr lang="en-US" sz="2797">
                <a:solidFill>
                  <a:srgbClr val="343131"/>
                </a:solidFill>
                <a:latin typeface="Lora"/>
                <a:ea typeface="Lora"/>
                <a:cs typeface="Lora"/>
                <a:sym typeface="Lora"/>
              </a:rPr>
              <a:t>Executive Finance BYOD</a:t>
            </a:r>
          </a:p>
        </p:txBody>
      </p:sp>
      <p:sp>
        <p:nvSpPr>
          <p:cNvPr id="31" name="TextBox 31"/>
          <p:cNvSpPr txBox="1"/>
          <p:nvPr/>
        </p:nvSpPr>
        <p:spPr>
          <a:xfrm>
            <a:off x="1782420" y="5443548"/>
            <a:ext cx="4328923" cy="2806152"/>
          </a:xfrm>
          <a:prstGeom prst="rect">
            <a:avLst/>
          </a:prstGeom>
        </p:spPr>
        <p:txBody>
          <a:bodyPr lIns="0" tIns="0" rIns="0" bIns="0" rtlCol="0" anchor="t">
            <a:spAutoFit/>
          </a:bodyPr>
          <a:lstStyle/>
          <a:p>
            <a:pPr marL="0" lvl="0" indent="0" algn="just">
              <a:lnSpc>
                <a:spcPts val="2830"/>
              </a:lnSpc>
              <a:spcBef>
                <a:spcPct val="0"/>
              </a:spcBef>
            </a:pPr>
            <a:r>
              <a:rPr lang="en-US" sz="2021">
                <a:solidFill>
                  <a:srgbClr val="E4E2DE"/>
                </a:solidFill>
                <a:latin typeface="Glacial Indifference"/>
                <a:ea typeface="Glacial Indifference"/>
                <a:cs typeface="Glacial Indifference"/>
                <a:sym typeface="Glacial Indifference"/>
              </a:rPr>
              <a:t>Modèle de menace : Surveillance étatique, interception réseau hostile, vol physique d'appareil. Vecteurs critiques : Réseau (92%), Privilèges (85%), Hardware (78%), Intégrité (75%), Compliance (72%), Configuration (68%), Applications (65%). Risque élevé nécessitant mesures renforcées.</a:t>
            </a:r>
          </a:p>
        </p:txBody>
      </p:sp>
      <p:sp>
        <p:nvSpPr>
          <p:cNvPr id="32" name="TextBox 32"/>
          <p:cNvSpPr txBox="1"/>
          <p:nvPr/>
        </p:nvSpPr>
        <p:spPr>
          <a:xfrm>
            <a:off x="6971105" y="5443548"/>
            <a:ext cx="4328923" cy="2806152"/>
          </a:xfrm>
          <a:prstGeom prst="rect">
            <a:avLst/>
          </a:prstGeom>
        </p:spPr>
        <p:txBody>
          <a:bodyPr lIns="0" tIns="0" rIns="0" bIns="0" rtlCol="0" anchor="t">
            <a:spAutoFit/>
          </a:bodyPr>
          <a:lstStyle/>
          <a:p>
            <a:pPr marL="0" lvl="0" indent="0" algn="just">
              <a:lnSpc>
                <a:spcPts val="2830"/>
              </a:lnSpc>
              <a:spcBef>
                <a:spcPct val="0"/>
              </a:spcBef>
            </a:pPr>
            <a:r>
              <a:rPr lang="en-US" sz="2021">
                <a:solidFill>
                  <a:srgbClr val="E4E2DE"/>
                </a:solidFill>
                <a:latin typeface="Glacial Indifference"/>
                <a:ea typeface="Glacial Indifference"/>
                <a:cs typeface="Glacial Indifference"/>
                <a:sym typeface="Glacial Indifference"/>
              </a:rPr>
              <a:t>Modèle de menace : Espionnage industriel, fuite de données sensibles, accès non autorisé. Vecteurs critiques : Applications (72%), Configuration (65%), Compliance (62%), Réseau (58%), Privilèges (52%), Hardware (48%), Intégrité (45%). Risque modéré avec recommandations MDM.</a:t>
            </a:r>
          </a:p>
        </p:txBody>
      </p:sp>
      <p:sp>
        <p:nvSpPr>
          <p:cNvPr id="33" name="TextBox 33"/>
          <p:cNvSpPr txBox="1"/>
          <p:nvPr/>
        </p:nvSpPr>
        <p:spPr>
          <a:xfrm>
            <a:off x="12158534" y="5443548"/>
            <a:ext cx="4328923" cy="2806152"/>
          </a:xfrm>
          <a:prstGeom prst="rect">
            <a:avLst/>
          </a:prstGeom>
        </p:spPr>
        <p:txBody>
          <a:bodyPr lIns="0" tIns="0" rIns="0" bIns="0" rtlCol="0" anchor="t">
            <a:spAutoFit/>
          </a:bodyPr>
          <a:lstStyle/>
          <a:p>
            <a:pPr marL="0" lvl="0" indent="0" algn="just">
              <a:lnSpc>
                <a:spcPts val="2830"/>
              </a:lnSpc>
              <a:spcBef>
                <a:spcPct val="0"/>
              </a:spcBef>
            </a:pPr>
            <a:r>
              <a:rPr lang="en-US" sz="2021">
                <a:solidFill>
                  <a:srgbClr val="E4E2DE"/>
                </a:solidFill>
                <a:latin typeface="Glacial Indifference"/>
                <a:ea typeface="Glacial Indifference"/>
                <a:cs typeface="Glacial Indifference"/>
                <a:sym typeface="Glacial Indifference"/>
              </a:rPr>
              <a:t>Analyse comparative : Le profil journaliste présente un score 34% plus élevé dû à l'exposition réseau hostile et aux risques physiques. Le profil executive nécessite principalement un renforcement applicatif et une politique MDM stricte pour atteindre la conformité entreprise.</a:t>
            </a:r>
          </a:p>
        </p:txBody>
      </p:sp>
      <p:sp>
        <p:nvSpPr>
          <p:cNvPr id="34" name="Freeform 34"/>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47625"/>
              <a:ext cx="360059" cy="262312"/>
            </a:xfrm>
            <a:prstGeom prst="rect">
              <a:avLst/>
            </a:prstGeom>
          </p:spPr>
          <p:txBody>
            <a:bodyPr lIns="50800" tIns="50800" rIns="50800" bIns="50800" rtlCol="0" anchor="ctr"/>
            <a:lstStyle/>
            <a:p>
              <a:pPr marL="0" lvl="0" indent="0" algn="ctr">
                <a:lnSpc>
                  <a:spcPts val="3200"/>
                </a:lnSpc>
              </a:pPr>
              <a:r>
                <a:rPr lang="en-US" sz="2286">
                  <a:solidFill>
                    <a:srgbClr val="000000"/>
                  </a:solidFill>
                  <a:latin typeface="Lora"/>
                  <a:ea typeface="Lora"/>
                  <a:cs typeface="Lora"/>
                  <a:sym typeface="Lora"/>
                </a:rPr>
                <a:t>21</a:t>
              </a:r>
            </a:p>
          </p:txBody>
        </p:sp>
      </p:grpSp>
      <p:sp>
        <p:nvSpPr>
          <p:cNvPr id="7" name="TextBox 7"/>
          <p:cNvSpPr txBox="1"/>
          <p:nvPr/>
        </p:nvSpPr>
        <p:spPr>
          <a:xfrm>
            <a:off x="1028700" y="1006796"/>
            <a:ext cx="4847279" cy="389602"/>
          </a:xfrm>
          <a:prstGeom prst="rect">
            <a:avLst/>
          </a:prstGeom>
        </p:spPr>
        <p:txBody>
          <a:bodyPr lIns="0" tIns="0" rIns="0" bIns="0" rtlCol="0" anchor="t">
            <a:spAutoFit/>
          </a:bodyPr>
          <a:lstStyle/>
          <a:p>
            <a:pPr marL="0" lvl="0" indent="0" algn="l">
              <a:lnSpc>
                <a:spcPts val="3200"/>
              </a:lnSpc>
            </a:pPr>
            <a:r>
              <a:rPr lang="en-US" sz="2286">
                <a:solidFill>
                  <a:srgbClr val="000000"/>
                </a:solidFill>
                <a:latin typeface="Lora"/>
                <a:ea typeface="Lora"/>
                <a:cs typeface="Lora"/>
                <a:sym typeface="Lora"/>
              </a:rPr>
              <a:t>DIRS Framework</a:t>
            </a:r>
          </a:p>
        </p:txBody>
      </p:sp>
      <p:sp>
        <p:nvSpPr>
          <p:cNvPr id="8" name="TextBox 8"/>
          <p:cNvSpPr txBox="1"/>
          <p:nvPr/>
        </p:nvSpPr>
        <p:spPr>
          <a:xfrm>
            <a:off x="10250243" y="1006796"/>
            <a:ext cx="7009057" cy="389602"/>
          </a:xfrm>
          <a:prstGeom prst="rect">
            <a:avLst/>
          </a:prstGeom>
        </p:spPr>
        <p:txBody>
          <a:bodyPr lIns="0" tIns="0" rIns="0" bIns="0" rtlCol="0" anchor="t">
            <a:spAutoFit/>
          </a:bodyPr>
          <a:lstStyle/>
          <a:p>
            <a:pPr marL="0" lvl="0" indent="0" algn="r">
              <a:lnSpc>
                <a:spcPts val="3200"/>
              </a:lnSpc>
            </a:pPr>
            <a:r>
              <a:rPr lang="en-US" sz="2286">
                <a:solidFill>
                  <a:srgbClr val="000000"/>
                </a:solidFill>
                <a:latin typeface="Lora"/>
                <a:ea typeface="Lora"/>
                <a:cs typeface="Lora"/>
                <a:sym typeface="Lora"/>
              </a:rPr>
              <a:t>Ingénierie Logicielle</a:t>
            </a:r>
          </a:p>
        </p:txBody>
      </p:sp>
      <p:sp>
        <p:nvSpPr>
          <p:cNvPr id="9" name="TextBox 9"/>
          <p:cNvSpPr txBox="1"/>
          <p:nvPr/>
        </p:nvSpPr>
        <p:spPr>
          <a:xfrm>
            <a:off x="3379976" y="2511078"/>
            <a:ext cx="6332259" cy="727052"/>
          </a:xfrm>
          <a:prstGeom prst="rect">
            <a:avLst/>
          </a:prstGeom>
        </p:spPr>
        <p:txBody>
          <a:bodyPr lIns="0" tIns="0" rIns="0" bIns="0" rtlCol="0" anchor="t">
            <a:spAutoFit/>
          </a:bodyPr>
          <a:lstStyle/>
          <a:p>
            <a:pPr marL="0" lvl="0" indent="0" algn="l">
              <a:lnSpc>
                <a:spcPts val="5745"/>
              </a:lnSpc>
            </a:pPr>
            <a:r>
              <a:rPr lang="en-US" sz="4996">
                <a:solidFill>
                  <a:srgbClr val="000000"/>
                </a:solidFill>
                <a:latin typeface="Libre Baskerville"/>
                <a:ea typeface="Libre Baskerville"/>
                <a:cs typeface="Libre Baskerville"/>
                <a:sym typeface="Libre Baskerville"/>
              </a:rPr>
              <a:t>Qualité Logicielle</a:t>
            </a:r>
          </a:p>
        </p:txBody>
      </p:sp>
      <p:grpSp>
        <p:nvGrpSpPr>
          <p:cNvPr id="10" name="Group 10"/>
          <p:cNvGrpSpPr/>
          <p:nvPr/>
        </p:nvGrpSpPr>
        <p:grpSpPr>
          <a:xfrm>
            <a:off x="1344109" y="5129784"/>
            <a:ext cx="4869727" cy="4128516"/>
            <a:chOff x="0" y="0"/>
            <a:chExt cx="1282562" cy="1087346"/>
          </a:xfrm>
        </p:grpSpPr>
        <p:sp>
          <p:nvSpPr>
            <p:cNvPr id="11" name="Freeform 11"/>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12" name="TextBox 12"/>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13" name="Group 13"/>
          <p:cNvGrpSpPr/>
          <p:nvPr/>
        </p:nvGrpSpPr>
        <p:grpSpPr>
          <a:xfrm>
            <a:off x="1344109" y="4394160"/>
            <a:ext cx="1630386" cy="745149"/>
            <a:chOff x="0" y="0"/>
            <a:chExt cx="429402" cy="196253"/>
          </a:xfrm>
        </p:grpSpPr>
        <p:sp>
          <p:nvSpPr>
            <p:cNvPr id="14" name="Freeform 1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15" name="TextBox 1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100%</a:t>
              </a:r>
            </a:p>
          </p:txBody>
        </p:sp>
      </p:grpSp>
      <p:sp>
        <p:nvSpPr>
          <p:cNvPr id="16" name="TextBox 16"/>
          <p:cNvSpPr txBox="1"/>
          <p:nvPr/>
        </p:nvSpPr>
        <p:spPr>
          <a:xfrm>
            <a:off x="1990612" y="5765927"/>
            <a:ext cx="3553098" cy="2799428"/>
          </a:xfrm>
          <a:prstGeom prst="rect">
            <a:avLst/>
          </a:prstGeom>
        </p:spPr>
        <p:txBody>
          <a:bodyPr lIns="0" tIns="0" rIns="0" bIns="0" rtlCol="0" anchor="t">
            <a:spAutoFit/>
          </a:bodyPr>
          <a:lstStyle/>
          <a:p>
            <a:pPr marL="0" lvl="0" indent="0" algn="just">
              <a:lnSpc>
                <a:spcPts val="3200"/>
              </a:lnSpc>
            </a:pPr>
            <a:r>
              <a:rPr lang="en-US" sz="2286">
                <a:solidFill>
                  <a:srgbClr val="E4E2DE"/>
                </a:solidFill>
                <a:latin typeface="Glacial Indifference"/>
                <a:ea typeface="Glacial Indifference"/>
                <a:cs typeface="Glacial Indifference"/>
                <a:sym typeface="Glacial Indifference"/>
              </a:rPr>
              <a:t>Strict TypeScript</a:t>
            </a:r>
          </a:p>
          <a:p>
            <a:pPr marL="0" lvl="0" indent="0" algn="just">
              <a:lnSpc>
                <a:spcPts val="3200"/>
              </a:lnSpc>
            </a:pPr>
            <a:r>
              <a:rPr lang="en-US" sz="2286">
                <a:solidFill>
                  <a:srgbClr val="E4E2DE"/>
                </a:solidFill>
                <a:latin typeface="Glacial Indifference"/>
                <a:ea typeface="Glacial Indifference"/>
                <a:cs typeface="Glacial Indifference"/>
                <a:sym typeface="Glacial Indifference"/>
              </a:rPr>
              <a:t>Typage exhaustif avec mode strict activé. Élimination des any, inférence de types avancée et guards personnalisés pour une sécurité maximale du code.</a:t>
            </a:r>
          </a:p>
        </p:txBody>
      </p:sp>
      <p:grpSp>
        <p:nvGrpSpPr>
          <p:cNvPr id="17" name="Group 17"/>
          <p:cNvGrpSpPr/>
          <p:nvPr/>
        </p:nvGrpSpPr>
        <p:grpSpPr>
          <a:xfrm>
            <a:off x="2962631" y="4394160"/>
            <a:ext cx="1630386" cy="745149"/>
            <a:chOff x="0" y="0"/>
            <a:chExt cx="429402" cy="196253"/>
          </a:xfrm>
        </p:grpSpPr>
        <p:sp>
          <p:nvSpPr>
            <p:cNvPr id="18" name="Freeform 18"/>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19" name="TextBox 19"/>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Type</a:t>
              </a:r>
            </a:p>
          </p:txBody>
        </p:sp>
      </p:grpSp>
      <p:grpSp>
        <p:nvGrpSpPr>
          <p:cNvPr id="20" name="Group 20"/>
          <p:cNvGrpSpPr/>
          <p:nvPr/>
        </p:nvGrpSpPr>
        <p:grpSpPr>
          <a:xfrm>
            <a:off x="4583450" y="4394160"/>
            <a:ext cx="1630386" cy="745149"/>
            <a:chOff x="0" y="0"/>
            <a:chExt cx="429402" cy="196253"/>
          </a:xfrm>
        </p:grpSpPr>
        <p:sp>
          <p:nvSpPr>
            <p:cNvPr id="21" name="Freeform 21"/>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22" name="TextBox 22"/>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Safe</a:t>
              </a:r>
            </a:p>
          </p:txBody>
        </p:sp>
      </p:grpSp>
      <p:grpSp>
        <p:nvGrpSpPr>
          <p:cNvPr id="23" name="Group 23"/>
          <p:cNvGrpSpPr/>
          <p:nvPr/>
        </p:nvGrpSpPr>
        <p:grpSpPr>
          <a:xfrm>
            <a:off x="6709136" y="5129784"/>
            <a:ext cx="4869727" cy="4128516"/>
            <a:chOff x="0" y="0"/>
            <a:chExt cx="1282562" cy="1087346"/>
          </a:xfrm>
        </p:grpSpPr>
        <p:sp>
          <p:nvSpPr>
            <p:cNvPr id="24" name="Freeform 24"/>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25" name="TextBox 25"/>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26" name="Group 26"/>
          <p:cNvGrpSpPr/>
          <p:nvPr/>
        </p:nvGrpSpPr>
        <p:grpSpPr>
          <a:xfrm>
            <a:off x="6709136" y="4394160"/>
            <a:ext cx="1630386" cy="745149"/>
            <a:chOff x="0" y="0"/>
            <a:chExt cx="429402" cy="196253"/>
          </a:xfrm>
        </p:grpSpPr>
        <p:sp>
          <p:nvSpPr>
            <p:cNvPr id="27" name="Freeform 27"/>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28" name="TextBox 28"/>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0</a:t>
              </a:r>
            </a:p>
          </p:txBody>
        </p:sp>
      </p:grpSp>
      <p:sp>
        <p:nvSpPr>
          <p:cNvPr id="29" name="TextBox 29"/>
          <p:cNvSpPr txBox="1"/>
          <p:nvPr/>
        </p:nvSpPr>
        <p:spPr>
          <a:xfrm>
            <a:off x="7355639" y="5765927"/>
            <a:ext cx="3553098" cy="2799428"/>
          </a:xfrm>
          <a:prstGeom prst="rect">
            <a:avLst/>
          </a:prstGeom>
        </p:spPr>
        <p:txBody>
          <a:bodyPr lIns="0" tIns="0" rIns="0" bIns="0" rtlCol="0" anchor="t">
            <a:spAutoFit/>
          </a:bodyPr>
          <a:lstStyle/>
          <a:p>
            <a:pPr marL="0" lvl="0" indent="0" algn="just">
              <a:lnSpc>
                <a:spcPts val="3200"/>
              </a:lnSpc>
            </a:pPr>
            <a:r>
              <a:rPr lang="en-US" sz="2286">
                <a:solidFill>
                  <a:srgbClr val="E4E2DE"/>
                </a:solidFill>
                <a:latin typeface="Glacial Indifference"/>
                <a:ea typeface="Glacial Indifference"/>
                <a:cs typeface="Glacial Indifference"/>
                <a:sym typeface="Glacial Indifference"/>
              </a:rPr>
              <a:t>Pure Functions</a:t>
            </a:r>
          </a:p>
          <a:p>
            <a:pPr marL="0" lvl="0" indent="0" algn="just">
              <a:lnSpc>
                <a:spcPts val="3200"/>
              </a:lnSpc>
            </a:pPr>
            <a:r>
              <a:rPr lang="en-US" sz="2286">
                <a:solidFill>
                  <a:srgbClr val="E4E2DE"/>
                </a:solidFill>
                <a:latin typeface="Glacial Indifference"/>
                <a:ea typeface="Glacial Indifference"/>
                <a:cs typeface="Glacial Indifference"/>
                <a:sym typeface="Glacial Indifference"/>
              </a:rPr>
              <a:t>Fonctions déterministes sans effets de bord. Testabilité garantie, composition facilitée et raisonnement simplifié sur le comportement du code.</a:t>
            </a:r>
          </a:p>
        </p:txBody>
      </p:sp>
      <p:grpSp>
        <p:nvGrpSpPr>
          <p:cNvPr id="30" name="Group 30"/>
          <p:cNvGrpSpPr/>
          <p:nvPr/>
        </p:nvGrpSpPr>
        <p:grpSpPr>
          <a:xfrm>
            <a:off x="8327658" y="4394160"/>
            <a:ext cx="1630386" cy="745149"/>
            <a:chOff x="0" y="0"/>
            <a:chExt cx="429402" cy="196253"/>
          </a:xfrm>
        </p:grpSpPr>
        <p:sp>
          <p:nvSpPr>
            <p:cNvPr id="31" name="Freeform 31"/>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32" name="TextBox 32"/>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Side</a:t>
              </a:r>
            </a:p>
          </p:txBody>
        </p:sp>
      </p:grpSp>
      <p:grpSp>
        <p:nvGrpSpPr>
          <p:cNvPr id="33" name="Group 33"/>
          <p:cNvGrpSpPr/>
          <p:nvPr/>
        </p:nvGrpSpPr>
        <p:grpSpPr>
          <a:xfrm>
            <a:off x="9948478" y="4394160"/>
            <a:ext cx="1630386" cy="745149"/>
            <a:chOff x="0" y="0"/>
            <a:chExt cx="429402" cy="196253"/>
          </a:xfrm>
        </p:grpSpPr>
        <p:sp>
          <p:nvSpPr>
            <p:cNvPr id="34" name="Freeform 3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35" name="TextBox 3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Effect</a:t>
              </a:r>
            </a:p>
          </p:txBody>
        </p:sp>
      </p:grpSp>
      <p:grpSp>
        <p:nvGrpSpPr>
          <p:cNvPr id="36" name="Group 36"/>
          <p:cNvGrpSpPr/>
          <p:nvPr/>
        </p:nvGrpSpPr>
        <p:grpSpPr>
          <a:xfrm>
            <a:off x="12071339" y="5129784"/>
            <a:ext cx="4869727" cy="4128516"/>
            <a:chOff x="0" y="0"/>
            <a:chExt cx="1282562" cy="1087346"/>
          </a:xfrm>
        </p:grpSpPr>
        <p:sp>
          <p:nvSpPr>
            <p:cNvPr id="37" name="Freeform 37"/>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38" name="TextBox 38"/>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39" name="Group 39"/>
          <p:cNvGrpSpPr/>
          <p:nvPr/>
        </p:nvGrpSpPr>
        <p:grpSpPr>
          <a:xfrm>
            <a:off x="12071339" y="4394160"/>
            <a:ext cx="1630386" cy="745149"/>
            <a:chOff x="0" y="0"/>
            <a:chExt cx="429402" cy="196253"/>
          </a:xfrm>
        </p:grpSpPr>
        <p:sp>
          <p:nvSpPr>
            <p:cNvPr id="40" name="Freeform 40"/>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41" name="TextBox 41"/>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100%</a:t>
              </a:r>
            </a:p>
          </p:txBody>
        </p:sp>
      </p:grpSp>
      <p:sp>
        <p:nvSpPr>
          <p:cNvPr id="42" name="TextBox 42"/>
          <p:cNvSpPr txBox="1"/>
          <p:nvPr/>
        </p:nvSpPr>
        <p:spPr>
          <a:xfrm>
            <a:off x="12717841" y="5765927"/>
            <a:ext cx="3553098" cy="2799428"/>
          </a:xfrm>
          <a:prstGeom prst="rect">
            <a:avLst/>
          </a:prstGeom>
        </p:spPr>
        <p:txBody>
          <a:bodyPr lIns="0" tIns="0" rIns="0" bIns="0" rtlCol="0" anchor="t">
            <a:spAutoFit/>
          </a:bodyPr>
          <a:lstStyle/>
          <a:p>
            <a:pPr marL="0" lvl="0" indent="0" algn="just">
              <a:lnSpc>
                <a:spcPts val="3200"/>
              </a:lnSpc>
            </a:pPr>
            <a:r>
              <a:rPr lang="en-US" sz="2286">
                <a:solidFill>
                  <a:srgbClr val="E4E2DE"/>
                </a:solidFill>
                <a:latin typeface="Glacial Indifference"/>
                <a:ea typeface="Glacial Indifference"/>
                <a:cs typeface="Glacial Indifference"/>
                <a:sym typeface="Glacial Indifference"/>
              </a:rPr>
              <a:t>Zod Validation</a:t>
            </a:r>
          </a:p>
          <a:p>
            <a:pPr marL="0" lvl="0" indent="0" algn="just">
              <a:lnSpc>
                <a:spcPts val="3200"/>
              </a:lnSpc>
            </a:pPr>
            <a:r>
              <a:rPr lang="en-US" sz="2286">
                <a:solidFill>
                  <a:srgbClr val="E4E2DE"/>
                </a:solidFill>
                <a:latin typeface="Glacial Indifference"/>
                <a:ea typeface="Glacial Indifference"/>
                <a:cs typeface="Glacial Indifference"/>
                <a:sym typeface="Glacial Indifference"/>
              </a:rPr>
              <a:t>Schémas de validation runtime avec inférence TypeScript. Validation des entrées API, parsing sécurisé et messages d'erreur explicites.</a:t>
            </a:r>
          </a:p>
        </p:txBody>
      </p:sp>
      <p:grpSp>
        <p:nvGrpSpPr>
          <p:cNvPr id="43" name="Group 43"/>
          <p:cNvGrpSpPr/>
          <p:nvPr/>
        </p:nvGrpSpPr>
        <p:grpSpPr>
          <a:xfrm>
            <a:off x="13689861" y="4394160"/>
            <a:ext cx="1630386" cy="745149"/>
            <a:chOff x="0" y="0"/>
            <a:chExt cx="429402" cy="196253"/>
          </a:xfrm>
        </p:grpSpPr>
        <p:sp>
          <p:nvSpPr>
            <p:cNvPr id="44" name="Freeform 4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45" name="TextBox 4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Valid</a:t>
              </a:r>
            </a:p>
          </p:txBody>
        </p:sp>
      </p:grpSp>
      <p:grpSp>
        <p:nvGrpSpPr>
          <p:cNvPr id="46" name="Group 46"/>
          <p:cNvGrpSpPr/>
          <p:nvPr/>
        </p:nvGrpSpPr>
        <p:grpSpPr>
          <a:xfrm>
            <a:off x="15310680" y="4394160"/>
            <a:ext cx="1630386" cy="745149"/>
            <a:chOff x="0" y="0"/>
            <a:chExt cx="429402" cy="196253"/>
          </a:xfrm>
        </p:grpSpPr>
        <p:sp>
          <p:nvSpPr>
            <p:cNvPr id="47" name="Freeform 47"/>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48" name="TextBox 48"/>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Input</a:t>
              </a:r>
            </a:p>
          </p:txBody>
        </p:sp>
      </p:grpSp>
      <p:sp>
        <p:nvSpPr>
          <p:cNvPr id="49" name="Freeform 49"/>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343131"/>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E4E2DE"/>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E4E2DE"/>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E4E2DE"/>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25</a:t>
              </a:r>
            </a:p>
          </p:txBody>
        </p:sp>
      </p:grpSp>
      <p:sp>
        <p:nvSpPr>
          <p:cNvPr id="7" name="Freeform 7"/>
          <p:cNvSpPr/>
          <p:nvPr/>
        </p:nvSpPr>
        <p:spPr>
          <a:xfrm rot="-8173503">
            <a:off x="10407523" y="6921451"/>
            <a:ext cx="582761" cy="1828269"/>
          </a:xfrm>
          <a:custGeom>
            <a:avLst/>
            <a:gdLst/>
            <a:ahLst/>
            <a:cxnLst/>
            <a:rect l="l" t="t" r="r" b="b"/>
            <a:pathLst>
              <a:path w="582761" h="1828269">
                <a:moveTo>
                  <a:pt x="0" y="0"/>
                </a:moveTo>
                <a:lnTo>
                  <a:pt x="582761" y="0"/>
                </a:lnTo>
                <a:lnTo>
                  <a:pt x="582761" y="1828269"/>
                </a:lnTo>
                <a:lnTo>
                  <a:pt x="0" y="18282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MA"/>
          </a:p>
        </p:txBody>
      </p:sp>
      <p:sp>
        <p:nvSpPr>
          <p:cNvPr id="8" name="Freeform 8"/>
          <p:cNvSpPr/>
          <p:nvPr/>
        </p:nvSpPr>
        <p:spPr>
          <a:xfrm rot="7924996" flipH="1">
            <a:off x="7301005" y="6843780"/>
            <a:ext cx="582761" cy="1828269"/>
          </a:xfrm>
          <a:custGeom>
            <a:avLst/>
            <a:gdLst/>
            <a:ahLst/>
            <a:cxnLst/>
            <a:rect l="l" t="t" r="r" b="b"/>
            <a:pathLst>
              <a:path w="582761" h="1828269">
                <a:moveTo>
                  <a:pt x="582761" y="0"/>
                </a:moveTo>
                <a:lnTo>
                  <a:pt x="0" y="0"/>
                </a:lnTo>
                <a:lnTo>
                  <a:pt x="0" y="1828270"/>
                </a:lnTo>
                <a:lnTo>
                  <a:pt x="582761" y="1828270"/>
                </a:lnTo>
                <a:lnTo>
                  <a:pt x="58276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MA"/>
          </a:p>
        </p:txBody>
      </p:sp>
      <p:sp>
        <p:nvSpPr>
          <p:cNvPr id="9" name="Freeform 9"/>
          <p:cNvSpPr/>
          <p:nvPr/>
        </p:nvSpPr>
        <p:spPr>
          <a:xfrm rot="-9717398">
            <a:off x="8821165" y="6427499"/>
            <a:ext cx="681344" cy="1899217"/>
          </a:xfrm>
          <a:custGeom>
            <a:avLst/>
            <a:gdLst/>
            <a:ahLst/>
            <a:cxnLst/>
            <a:rect l="l" t="t" r="r" b="b"/>
            <a:pathLst>
              <a:path w="681344" h="1899217">
                <a:moveTo>
                  <a:pt x="0" y="0"/>
                </a:moveTo>
                <a:lnTo>
                  <a:pt x="681345" y="0"/>
                </a:lnTo>
                <a:lnTo>
                  <a:pt x="681345" y="1899217"/>
                </a:lnTo>
                <a:lnTo>
                  <a:pt x="0" y="189921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MA"/>
          </a:p>
        </p:txBody>
      </p:sp>
      <p:grpSp>
        <p:nvGrpSpPr>
          <p:cNvPr id="10" name="Group 10"/>
          <p:cNvGrpSpPr/>
          <p:nvPr/>
        </p:nvGrpSpPr>
        <p:grpSpPr>
          <a:xfrm>
            <a:off x="7817390" y="8237222"/>
            <a:ext cx="2653220" cy="909621"/>
            <a:chOff x="0" y="0"/>
            <a:chExt cx="840611" cy="288192"/>
          </a:xfrm>
        </p:grpSpPr>
        <p:sp>
          <p:nvSpPr>
            <p:cNvPr id="11" name="Freeform 11"/>
            <p:cNvSpPr/>
            <p:nvPr/>
          </p:nvSpPr>
          <p:spPr>
            <a:xfrm>
              <a:off x="0" y="0"/>
              <a:ext cx="840611" cy="288192"/>
            </a:xfrm>
            <a:custGeom>
              <a:avLst/>
              <a:gdLst/>
              <a:ahLst/>
              <a:cxnLst/>
              <a:rect l="l" t="t" r="r" b="b"/>
              <a:pathLst>
                <a:path w="840611" h="288192">
                  <a:moveTo>
                    <a:pt x="144096" y="0"/>
                  </a:moveTo>
                  <a:lnTo>
                    <a:pt x="696515" y="0"/>
                  </a:lnTo>
                  <a:cubicBezTo>
                    <a:pt x="734731" y="0"/>
                    <a:pt x="771383" y="15181"/>
                    <a:pt x="798406" y="42205"/>
                  </a:cubicBezTo>
                  <a:cubicBezTo>
                    <a:pt x="825429" y="69228"/>
                    <a:pt x="840611" y="105879"/>
                    <a:pt x="840611" y="144096"/>
                  </a:cubicBezTo>
                  <a:lnTo>
                    <a:pt x="840611" y="144096"/>
                  </a:lnTo>
                  <a:cubicBezTo>
                    <a:pt x="840611" y="182313"/>
                    <a:pt x="825429" y="218964"/>
                    <a:pt x="798406" y="245987"/>
                  </a:cubicBezTo>
                  <a:cubicBezTo>
                    <a:pt x="771383" y="273010"/>
                    <a:pt x="734731" y="288192"/>
                    <a:pt x="696515" y="288192"/>
                  </a:cubicBezTo>
                  <a:lnTo>
                    <a:pt x="144096" y="288192"/>
                  </a:lnTo>
                  <a:cubicBezTo>
                    <a:pt x="105879" y="288192"/>
                    <a:pt x="69228" y="273010"/>
                    <a:pt x="42205" y="245987"/>
                  </a:cubicBezTo>
                  <a:cubicBezTo>
                    <a:pt x="15181" y="218964"/>
                    <a:pt x="0" y="182313"/>
                    <a:pt x="0" y="144096"/>
                  </a:cubicBezTo>
                  <a:lnTo>
                    <a:pt x="0" y="144096"/>
                  </a:lnTo>
                  <a:cubicBezTo>
                    <a:pt x="0" y="105879"/>
                    <a:pt x="15181" y="69228"/>
                    <a:pt x="42205" y="42205"/>
                  </a:cubicBezTo>
                  <a:cubicBezTo>
                    <a:pt x="69228" y="15181"/>
                    <a:pt x="105879" y="0"/>
                    <a:pt x="144096" y="0"/>
                  </a:cubicBezTo>
                  <a:close/>
                </a:path>
              </a:pathLst>
            </a:custGeom>
            <a:solidFill>
              <a:srgbClr val="343131"/>
            </a:solidFill>
            <a:ln w="9525" cap="rnd">
              <a:solidFill>
                <a:srgbClr val="E4E2DE"/>
              </a:solidFill>
              <a:prstDash val="solid"/>
              <a:round/>
            </a:ln>
          </p:spPr>
          <p:txBody>
            <a:bodyPr/>
            <a:lstStyle/>
            <a:p>
              <a:endParaRPr lang="fr-MA"/>
            </a:p>
          </p:txBody>
        </p:sp>
        <p:sp>
          <p:nvSpPr>
            <p:cNvPr id="12" name="TextBox 12"/>
            <p:cNvSpPr txBox="1"/>
            <p:nvPr/>
          </p:nvSpPr>
          <p:spPr>
            <a:xfrm>
              <a:off x="0" y="-76200"/>
              <a:ext cx="840611" cy="364392"/>
            </a:xfrm>
            <a:prstGeom prst="rect">
              <a:avLst/>
            </a:prstGeom>
          </p:spPr>
          <p:txBody>
            <a:bodyPr lIns="50800" tIns="50800" rIns="50800" bIns="50800" rtlCol="0" anchor="ctr"/>
            <a:lstStyle/>
            <a:p>
              <a:pPr marL="0" lvl="0" indent="0" algn="ctr">
                <a:lnSpc>
                  <a:spcPts val="5732"/>
                </a:lnSpc>
              </a:pPr>
              <a:r>
                <a:rPr lang="en-US" sz="4094" b="1">
                  <a:solidFill>
                    <a:srgbClr val="E4E2DE"/>
                  </a:solidFill>
                  <a:latin typeface="Lora Bold"/>
                  <a:ea typeface="Lora Bold"/>
                  <a:cs typeface="Lora Bold"/>
                  <a:sym typeface="Lora Bold"/>
                </a:rPr>
                <a:t>SOC 2</a:t>
              </a:r>
            </a:p>
          </p:txBody>
        </p:sp>
      </p:grpSp>
      <p:grpSp>
        <p:nvGrpSpPr>
          <p:cNvPr id="13" name="Group 13"/>
          <p:cNvGrpSpPr/>
          <p:nvPr/>
        </p:nvGrpSpPr>
        <p:grpSpPr>
          <a:xfrm>
            <a:off x="1028700" y="6808491"/>
            <a:ext cx="759028" cy="568617"/>
            <a:chOff x="0" y="0"/>
            <a:chExt cx="199909" cy="149759"/>
          </a:xfrm>
        </p:grpSpPr>
        <p:sp>
          <p:nvSpPr>
            <p:cNvPr id="14" name="Freeform 14"/>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15" name="TextBox 15"/>
            <p:cNvSpPr txBox="1"/>
            <p:nvPr/>
          </p:nvSpPr>
          <p:spPr>
            <a:xfrm>
              <a:off x="0" y="-28575"/>
              <a:ext cx="199909" cy="178334"/>
            </a:xfrm>
            <a:prstGeom prst="rect">
              <a:avLst/>
            </a:prstGeom>
          </p:spPr>
          <p:txBody>
            <a:bodyPr lIns="50800" tIns="50800" rIns="50800" bIns="50800" rtlCol="0" anchor="ctr"/>
            <a:lstStyle/>
            <a:p>
              <a:pPr marL="0" lvl="0" indent="0" algn="ctr">
                <a:lnSpc>
                  <a:spcPts val="2666"/>
                </a:lnSpc>
              </a:pPr>
              <a:r>
                <a:rPr lang="en-US" sz="1904">
                  <a:solidFill>
                    <a:srgbClr val="343131"/>
                  </a:solidFill>
                  <a:latin typeface="Lora"/>
                  <a:ea typeface="Lora"/>
                  <a:cs typeface="Lora"/>
                  <a:sym typeface="Lora"/>
                </a:rPr>
                <a:t>1</a:t>
              </a:r>
            </a:p>
          </p:txBody>
        </p:sp>
      </p:grpSp>
      <p:grpSp>
        <p:nvGrpSpPr>
          <p:cNvPr id="16" name="Group 16"/>
          <p:cNvGrpSpPr/>
          <p:nvPr/>
        </p:nvGrpSpPr>
        <p:grpSpPr>
          <a:xfrm>
            <a:off x="1786265" y="4033216"/>
            <a:ext cx="759028" cy="568617"/>
            <a:chOff x="0" y="0"/>
            <a:chExt cx="199909" cy="149759"/>
          </a:xfrm>
        </p:grpSpPr>
        <p:sp>
          <p:nvSpPr>
            <p:cNvPr id="17" name="Freeform 17"/>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18" name="TextBox 18"/>
            <p:cNvSpPr txBox="1"/>
            <p:nvPr/>
          </p:nvSpPr>
          <p:spPr>
            <a:xfrm>
              <a:off x="0" y="-28575"/>
              <a:ext cx="199909" cy="178334"/>
            </a:xfrm>
            <a:prstGeom prst="rect">
              <a:avLst/>
            </a:prstGeom>
          </p:spPr>
          <p:txBody>
            <a:bodyPr lIns="50800" tIns="50800" rIns="50800" bIns="50800" rtlCol="0" anchor="ctr"/>
            <a:lstStyle/>
            <a:p>
              <a:pPr marL="0" lvl="0" indent="0" algn="ctr">
                <a:lnSpc>
                  <a:spcPts val="2666"/>
                </a:lnSpc>
              </a:pPr>
              <a:r>
                <a:rPr lang="en-US" sz="1904">
                  <a:solidFill>
                    <a:srgbClr val="343131"/>
                  </a:solidFill>
                  <a:latin typeface="Lora"/>
                  <a:ea typeface="Lora"/>
                  <a:cs typeface="Lora"/>
                  <a:sym typeface="Lora"/>
                </a:rPr>
                <a:t>2</a:t>
              </a:r>
            </a:p>
          </p:txBody>
        </p:sp>
      </p:grpSp>
      <p:grpSp>
        <p:nvGrpSpPr>
          <p:cNvPr id="19" name="Group 19"/>
          <p:cNvGrpSpPr/>
          <p:nvPr/>
        </p:nvGrpSpPr>
        <p:grpSpPr>
          <a:xfrm>
            <a:off x="6883259" y="4033216"/>
            <a:ext cx="759028" cy="568617"/>
            <a:chOff x="0" y="0"/>
            <a:chExt cx="199909" cy="149759"/>
          </a:xfrm>
        </p:grpSpPr>
        <p:sp>
          <p:nvSpPr>
            <p:cNvPr id="20" name="Freeform 20"/>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1" name="TextBox 21"/>
            <p:cNvSpPr txBox="1"/>
            <p:nvPr/>
          </p:nvSpPr>
          <p:spPr>
            <a:xfrm>
              <a:off x="0" y="-28575"/>
              <a:ext cx="199909" cy="178334"/>
            </a:xfrm>
            <a:prstGeom prst="rect">
              <a:avLst/>
            </a:prstGeom>
          </p:spPr>
          <p:txBody>
            <a:bodyPr lIns="50800" tIns="50800" rIns="50800" bIns="50800" rtlCol="0" anchor="ctr"/>
            <a:lstStyle/>
            <a:p>
              <a:pPr marL="0" lvl="0" indent="0" algn="ctr">
                <a:lnSpc>
                  <a:spcPts val="2666"/>
                </a:lnSpc>
              </a:pPr>
              <a:r>
                <a:rPr lang="en-US" sz="1904">
                  <a:solidFill>
                    <a:srgbClr val="343131"/>
                  </a:solidFill>
                  <a:latin typeface="Lora"/>
                  <a:ea typeface="Lora"/>
                  <a:cs typeface="Lora"/>
                  <a:sym typeface="Lora"/>
                </a:rPr>
                <a:t>3</a:t>
              </a:r>
            </a:p>
          </p:txBody>
        </p:sp>
      </p:grpSp>
      <p:grpSp>
        <p:nvGrpSpPr>
          <p:cNvPr id="22" name="Group 22"/>
          <p:cNvGrpSpPr/>
          <p:nvPr/>
        </p:nvGrpSpPr>
        <p:grpSpPr>
          <a:xfrm>
            <a:off x="11969112" y="4033216"/>
            <a:ext cx="759028" cy="568617"/>
            <a:chOff x="0" y="0"/>
            <a:chExt cx="199909" cy="149759"/>
          </a:xfrm>
        </p:grpSpPr>
        <p:sp>
          <p:nvSpPr>
            <p:cNvPr id="23" name="Freeform 23"/>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4" name="TextBox 24"/>
            <p:cNvSpPr txBox="1"/>
            <p:nvPr/>
          </p:nvSpPr>
          <p:spPr>
            <a:xfrm>
              <a:off x="0" y="-28575"/>
              <a:ext cx="199909" cy="178334"/>
            </a:xfrm>
            <a:prstGeom prst="rect">
              <a:avLst/>
            </a:prstGeom>
          </p:spPr>
          <p:txBody>
            <a:bodyPr lIns="50800" tIns="50800" rIns="50800" bIns="50800" rtlCol="0" anchor="ctr"/>
            <a:lstStyle/>
            <a:p>
              <a:pPr marL="0" lvl="0" indent="0" algn="ctr">
                <a:lnSpc>
                  <a:spcPts val="2666"/>
                </a:lnSpc>
              </a:pPr>
              <a:r>
                <a:rPr lang="en-US" sz="1904">
                  <a:solidFill>
                    <a:srgbClr val="343131"/>
                  </a:solidFill>
                  <a:latin typeface="Lora"/>
                  <a:ea typeface="Lora"/>
                  <a:cs typeface="Lora"/>
                  <a:sym typeface="Lora"/>
                </a:rPr>
                <a:t>4</a:t>
              </a:r>
            </a:p>
          </p:txBody>
        </p:sp>
      </p:grpSp>
      <p:grpSp>
        <p:nvGrpSpPr>
          <p:cNvPr id="25" name="Group 25"/>
          <p:cNvGrpSpPr/>
          <p:nvPr/>
        </p:nvGrpSpPr>
        <p:grpSpPr>
          <a:xfrm>
            <a:off x="11969112" y="6808491"/>
            <a:ext cx="759028" cy="568617"/>
            <a:chOff x="0" y="0"/>
            <a:chExt cx="199909" cy="149759"/>
          </a:xfrm>
        </p:grpSpPr>
        <p:sp>
          <p:nvSpPr>
            <p:cNvPr id="26" name="Freeform 26"/>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7" name="TextBox 27"/>
            <p:cNvSpPr txBox="1"/>
            <p:nvPr/>
          </p:nvSpPr>
          <p:spPr>
            <a:xfrm>
              <a:off x="0" y="-28575"/>
              <a:ext cx="199909" cy="178334"/>
            </a:xfrm>
            <a:prstGeom prst="rect">
              <a:avLst/>
            </a:prstGeom>
          </p:spPr>
          <p:txBody>
            <a:bodyPr lIns="50800" tIns="50800" rIns="50800" bIns="50800" rtlCol="0" anchor="ctr"/>
            <a:lstStyle/>
            <a:p>
              <a:pPr marL="0" lvl="0" indent="0" algn="ctr">
                <a:lnSpc>
                  <a:spcPts val="2666"/>
                </a:lnSpc>
              </a:pPr>
              <a:r>
                <a:rPr lang="en-US" sz="1904">
                  <a:solidFill>
                    <a:srgbClr val="343131"/>
                  </a:solidFill>
                  <a:latin typeface="Lora"/>
                  <a:ea typeface="Lora"/>
                  <a:cs typeface="Lora"/>
                  <a:sym typeface="Lora"/>
                </a:rPr>
                <a:t>5</a:t>
              </a:r>
            </a:p>
          </p:txBody>
        </p:sp>
      </p:grpSp>
      <p:sp>
        <p:nvSpPr>
          <p:cNvPr id="28" name="TextBox 28"/>
          <p:cNvSpPr txBox="1"/>
          <p:nvPr/>
        </p:nvSpPr>
        <p:spPr>
          <a:xfrm>
            <a:off x="7832906" y="3922274"/>
            <a:ext cx="3600989" cy="1416050"/>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API Gateway : Point d'entrée unique, authentification JWT, rate limiting intelligent, load balancing automatique.</a:t>
            </a:r>
          </a:p>
        </p:txBody>
      </p:sp>
      <p:sp>
        <p:nvSpPr>
          <p:cNvPr id="29" name="TextBox 29"/>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E4E2DE"/>
                </a:solidFill>
                <a:latin typeface="Lora"/>
                <a:ea typeface="Lora"/>
                <a:cs typeface="Lora"/>
                <a:sym typeface="Lora"/>
              </a:rPr>
              <a:t>DIRS Framework</a:t>
            </a:r>
          </a:p>
        </p:txBody>
      </p:sp>
      <p:sp>
        <p:nvSpPr>
          <p:cNvPr id="30" name="TextBox 30"/>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E4E2DE"/>
                </a:solidFill>
                <a:latin typeface="Lora"/>
                <a:ea typeface="Lora"/>
                <a:cs typeface="Lora"/>
                <a:sym typeface="Lora"/>
              </a:rPr>
              <a:t>Architecture &amp; Scalabilité</a:t>
            </a:r>
          </a:p>
        </p:txBody>
      </p:sp>
      <p:sp>
        <p:nvSpPr>
          <p:cNvPr id="31" name="TextBox 31"/>
          <p:cNvSpPr txBox="1"/>
          <p:nvPr/>
        </p:nvSpPr>
        <p:spPr>
          <a:xfrm>
            <a:off x="3379976" y="2511078"/>
            <a:ext cx="7888719" cy="696982"/>
          </a:xfrm>
          <a:prstGeom prst="rect">
            <a:avLst/>
          </a:prstGeom>
        </p:spPr>
        <p:txBody>
          <a:bodyPr lIns="0" tIns="0" rIns="0" bIns="0" rtlCol="0" anchor="t">
            <a:spAutoFit/>
          </a:bodyPr>
          <a:lstStyle/>
          <a:p>
            <a:pPr marL="0" lvl="0" indent="0" algn="l">
              <a:lnSpc>
                <a:spcPts val="5475"/>
              </a:lnSpc>
            </a:pPr>
            <a:r>
              <a:rPr lang="en-US" sz="4760">
                <a:solidFill>
                  <a:srgbClr val="E4E2DE"/>
                </a:solidFill>
                <a:latin typeface="Libre Baskerville"/>
                <a:ea typeface="Libre Baskerville"/>
                <a:cs typeface="Libre Baskerville"/>
                <a:sym typeface="Libre Baskerville"/>
              </a:rPr>
              <a:t>Scalabilité &amp; Architecture</a:t>
            </a:r>
          </a:p>
        </p:txBody>
      </p:sp>
      <p:sp>
        <p:nvSpPr>
          <p:cNvPr id="32" name="TextBox 32"/>
          <p:cNvSpPr txBox="1"/>
          <p:nvPr/>
        </p:nvSpPr>
        <p:spPr>
          <a:xfrm>
            <a:off x="12930377" y="6751341"/>
            <a:ext cx="4328923" cy="1416050"/>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Database &amp; SIEM : Stockage persistant PostgreSQL, intégration native avec solutions SIEM entreprise. SOC 2 compliant.</a:t>
            </a:r>
          </a:p>
        </p:txBody>
      </p:sp>
      <p:sp>
        <p:nvSpPr>
          <p:cNvPr id="33" name="TextBox 33"/>
          <p:cNvSpPr txBox="1"/>
          <p:nvPr/>
        </p:nvSpPr>
        <p:spPr>
          <a:xfrm>
            <a:off x="1974543" y="6751341"/>
            <a:ext cx="4328923" cy="1063625"/>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10K+ Devices supportés simultanément. Latence &lt;2s pour le scoring complet. SLA 99.9% garanti.</a:t>
            </a:r>
          </a:p>
        </p:txBody>
      </p:sp>
      <p:sp>
        <p:nvSpPr>
          <p:cNvPr id="34" name="TextBox 34"/>
          <p:cNvSpPr txBox="1"/>
          <p:nvPr/>
        </p:nvSpPr>
        <p:spPr>
          <a:xfrm>
            <a:off x="2764390" y="3976066"/>
            <a:ext cx="3600989" cy="1768475"/>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Mobile Agent : Collecte des signaux d'intégrité sur chaque appareil Android. Communication sécurisée TLS 1.3 avec le backend.</a:t>
            </a:r>
          </a:p>
        </p:txBody>
      </p:sp>
      <p:sp>
        <p:nvSpPr>
          <p:cNvPr id="35" name="TextBox 35"/>
          <p:cNvSpPr txBox="1"/>
          <p:nvPr/>
        </p:nvSpPr>
        <p:spPr>
          <a:xfrm>
            <a:off x="12900745" y="3922274"/>
            <a:ext cx="3600989" cy="1416050"/>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Scoring Cluster : Calcul distribué des scores DIRS avec réplication horizontale et failover automatique.</a:t>
            </a:r>
          </a:p>
        </p:txBody>
      </p:sp>
      <p:sp>
        <p:nvSpPr>
          <p:cNvPr id="36" name="Freeform 36"/>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5"/>
            <a:stretch>
              <a:fillRect/>
            </a:stretch>
          </a:blipFill>
        </p:spPr>
        <p:txBody>
          <a:bodyPr/>
          <a:lstStyle/>
          <a:p>
            <a:endParaRPr lang="fr-MA"/>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grpSp>
        <p:nvGrpSpPr>
          <p:cNvPr id="2" name="Group 2"/>
          <p:cNvGrpSpPr/>
          <p:nvPr/>
        </p:nvGrpSpPr>
        <p:grpSpPr>
          <a:xfrm>
            <a:off x="14547266" y="1588381"/>
            <a:ext cx="3740734" cy="8698619"/>
            <a:chOff x="0" y="0"/>
            <a:chExt cx="4987646" cy="11598159"/>
          </a:xfrm>
        </p:grpSpPr>
        <p:pic>
          <p:nvPicPr>
            <p:cNvPr id="3" name="Picture 3"/>
            <p:cNvPicPr>
              <a:picLocks noChangeAspect="1"/>
            </p:cNvPicPr>
            <p:nvPr/>
          </p:nvPicPr>
          <p:blipFill>
            <a:blip r:embed="rId3"/>
            <a:srcRect l="21186" r="21186"/>
            <a:stretch>
              <a:fillRect/>
            </a:stretch>
          </p:blipFill>
          <p:spPr>
            <a:xfrm>
              <a:off x="0" y="0"/>
              <a:ext cx="4987646" cy="11598159"/>
            </a:xfrm>
            <a:prstGeom prst="rect">
              <a:avLst/>
            </a:prstGeom>
          </p:spPr>
        </p:pic>
      </p:grpSp>
      <p:sp>
        <p:nvSpPr>
          <p:cNvPr id="4" name="AutoShape 4"/>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5" name="AutoShape 5"/>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6" name="Group 6"/>
          <p:cNvGrpSpPr/>
          <p:nvPr/>
        </p:nvGrpSpPr>
        <p:grpSpPr>
          <a:xfrm>
            <a:off x="1676379" y="2452757"/>
            <a:ext cx="1367100" cy="815141"/>
            <a:chOff x="0" y="0"/>
            <a:chExt cx="360059" cy="214687"/>
          </a:xfrm>
        </p:grpSpPr>
        <p:sp>
          <p:nvSpPr>
            <p:cNvPr id="7" name="Freeform 7"/>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8" name="TextBox 8"/>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26</a:t>
              </a:r>
            </a:p>
          </p:txBody>
        </p:sp>
      </p:grpSp>
      <p:grpSp>
        <p:nvGrpSpPr>
          <p:cNvPr id="9" name="Group 9"/>
          <p:cNvGrpSpPr/>
          <p:nvPr/>
        </p:nvGrpSpPr>
        <p:grpSpPr>
          <a:xfrm>
            <a:off x="1265695" y="4125149"/>
            <a:ext cx="11912554" cy="3786317"/>
            <a:chOff x="0" y="0"/>
            <a:chExt cx="3137463" cy="997219"/>
          </a:xfrm>
        </p:grpSpPr>
        <p:sp>
          <p:nvSpPr>
            <p:cNvPr id="10" name="Freeform 10"/>
            <p:cNvSpPr/>
            <p:nvPr/>
          </p:nvSpPr>
          <p:spPr>
            <a:xfrm>
              <a:off x="0" y="0"/>
              <a:ext cx="3137463" cy="997219"/>
            </a:xfrm>
            <a:custGeom>
              <a:avLst/>
              <a:gdLst/>
              <a:ahLst/>
              <a:cxnLst/>
              <a:rect l="l" t="t" r="r" b="b"/>
              <a:pathLst>
                <a:path w="3137463" h="997219">
                  <a:moveTo>
                    <a:pt x="0" y="0"/>
                  </a:moveTo>
                  <a:lnTo>
                    <a:pt x="3137463" y="0"/>
                  </a:lnTo>
                  <a:lnTo>
                    <a:pt x="3137463" y="997219"/>
                  </a:lnTo>
                  <a:lnTo>
                    <a:pt x="0" y="997219"/>
                  </a:lnTo>
                  <a:close/>
                </a:path>
              </a:pathLst>
            </a:custGeom>
            <a:solidFill>
              <a:srgbClr val="343131"/>
            </a:solidFill>
            <a:ln cap="sq">
              <a:noFill/>
              <a:prstDash val="solid"/>
              <a:miter/>
            </a:ln>
          </p:spPr>
          <p:txBody>
            <a:bodyPr/>
            <a:lstStyle/>
            <a:p>
              <a:endParaRPr lang="fr-MA"/>
            </a:p>
          </p:txBody>
        </p:sp>
        <p:sp>
          <p:nvSpPr>
            <p:cNvPr id="11" name="TextBox 11"/>
            <p:cNvSpPr txBox="1"/>
            <p:nvPr/>
          </p:nvSpPr>
          <p:spPr>
            <a:xfrm>
              <a:off x="0" y="-38100"/>
              <a:ext cx="3137463" cy="1035319"/>
            </a:xfrm>
            <a:prstGeom prst="rect">
              <a:avLst/>
            </a:prstGeom>
          </p:spPr>
          <p:txBody>
            <a:bodyPr lIns="50800" tIns="50800" rIns="50800" bIns="50800" rtlCol="0" anchor="ctr"/>
            <a:lstStyle/>
            <a:p>
              <a:pPr marL="0" lvl="0" indent="0" algn="ctr">
                <a:lnSpc>
                  <a:spcPts val="3499"/>
                </a:lnSpc>
              </a:pPr>
              <a:endParaRPr/>
            </a:p>
          </p:txBody>
        </p:sp>
      </p:grpSp>
      <p:sp>
        <p:nvSpPr>
          <p:cNvPr id="12" name="Freeform 12"/>
          <p:cNvSpPr/>
          <p:nvPr/>
        </p:nvSpPr>
        <p:spPr>
          <a:xfrm>
            <a:off x="1891595" y="4674424"/>
            <a:ext cx="805600" cy="528767"/>
          </a:xfrm>
          <a:custGeom>
            <a:avLst/>
            <a:gdLst/>
            <a:ahLst/>
            <a:cxnLst/>
            <a:rect l="l" t="t" r="r" b="b"/>
            <a:pathLst>
              <a:path w="805600" h="528767">
                <a:moveTo>
                  <a:pt x="0" y="0"/>
                </a:moveTo>
                <a:lnTo>
                  <a:pt x="805600" y="0"/>
                </a:lnTo>
                <a:lnTo>
                  <a:pt x="805600" y="528766"/>
                </a:lnTo>
                <a:lnTo>
                  <a:pt x="0" y="52876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MA"/>
          </a:p>
        </p:txBody>
      </p:sp>
      <p:sp>
        <p:nvSpPr>
          <p:cNvPr id="13" name="TextBox 13"/>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Framework</a:t>
            </a:r>
          </a:p>
        </p:txBody>
      </p:sp>
      <p:sp>
        <p:nvSpPr>
          <p:cNvPr id="14" name="TextBox 14"/>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Device Integrity &amp; Risk Scorer</a:t>
            </a:r>
          </a:p>
        </p:txBody>
      </p:sp>
      <p:sp>
        <p:nvSpPr>
          <p:cNvPr id="15" name="TextBox 15"/>
          <p:cNvSpPr txBox="1"/>
          <p:nvPr/>
        </p:nvSpPr>
        <p:spPr>
          <a:xfrm>
            <a:off x="3379976" y="2492028"/>
            <a:ext cx="6332259" cy="507365"/>
          </a:xfrm>
          <a:prstGeom prst="rect">
            <a:avLst/>
          </a:prstGeom>
        </p:spPr>
        <p:txBody>
          <a:bodyPr lIns="0" tIns="0" rIns="0" bIns="0" rtlCol="0" anchor="t">
            <a:spAutoFit/>
          </a:bodyPr>
          <a:lstStyle/>
          <a:p>
            <a:pPr marL="0" lvl="0" indent="0" algn="l">
              <a:lnSpc>
                <a:spcPts val="3909"/>
              </a:lnSpc>
            </a:pPr>
            <a:r>
              <a:rPr lang="en-US" sz="3399">
                <a:solidFill>
                  <a:srgbClr val="000000"/>
                </a:solidFill>
                <a:latin typeface="Libre Baskerville"/>
                <a:ea typeface="Libre Baskerville"/>
                <a:cs typeface="Libre Baskerville"/>
                <a:sym typeface="Libre Baskerville"/>
              </a:rPr>
              <a:t>Conclusion</a:t>
            </a:r>
          </a:p>
        </p:txBody>
      </p:sp>
      <p:sp>
        <p:nvSpPr>
          <p:cNvPr id="16" name="TextBox 16"/>
          <p:cNvSpPr txBox="1"/>
          <p:nvPr/>
        </p:nvSpPr>
        <p:spPr>
          <a:xfrm>
            <a:off x="2942073" y="5155565"/>
            <a:ext cx="9103569" cy="1727245"/>
          </a:xfrm>
          <a:prstGeom prst="rect">
            <a:avLst/>
          </a:prstGeom>
        </p:spPr>
        <p:txBody>
          <a:bodyPr lIns="0" tIns="0" rIns="0" bIns="0" rtlCol="0" anchor="t">
            <a:spAutoFit/>
          </a:bodyPr>
          <a:lstStyle/>
          <a:p>
            <a:pPr marL="0" lvl="0" indent="0" algn="just">
              <a:lnSpc>
                <a:spcPts val="3497"/>
              </a:lnSpc>
              <a:spcBef>
                <a:spcPct val="0"/>
              </a:spcBef>
            </a:pPr>
            <a:r>
              <a:rPr lang="en-US" sz="2498" b="1">
                <a:solidFill>
                  <a:srgbClr val="E4E2DE"/>
                </a:solidFill>
                <a:latin typeface="Lora Bold"/>
                <a:ea typeface="Lora Bold"/>
                <a:cs typeface="Lora Bold"/>
                <a:sym typeface="Lora Bold"/>
              </a:rPr>
              <a:t>« DIRS est un framework d'ingénierie de sécurité — non un simple scanner. Une approche architecturale complète pour l'audit et la quantification du risque mobile en environnement Zero-Trust. »</a:t>
            </a:r>
          </a:p>
        </p:txBody>
      </p:sp>
      <p:sp>
        <p:nvSpPr>
          <p:cNvPr id="17" name="Freeform 17"/>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5"/>
            <a:stretch>
              <a:fillRect/>
            </a:stretch>
          </a:blipFill>
        </p:spPr>
        <p:txBody>
          <a:bodyPr/>
          <a:lstStyle/>
          <a:p>
            <a:endParaRPr lang="fr-MA"/>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9761125" y="4458791"/>
            <a:ext cx="1783102" cy="1593670"/>
          </a:xfrm>
          <a:prstGeom prst="rect">
            <a:avLst/>
          </a:prstGeom>
        </p:spPr>
      </p:pic>
      <p:sp>
        <p:nvSpPr>
          <p:cNvPr id="3" name="TextBox 3"/>
          <p:cNvSpPr txBox="1"/>
          <p:nvPr/>
        </p:nvSpPr>
        <p:spPr>
          <a:xfrm>
            <a:off x="6892365" y="5062736"/>
            <a:ext cx="3279874" cy="1566544"/>
          </a:xfrm>
          <a:prstGeom prst="rect">
            <a:avLst/>
          </a:prstGeom>
        </p:spPr>
        <p:txBody>
          <a:bodyPr lIns="0" tIns="0" rIns="0" bIns="0" rtlCol="0" anchor="t">
            <a:spAutoFit/>
          </a:bodyPr>
          <a:lstStyle/>
          <a:p>
            <a:pPr algn="ctr">
              <a:lnSpc>
                <a:spcPts val="12880"/>
              </a:lnSpc>
            </a:pPr>
            <a:r>
              <a:rPr lang="en-US" sz="9200" b="1">
                <a:solidFill>
                  <a:srgbClr val="000000"/>
                </a:solidFill>
                <a:latin typeface="Open Sans Bold"/>
                <a:ea typeface="Open Sans Bold"/>
                <a:cs typeface="Open Sans Bold"/>
                <a:sym typeface="Open Sans Bold"/>
              </a:rPr>
              <a:t>Merci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5036</Words>
  <Application>Microsoft Office PowerPoint</Application>
  <PresentationFormat>Personnalisé</PresentationFormat>
  <Paragraphs>509</Paragraphs>
  <Slides>27</Slides>
  <Notes>27</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27</vt:i4>
      </vt:variant>
    </vt:vector>
  </HeadingPairs>
  <TitlesOfParts>
    <vt:vector size="36" baseType="lpstr">
      <vt:lpstr>Lora Bold</vt:lpstr>
      <vt:lpstr>Calibri</vt:lpstr>
      <vt:lpstr>Glacial Indifference</vt:lpstr>
      <vt:lpstr>Libre Baskerville</vt:lpstr>
      <vt:lpstr>Arial</vt:lpstr>
      <vt:lpstr>Lora</vt:lpstr>
      <vt:lpstr>Glacial Indifference Bold</vt:lpstr>
      <vt:lpstr>Open Sans Bold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DIRS Framework: Architecture &amp; Scoring</dc:title>
  <cp:lastModifiedBy>Wissal Mokdad</cp:lastModifiedBy>
  <cp:revision>2</cp:revision>
  <dcterms:created xsi:type="dcterms:W3CDTF">2006-08-16T00:00:00Z</dcterms:created>
  <dcterms:modified xsi:type="dcterms:W3CDTF">2026-04-28T22:06:54Z</dcterms:modified>
  <dc:identifier>DAHH93wIIqw</dc:identifier>
</cp:coreProperties>
</file>